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1" r:id="rId2"/>
    <p:sldId id="257" r:id="rId3"/>
    <p:sldId id="258" r:id="rId4"/>
    <p:sldId id="280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4" r:id="rId15"/>
    <p:sldId id="291" r:id="rId16"/>
    <p:sldId id="292" r:id="rId17"/>
    <p:sldId id="293" r:id="rId18"/>
    <p:sldId id="276" r:id="rId19"/>
    <p:sldId id="279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32956-0C2A-46DD-86F6-755EB0B41D4A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FDB2A-ABB3-4C9A-A169-3C6DE3A502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5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78E887-1448-4089-B417-57A3B116442E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5FC8A9-417A-47F0-A50E-BAA82ED32404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4322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BD28F-EE1D-47D6-AC94-43D2373943B6}" type="slidenum">
              <a:rPr lang="en-US"/>
              <a:pPr/>
              <a:t>10</a:t>
            </a:fld>
            <a:endParaRPr lang="en-US"/>
          </a:p>
        </p:txBody>
      </p:sp>
      <p:sp>
        <p:nvSpPr>
          <p:cNvPr id="26627" name="Rectangle 7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7CAFF4E3-9D1F-499D-BAAA-EC3C81942529}" type="slidenum">
              <a:rPr lang="en-US" sz="12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rPr>
              <a:pPr/>
              <a:t>10</a:t>
            </a:fld>
            <a:endParaRPr lang="en-US" sz="1200">
              <a:solidFill>
                <a:srgbClr val="000000"/>
              </a:solidFill>
              <a:latin typeface="Gill Sans" charset="0"/>
              <a:ea typeface="ヒラギノ角ゴ Pro W3" charset="-128"/>
              <a:sym typeface="Gill Sans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29817" y="6356351"/>
            <a:ext cx="7450931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28651" y="6356351"/>
            <a:ext cx="7252097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23888" y="6356351"/>
            <a:ext cx="6869906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57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30285"/>
            <a:ext cx="3886200" cy="494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46187"/>
            <a:ext cx="3886200" cy="4930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692944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07591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98190"/>
            <a:ext cx="3868340" cy="409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07591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98190"/>
            <a:ext cx="3887391" cy="409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29841" y="6356351"/>
            <a:ext cx="6863953" cy="3651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35794" y="6356351"/>
            <a:ext cx="6858000" cy="3651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29841" y="6356351"/>
            <a:ext cx="6863953" cy="3651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29841" y="6356351"/>
            <a:ext cx="6863953" cy="3651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28651" y="1238597"/>
            <a:ext cx="7886699" cy="501257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" y="1295400"/>
            <a:ext cx="899160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4419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295400"/>
            <a:ext cx="4419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52400" y="3962400"/>
            <a:ext cx="4419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0" y="3962400"/>
            <a:ext cx="4419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155701"/>
            <a:ext cx="7886700" cy="502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0" y="6356351"/>
            <a:ext cx="6865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86712" y="6356351"/>
            <a:ext cx="528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33400" y="2895600"/>
            <a:ext cx="7886700" cy="1663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Scrum</a:t>
            </a:r>
            <a:endParaRPr lang="en-US" sz="4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299" y="1400791"/>
            <a:ext cx="6095999" cy="647870"/>
          </a:xfrm>
          <a:noFill/>
        </p:spPr>
        <p:txBody>
          <a:bodyPr vert="horz" wrap="square" lIns="47625" tIns="19050" rIns="47625" bIns="19050" rtlCol="0" anchor="t">
            <a:spAutoFit/>
          </a:bodyPr>
          <a:lstStyle/>
          <a:p>
            <a:pPr algn="ctr" eaLnBrk="1" hangingPunct="1"/>
            <a:r>
              <a:rPr lang="en-US" altLang="en-US" b="1" dirty="0"/>
              <a:t>SCRUM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2CFA7F-182D-4A7B-BD82-C727FFA4FE98}" type="slidenum">
              <a:rPr lang="en-US" altLang="en-US" sz="750">
                <a:latin typeface="Helvetica" panose="020B0604020202020204" pitchFamily="34" charset="0"/>
              </a:rPr>
              <a:pPr/>
              <a:t>2</a:t>
            </a:fld>
            <a:endParaRPr lang="en-US" altLang="en-US" sz="750">
              <a:latin typeface="Helvetica" panose="020B0604020202020204" pitchFamily="34" charset="0"/>
            </a:endParaRPr>
          </a:p>
        </p:txBody>
      </p:sp>
      <p:sp>
        <p:nvSpPr>
          <p:cNvPr id="125983" name="Rectangle 31"/>
          <p:cNvSpPr>
            <a:spLocks noChangeArrowheads="1"/>
          </p:cNvSpPr>
          <p:nvPr/>
        </p:nvSpPr>
        <p:spPr bwMode="auto">
          <a:xfrm>
            <a:off x="2805112" y="2955131"/>
            <a:ext cx="137120" cy="46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7865" tIns="33338" rIns="67865" bIns="33338">
            <a:spAutoFit/>
          </a:bodyPr>
          <a:lstStyle/>
          <a:p>
            <a:pPr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  <a:p>
            <a:pPr>
              <a:lnSpc>
                <a:spcPct val="90000"/>
              </a:lnSpc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</p:txBody>
      </p:sp>
      <p:sp>
        <p:nvSpPr>
          <p:cNvPr id="125984" name="Rectangle 32"/>
          <p:cNvSpPr>
            <a:spLocks noChangeArrowheads="1"/>
          </p:cNvSpPr>
          <p:nvPr/>
        </p:nvSpPr>
        <p:spPr bwMode="auto">
          <a:xfrm>
            <a:off x="2805112" y="3490913"/>
            <a:ext cx="137120" cy="46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7865" tIns="33338" rIns="67865" bIns="33338">
            <a:spAutoFit/>
          </a:bodyPr>
          <a:lstStyle/>
          <a:p>
            <a:pPr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  <a:p>
            <a:pPr>
              <a:lnSpc>
                <a:spcPct val="90000"/>
              </a:lnSpc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</p:txBody>
      </p:sp>
      <p:sp>
        <p:nvSpPr>
          <p:cNvPr id="125985" name="Rectangle 33"/>
          <p:cNvSpPr>
            <a:spLocks noChangeArrowheads="1"/>
          </p:cNvSpPr>
          <p:nvPr/>
        </p:nvSpPr>
        <p:spPr bwMode="auto">
          <a:xfrm>
            <a:off x="2805112" y="4026694"/>
            <a:ext cx="137120" cy="46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7865" tIns="33338" rIns="67865" bIns="33338">
            <a:spAutoFit/>
          </a:bodyPr>
          <a:lstStyle/>
          <a:p>
            <a:pPr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  <a:p>
            <a:pPr>
              <a:lnSpc>
                <a:spcPct val="90000"/>
              </a:lnSpc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</p:txBody>
      </p:sp>
      <p:sp>
        <p:nvSpPr>
          <p:cNvPr id="125986" name="Rectangle 34"/>
          <p:cNvSpPr>
            <a:spLocks noChangeArrowheads="1"/>
          </p:cNvSpPr>
          <p:nvPr/>
        </p:nvSpPr>
        <p:spPr bwMode="auto">
          <a:xfrm>
            <a:off x="2805112" y="4562475"/>
            <a:ext cx="137120" cy="462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7865" tIns="33338" rIns="67865" bIns="33338">
            <a:spAutoFit/>
          </a:bodyPr>
          <a:lstStyle/>
          <a:p>
            <a:pPr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  <a:p>
            <a:pPr>
              <a:lnSpc>
                <a:spcPct val="90000"/>
              </a:lnSpc>
              <a:defRPr/>
            </a:pPr>
            <a:endParaRPr lang="en-US" sz="1350" b="1">
              <a:effectLst>
                <a:outerShdw blurRad="38100" dist="38100" dir="2700000" algn="tl">
                  <a:srgbClr val="FFFFFF"/>
                </a:outerShdw>
              </a:effectLst>
              <a:latin typeface="Palatino" pitchFamily="-128" charset="0"/>
              <a:ea typeface="ＭＳ Ｐゴシック" pitchFamily="-128" charset="-128"/>
            </a:endParaRPr>
          </a:p>
        </p:txBody>
      </p:sp>
      <p:sp>
        <p:nvSpPr>
          <p:cNvPr id="3081" name="Text Box 36"/>
          <p:cNvSpPr txBox="1">
            <a:spLocks noChangeArrowheads="1"/>
          </p:cNvSpPr>
          <p:nvPr/>
        </p:nvSpPr>
        <p:spPr bwMode="auto">
          <a:xfrm>
            <a:off x="647699" y="2357387"/>
            <a:ext cx="80772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is an Iterative and Incremental Development (IID) method that emphasizes a set of project management values and practices, rather than those in requirements, implementation, and so on. As such, it is easily combined with or complementary to other methods.</a:t>
            </a:r>
          </a:p>
          <a:p>
            <a:pPr algn="just"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Scrum theme is its emphasis on empirical rather than defined process.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appears simple, yet has practices that deeply influence the work experience and that capture key adaptive and agile qualities.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71800" y="762000"/>
            <a:ext cx="3429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300" b="1" dirty="0">
                <a:solidFill>
                  <a:srgbClr val="C00000"/>
                </a:solidFill>
                <a:latin typeface="+mj-lt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458280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6713621" cy="436144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Some key practices include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7886700" cy="3886200"/>
          </a:xfrm>
        </p:spPr>
        <p:txBody>
          <a:bodyPr>
            <a:normAutofit/>
          </a:bodyPr>
          <a:lstStyle/>
          <a:p>
            <a:r>
              <a:rPr lang="en-US" altLang="en-US" sz="2400" i="1" dirty="0">
                <a:latin typeface="Palatino" pitchFamily="-128" charset="0"/>
              </a:rPr>
              <a:t>self-directed and self-organizing team</a:t>
            </a:r>
          </a:p>
          <a:p>
            <a:r>
              <a:rPr lang="en-US" altLang="en-US" sz="2400" i="1" dirty="0">
                <a:latin typeface="Palatino" pitchFamily="-128" charset="0"/>
              </a:rPr>
              <a:t>no external addition of work to an iteration, once chosen</a:t>
            </a:r>
          </a:p>
          <a:p>
            <a:r>
              <a:rPr lang="en-US" altLang="en-US" sz="2400" i="1" dirty="0">
                <a:latin typeface="Palatino" pitchFamily="-128" charset="0"/>
              </a:rPr>
              <a:t>daily stand-up meeting with special questions</a:t>
            </a:r>
          </a:p>
          <a:p>
            <a:r>
              <a:rPr lang="en-US" altLang="en-US" sz="2400" i="1" dirty="0">
                <a:latin typeface="Palatino" pitchFamily="-128" charset="0"/>
              </a:rPr>
              <a:t>usually 30-calendar day iterations</a:t>
            </a:r>
          </a:p>
          <a:p>
            <a:r>
              <a:rPr lang="en-US" altLang="en-US" sz="2400" i="1" dirty="0">
                <a:latin typeface="Palatino" pitchFamily="-128" charset="0"/>
              </a:rPr>
              <a:t>demo to external stakeholders at end of each iteration</a:t>
            </a:r>
          </a:p>
          <a:p>
            <a:r>
              <a:rPr lang="en-US" altLang="en-US" sz="2400" i="1" dirty="0">
                <a:latin typeface="Palatino" pitchFamily="-128" charset="0"/>
              </a:rPr>
              <a:t>each iteration, client-driven adaptive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C84908-C73A-41A6-8B28-E25C5B584E60}" type="slidenum">
              <a:rPr lang="en-US" altLang="en-US" sz="750">
                <a:latin typeface="Helvetica" panose="020B0604020202020204" pitchFamily="34" charset="0"/>
              </a:rPr>
              <a:pPr/>
              <a:t>3</a:t>
            </a:fld>
            <a:endParaRPr lang="en-US" altLang="en-US" sz="75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67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What is Scrum?</a:t>
            </a:r>
          </a:p>
        </p:txBody>
      </p:sp>
      <p:pic>
        <p:nvPicPr>
          <p:cNvPr id="5123" name="Picture 5" descr="waterfal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048000"/>
            <a:ext cx="281940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b="1"/>
              <a:t>Scrum</a:t>
            </a:r>
            <a:r>
              <a:rPr lang="en-GB"/>
              <a:t>:</a:t>
            </a:r>
          </a:p>
          <a:p>
            <a:pPr lvl="1" eaLnBrk="1" hangingPunct="1"/>
            <a:endParaRPr lang="en-GB"/>
          </a:p>
          <a:p>
            <a:pPr lvl="1" eaLnBrk="1" hangingPunct="1"/>
            <a:r>
              <a:rPr lang="en-GB"/>
              <a:t>Is an agile, </a:t>
            </a:r>
            <a:r>
              <a:rPr lang="en-GB">
                <a:solidFill>
                  <a:schemeClr val="accent2"/>
                </a:solidFill>
              </a:rPr>
              <a:t>lightweight</a:t>
            </a:r>
            <a:r>
              <a:rPr lang="en-GB"/>
              <a:t> process</a:t>
            </a:r>
          </a:p>
          <a:p>
            <a:pPr lvl="1" eaLnBrk="1" hangingPunct="1"/>
            <a:r>
              <a:rPr lang="en-GB"/>
              <a:t>Can </a:t>
            </a:r>
            <a:r>
              <a:rPr lang="en-GB">
                <a:solidFill>
                  <a:schemeClr val="accent2"/>
                </a:solidFill>
              </a:rPr>
              <a:t>manage</a:t>
            </a:r>
            <a:r>
              <a:rPr lang="en-GB"/>
              <a:t> and </a:t>
            </a:r>
            <a:r>
              <a:rPr lang="en-GB">
                <a:solidFill>
                  <a:schemeClr val="accent2"/>
                </a:solidFill>
              </a:rPr>
              <a:t>control</a:t>
            </a:r>
            <a:r>
              <a:rPr lang="en-GB"/>
              <a:t> software and product development</a:t>
            </a:r>
          </a:p>
          <a:p>
            <a:pPr lvl="1" eaLnBrk="1" hangingPunct="1"/>
            <a:r>
              <a:rPr lang="en-GB"/>
              <a:t>Uses iterative, incremental practices</a:t>
            </a:r>
          </a:p>
          <a:p>
            <a:pPr lvl="1" eaLnBrk="1" hangingPunct="1"/>
            <a:r>
              <a:rPr lang="en-GB"/>
              <a:t>Has a </a:t>
            </a:r>
            <a:r>
              <a:rPr lang="en-GB">
                <a:solidFill>
                  <a:schemeClr val="accent2"/>
                </a:solidFill>
              </a:rPr>
              <a:t>simple</a:t>
            </a:r>
            <a:r>
              <a:rPr lang="en-GB"/>
              <a:t> implementation</a:t>
            </a:r>
          </a:p>
          <a:p>
            <a:pPr lvl="1" eaLnBrk="1" hangingPunct="1"/>
            <a:r>
              <a:rPr lang="en-GB"/>
              <a:t>Increases productivity</a:t>
            </a:r>
          </a:p>
          <a:p>
            <a:pPr lvl="1" eaLnBrk="1" hangingPunct="1"/>
            <a:r>
              <a:rPr lang="en-GB"/>
              <a:t>Reduces </a:t>
            </a:r>
            <a:r>
              <a:rPr lang="en-GB">
                <a:solidFill>
                  <a:schemeClr val="accent2"/>
                </a:solidFill>
              </a:rPr>
              <a:t>time</a:t>
            </a:r>
            <a:endParaRPr lang="en-GB"/>
          </a:p>
          <a:p>
            <a:pPr lvl="1" eaLnBrk="1" hangingPunct="1"/>
            <a:endParaRPr lang="en-GB"/>
          </a:p>
          <a:p>
            <a:pPr lvl="1" eaLnBrk="1" hangingPunct="1"/>
            <a:r>
              <a:rPr lang="en-GB"/>
              <a:t>Embraces the </a:t>
            </a:r>
            <a:r>
              <a:rPr lang="en-GB">
                <a:solidFill>
                  <a:schemeClr val="accent2"/>
                </a:solidFill>
              </a:rPr>
              <a:t>opposite of the waterfall</a:t>
            </a:r>
            <a:r>
              <a:rPr lang="en-GB"/>
              <a:t> approach…</a:t>
            </a:r>
          </a:p>
          <a:p>
            <a:pPr lvl="1" eaLnBrk="1" hangingPunct="1"/>
            <a:endParaRPr lang="en-GB"/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4824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GB" sz="2800" b="1" u="sng">
                <a:solidFill>
                  <a:schemeClr val="accent2"/>
                </a:solidFill>
              </a:rPr>
              <a:t>It’s about common sense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934200" y="3048000"/>
            <a:ext cx="1752600" cy="1752600"/>
            <a:chOff x="4320" y="1968"/>
            <a:chExt cx="1104" cy="1104"/>
          </a:xfrm>
        </p:grpSpPr>
        <p:sp>
          <p:nvSpPr>
            <p:cNvPr id="5127" name="Oval 6"/>
            <p:cNvSpPr>
              <a:spLocks noChangeArrowheads="1"/>
            </p:cNvSpPr>
            <p:nvPr/>
          </p:nvSpPr>
          <p:spPr bwMode="auto">
            <a:xfrm>
              <a:off x="4320" y="1968"/>
              <a:ext cx="1104" cy="1104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" name="Line 7"/>
            <p:cNvSpPr>
              <a:spLocks noChangeShapeType="1"/>
            </p:cNvSpPr>
            <p:nvPr/>
          </p:nvSpPr>
          <p:spPr bwMode="auto">
            <a:xfrm flipH="1">
              <a:off x="4464" y="2112"/>
              <a:ext cx="768" cy="76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Scrum at a Glance</a:t>
            </a:r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5853113" y="4133850"/>
            <a:ext cx="1066800" cy="758825"/>
          </a:xfrm>
          <a:prstGeom prst="rightArrow">
            <a:avLst>
              <a:gd name="adj1" fmla="val 50000"/>
              <a:gd name="adj2" fmla="val 35146"/>
            </a:avLst>
          </a:prstGeom>
          <a:solidFill>
            <a:schemeClr val="accent1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557713" y="4343400"/>
            <a:ext cx="838200" cy="381000"/>
          </a:xfrm>
          <a:prstGeom prst="rect">
            <a:avLst/>
          </a:prstGeom>
          <a:solidFill>
            <a:schemeClr val="accent1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 rot="6109147" flipH="1" flipV="1">
            <a:off x="3957638" y="1400175"/>
            <a:ext cx="1981200" cy="1752600"/>
          </a:xfrm>
          <a:custGeom>
            <a:avLst/>
            <a:gdLst>
              <a:gd name="T0" fmla="*/ 1619631 w 21600"/>
              <a:gd name="T1" fmla="*/ 199358 h 21600"/>
              <a:gd name="T2" fmla="*/ 167852 w 21600"/>
              <a:gd name="T3" fmla="*/ 697145 h 21600"/>
              <a:gd name="T4" fmla="*/ 1437562 w 21600"/>
              <a:gd name="T5" fmla="*/ 395309 h 21600"/>
              <a:gd name="T6" fmla="*/ 1513417 w 21600"/>
              <a:gd name="T7" fmla="*/ 1869197 h 21600"/>
              <a:gd name="T8" fmla="*/ 993902 w 21600"/>
              <a:gd name="T9" fmla="*/ 1701645 h 21600"/>
              <a:gd name="T10" fmla="*/ 1183217 w 21600"/>
              <a:gd name="T11" fmla="*/ 124207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040" y="17756"/>
                </a:moveTo>
                <a:cubicBezTo>
                  <a:pt x="16744" y="16496"/>
                  <a:pt x="18474" y="13783"/>
                  <a:pt x="18474" y="10800"/>
                </a:cubicBezTo>
                <a:cubicBezTo>
                  <a:pt x="18474" y="6561"/>
                  <a:pt x="15038" y="3126"/>
                  <a:pt x="10800" y="3126"/>
                </a:cubicBezTo>
                <a:cubicBezTo>
                  <a:pt x="7268" y="3125"/>
                  <a:pt x="4192" y="5536"/>
                  <a:pt x="3348" y="8965"/>
                </a:cubicBezTo>
                <a:lnTo>
                  <a:pt x="313" y="8218"/>
                </a:lnTo>
                <a:cubicBezTo>
                  <a:pt x="1501" y="3392"/>
                  <a:pt x="5829" y="-1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998"/>
                  <a:pt x="19166" y="18816"/>
                  <a:pt x="15360" y="20589"/>
                </a:cubicBezTo>
                <a:lnTo>
                  <a:pt x="16500" y="23037"/>
                </a:lnTo>
                <a:lnTo>
                  <a:pt x="10836" y="20972"/>
                </a:lnTo>
                <a:lnTo>
                  <a:pt x="12900" y="15308"/>
                </a:lnTo>
                <a:lnTo>
                  <a:pt x="14040" y="17756"/>
                </a:lnTo>
                <a:close/>
              </a:path>
            </a:pathLst>
          </a:custGeom>
          <a:solidFill>
            <a:schemeClr val="accent1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AutoShape 6"/>
          <p:cNvSpPr>
            <a:spLocks noChangeAspect="1" noChangeArrowheads="1"/>
          </p:cNvSpPr>
          <p:nvPr/>
        </p:nvSpPr>
        <p:spPr bwMode="auto">
          <a:xfrm>
            <a:off x="881063" y="5502275"/>
            <a:ext cx="919162" cy="517525"/>
          </a:xfrm>
          <a:prstGeom prst="cube">
            <a:avLst>
              <a:gd name="adj" fmla="val 25000"/>
            </a:avLst>
          </a:prstGeom>
          <a:solidFill>
            <a:srgbClr val="99CCFF"/>
          </a:solidFill>
          <a:ln w="31750">
            <a:solidFill>
              <a:srgbClr val="006CD8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AutoShape 7"/>
          <p:cNvSpPr>
            <a:spLocks noChangeAspect="1" noChangeArrowheads="1"/>
          </p:cNvSpPr>
          <p:nvPr/>
        </p:nvSpPr>
        <p:spPr bwMode="auto">
          <a:xfrm>
            <a:off x="1192213" y="5086350"/>
            <a:ext cx="919162" cy="517525"/>
          </a:xfrm>
          <a:prstGeom prst="cube">
            <a:avLst>
              <a:gd name="adj" fmla="val 25000"/>
            </a:avLst>
          </a:prstGeom>
          <a:solidFill>
            <a:srgbClr val="99CCFF"/>
          </a:solidFill>
          <a:ln w="31750">
            <a:solidFill>
              <a:srgbClr val="006CD8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AutoShape 8"/>
          <p:cNvSpPr>
            <a:spLocks noChangeAspect="1" noChangeArrowheads="1"/>
          </p:cNvSpPr>
          <p:nvPr/>
        </p:nvSpPr>
        <p:spPr bwMode="auto">
          <a:xfrm>
            <a:off x="962025" y="4684713"/>
            <a:ext cx="919163" cy="517525"/>
          </a:xfrm>
          <a:prstGeom prst="cube">
            <a:avLst>
              <a:gd name="adj" fmla="val 25000"/>
            </a:avLst>
          </a:prstGeom>
          <a:solidFill>
            <a:srgbClr val="99CCFF"/>
          </a:solidFill>
          <a:ln w="31750">
            <a:solidFill>
              <a:srgbClr val="006CD8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AutoShape 9"/>
          <p:cNvSpPr>
            <a:spLocks noChangeAspect="1" noChangeArrowheads="1"/>
          </p:cNvSpPr>
          <p:nvPr/>
        </p:nvSpPr>
        <p:spPr bwMode="auto">
          <a:xfrm>
            <a:off x="1419225" y="4283075"/>
            <a:ext cx="919163" cy="517525"/>
          </a:xfrm>
          <a:prstGeom prst="cube">
            <a:avLst>
              <a:gd name="adj" fmla="val 25000"/>
            </a:avLst>
          </a:prstGeom>
          <a:solidFill>
            <a:srgbClr val="CCFFFF"/>
          </a:solidFill>
          <a:ln w="31750">
            <a:solidFill>
              <a:srgbClr val="3366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 bwMode="auto">
          <a:xfrm>
            <a:off x="3567113" y="4200525"/>
            <a:ext cx="895350" cy="665163"/>
            <a:chOff x="2550" y="2556"/>
            <a:chExt cx="810" cy="602"/>
          </a:xfrm>
        </p:grpSpPr>
        <p:sp>
          <p:nvSpPr>
            <p:cNvPr id="7191" name="AutoShape 11"/>
            <p:cNvSpPr>
              <a:spLocks noChangeAspect="1" noChangeArrowheads="1"/>
            </p:cNvSpPr>
            <p:nvPr/>
          </p:nvSpPr>
          <p:spPr bwMode="auto">
            <a:xfrm>
              <a:off x="2688" y="2830"/>
              <a:ext cx="672" cy="328"/>
            </a:xfrm>
            <a:prstGeom prst="cube">
              <a:avLst>
                <a:gd name="adj" fmla="val 81991"/>
              </a:avLst>
            </a:prstGeom>
            <a:solidFill>
              <a:srgbClr val="CCFFFF"/>
            </a:solidFill>
            <a:ln w="31750">
              <a:solidFill>
                <a:srgbClr val="33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AutoShape 12"/>
            <p:cNvSpPr>
              <a:spLocks noChangeAspect="1" noChangeArrowheads="1"/>
            </p:cNvSpPr>
            <p:nvPr/>
          </p:nvSpPr>
          <p:spPr bwMode="auto">
            <a:xfrm>
              <a:off x="2642" y="2739"/>
              <a:ext cx="672" cy="328"/>
            </a:xfrm>
            <a:prstGeom prst="cube">
              <a:avLst>
                <a:gd name="adj" fmla="val 81991"/>
              </a:avLst>
            </a:prstGeom>
            <a:solidFill>
              <a:srgbClr val="CCFFFF"/>
            </a:solidFill>
            <a:ln w="31750">
              <a:solidFill>
                <a:srgbClr val="33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3" name="AutoShape 13"/>
            <p:cNvSpPr>
              <a:spLocks noChangeAspect="1" noChangeArrowheads="1"/>
            </p:cNvSpPr>
            <p:nvPr/>
          </p:nvSpPr>
          <p:spPr bwMode="auto">
            <a:xfrm>
              <a:off x="2596" y="2648"/>
              <a:ext cx="672" cy="328"/>
            </a:xfrm>
            <a:prstGeom prst="cube">
              <a:avLst>
                <a:gd name="adj" fmla="val 81991"/>
              </a:avLst>
            </a:prstGeom>
            <a:solidFill>
              <a:srgbClr val="CCFFFF"/>
            </a:solidFill>
            <a:ln w="31750">
              <a:solidFill>
                <a:srgbClr val="33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AutoShape 14"/>
            <p:cNvSpPr>
              <a:spLocks noChangeAspect="1" noChangeArrowheads="1"/>
            </p:cNvSpPr>
            <p:nvPr/>
          </p:nvSpPr>
          <p:spPr bwMode="auto">
            <a:xfrm>
              <a:off x="2550" y="2556"/>
              <a:ext cx="672" cy="328"/>
            </a:xfrm>
            <a:prstGeom prst="cube">
              <a:avLst>
                <a:gd name="adj" fmla="val 81991"/>
              </a:avLst>
            </a:prstGeom>
            <a:solidFill>
              <a:srgbClr val="CCFFFF"/>
            </a:solidFill>
            <a:ln w="31750">
              <a:solidFill>
                <a:srgbClr val="33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9" name="Text Box 15"/>
          <p:cNvSpPr txBox="1">
            <a:spLocks noChangeArrowheads="1"/>
          </p:cNvSpPr>
          <p:nvPr/>
        </p:nvSpPr>
        <p:spPr bwMode="auto">
          <a:xfrm>
            <a:off x="4999038" y="3402013"/>
            <a:ext cx="895350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30 days</a:t>
            </a:r>
          </a:p>
        </p:txBody>
      </p:sp>
      <p:sp>
        <p:nvSpPr>
          <p:cNvPr id="7180" name="Text Box 16"/>
          <p:cNvSpPr txBox="1">
            <a:spLocks noChangeArrowheads="1"/>
          </p:cNvSpPr>
          <p:nvPr/>
        </p:nvSpPr>
        <p:spPr bwMode="auto">
          <a:xfrm>
            <a:off x="4429125" y="2030413"/>
            <a:ext cx="974725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24 hours</a:t>
            </a:r>
          </a:p>
        </p:txBody>
      </p:sp>
      <p:sp>
        <p:nvSpPr>
          <p:cNvPr id="7181" name="AutoShape 17"/>
          <p:cNvSpPr>
            <a:spLocks noChangeArrowheads="1"/>
          </p:cNvSpPr>
          <p:nvPr/>
        </p:nvSpPr>
        <p:spPr bwMode="auto">
          <a:xfrm rot="15490853" flipV="1">
            <a:off x="4339432" y="2523331"/>
            <a:ext cx="2312988" cy="2085975"/>
          </a:xfrm>
          <a:custGeom>
            <a:avLst/>
            <a:gdLst>
              <a:gd name="T0" fmla="*/ 2082653 w 21600"/>
              <a:gd name="T1" fmla="*/ 418450 h 21600"/>
              <a:gd name="T2" fmla="*/ 212773 w 21600"/>
              <a:gd name="T3" fmla="*/ 1233526 h 21600"/>
              <a:gd name="T4" fmla="*/ 1779181 w 21600"/>
              <a:gd name="T5" fmla="*/ 623088 h 21600"/>
              <a:gd name="T6" fmla="*/ 454245 w 21600"/>
              <a:gd name="T7" fmla="*/ 2182548 h 21600"/>
              <a:gd name="T8" fmla="*/ 268242 w 21600"/>
              <a:gd name="T9" fmla="*/ 1595674 h 21600"/>
              <a:gd name="T10" fmla="*/ 919199 w 21600"/>
              <a:gd name="T11" fmla="*/ 142792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7273" y="17146"/>
                </a:moveTo>
                <a:cubicBezTo>
                  <a:pt x="8351" y="17746"/>
                  <a:pt x="9565" y="18061"/>
                  <a:pt x="10800" y="18061"/>
                </a:cubicBezTo>
                <a:cubicBezTo>
                  <a:pt x="14810" y="18061"/>
                  <a:pt x="18061" y="14810"/>
                  <a:pt x="18061" y="10800"/>
                </a:cubicBezTo>
                <a:cubicBezTo>
                  <a:pt x="18061" y="6789"/>
                  <a:pt x="14810" y="3539"/>
                  <a:pt x="10800" y="3539"/>
                </a:cubicBezTo>
                <a:cubicBezTo>
                  <a:pt x="6789" y="3539"/>
                  <a:pt x="3539" y="6789"/>
                  <a:pt x="3539" y="10800"/>
                </a:cubicBezTo>
                <a:cubicBezTo>
                  <a:pt x="3538" y="11333"/>
                  <a:pt x="3597" y="11866"/>
                  <a:pt x="3714" y="12386"/>
                </a:cubicBezTo>
                <a:lnTo>
                  <a:pt x="261" y="13160"/>
                </a:lnTo>
                <a:cubicBezTo>
                  <a:pt x="87" y="12385"/>
                  <a:pt x="0" y="1159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8964" y="21600"/>
                  <a:pt x="7158" y="21132"/>
                  <a:pt x="5554" y="20240"/>
                </a:cubicBezTo>
                <a:lnTo>
                  <a:pt x="4242" y="22600"/>
                </a:lnTo>
                <a:lnTo>
                  <a:pt x="2505" y="16523"/>
                </a:lnTo>
                <a:lnTo>
                  <a:pt x="8584" y="14786"/>
                </a:lnTo>
                <a:lnTo>
                  <a:pt x="7273" y="17146"/>
                </a:lnTo>
                <a:close/>
              </a:path>
            </a:pathLst>
          </a:custGeom>
          <a:solidFill>
            <a:schemeClr val="accent1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AutoShape 18"/>
          <p:cNvSpPr>
            <a:spLocks noChangeArrowheads="1"/>
          </p:cNvSpPr>
          <p:nvPr/>
        </p:nvSpPr>
        <p:spPr bwMode="auto">
          <a:xfrm>
            <a:off x="2424113" y="4133850"/>
            <a:ext cx="1066800" cy="758825"/>
          </a:xfrm>
          <a:prstGeom prst="rightArrow">
            <a:avLst>
              <a:gd name="adj1" fmla="val 50000"/>
              <a:gd name="adj2" fmla="val 35146"/>
            </a:avLst>
          </a:prstGeom>
          <a:solidFill>
            <a:schemeClr val="accent1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AutoShape 19"/>
          <p:cNvSpPr>
            <a:spLocks noChangeAspect="1" noChangeArrowheads="1"/>
          </p:cNvSpPr>
          <p:nvPr/>
        </p:nvSpPr>
        <p:spPr bwMode="auto">
          <a:xfrm>
            <a:off x="6991350" y="4276725"/>
            <a:ext cx="919163" cy="517525"/>
          </a:xfrm>
          <a:prstGeom prst="cube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4" name="AutoShape 20"/>
          <p:cNvSpPr>
            <a:spLocks/>
          </p:cNvSpPr>
          <p:nvPr/>
        </p:nvSpPr>
        <p:spPr bwMode="auto">
          <a:xfrm>
            <a:off x="2119313" y="4876800"/>
            <a:ext cx="304800" cy="1143000"/>
          </a:xfrm>
          <a:prstGeom prst="rightBrace">
            <a:avLst>
              <a:gd name="adj1" fmla="val 3125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Text Box 21"/>
          <p:cNvSpPr txBox="1">
            <a:spLocks noChangeArrowheads="1"/>
          </p:cNvSpPr>
          <p:nvPr/>
        </p:nvSpPr>
        <p:spPr bwMode="auto">
          <a:xfrm>
            <a:off x="2424113" y="5181600"/>
            <a:ext cx="3041650" cy="581025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/>
              <a:t>Product Backlog</a:t>
            </a:r>
          </a:p>
          <a:p>
            <a:pPr algn="l"/>
            <a:r>
              <a:rPr lang="en-US" sz="1600"/>
              <a:t>As prioritized by Product Owner</a:t>
            </a:r>
          </a:p>
        </p:txBody>
      </p:sp>
      <p:sp>
        <p:nvSpPr>
          <p:cNvPr id="7186" name="Text Box 22"/>
          <p:cNvSpPr txBox="1">
            <a:spLocks noChangeArrowheads="1"/>
          </p:cNvSpPr>
          <p:nvPr/>
        </p:nvSpPr>
        <p:spPr bwMode="auto">
          <a:xfrm>
            <a:off x="1052513" y="3943350"/>
            <a:ext cx="1492250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/>
              <a:t>Sprint Backlog</a:t>
            </a:r>
          </a:p>
        </p:txBody>
      </p:sp>
      <p:sp>
        <p:nvSpPr>
          <p:cNvPr id="7187" name="Text Box 23"/>
          <p:cNvSpPr txBox="1">
            <a:spLocks noChangeArrowheads="1"/>
          </p:cNvSpPr>
          <p:nvPr/>
        </p:nvSpPr>
        <p:spPr bwMode="auto">
          <a:xfrm>
            <a:off x="3033713" y="3400425"/>
            <a:ext cx="1436687" cy="82550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/>
              <a:t>Backlog tasks</a:t>
            </a:r>
          </a:p>
          <a:p>
            <a:pPr algn="ctr"/>
            <a:r>
              <a:rPr lang="en-US" sz="1600"/>
              <a:t>expanded</a:t>
            </a:r>
          </a:p>
          <a:p>
            <a:pPr algn="ctr"/>
            <a:r>
              <a:rPr lang="en-US" sz="1600"/>
              <a:t>by team</a:t>
            </a:r>
          </a:p>
        </p:txBody>
      </p:sp>
      <p:sp>
        <p:nvSpPr>
          <p:cNvPr id="7188" name="Text Box 24"/>
          <p:cNvSpPr txBox="1">
            <a:spLocks noChangeArrowheads="1"/>
          </p:cNvSpPr>
          <p:nvPr/>
        </p:nvSpPr>
        <p:spPr bwMode="auto">
          <a:xfrm>
            <a:off x="6459538" y="4905375"/>
            <a:ext cx="2076450" cy="581025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/>
              <a:t>Potentially Shippable</a:t>
            </a:r>
          </a:p>
          <a:p>
            <a:pPr algn="ctr"/>
            <a:r>
              <a:rPr lang="en-US" sz="1600"/>
              <a:t>Product Increment</a:t>
            </a:r>
          </a:p>
        </p:txBody>
      </p:sp>
      <p:sp>
        <p:nvSpPr>
          <p:cNvPr id="7189" name="Text Box 25"/>
          <p:cNvSpPr txBox="1">
            <a:spLocks noChangeArrowheads="1"/>
          </p:cNvSpPr>
          <p:nvPr/>
        </p:nvSpPr>
        <p:spPr bwMode="auto">
          <a:xfrm>
            <a:off x="2843213" y="2276475"/>
            <a:ext cx="1277937" cy="581025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/>
              <a:t>Daily Scrum</a:t>
            </a:r>
          </a:p>
          <a:p>
            <a:pPr algn="ctr"/>
            <a:r>
              <a:rPr lang="en-US" sz="1600"/>
              <a:t>Meeting</a:t>
            </a:r>
          </a:p>
        </p:txBody>
      </p:sp>
      <p:sp>
        <p:nvSpPr>
          <p:cNvPr id="7190" name="Text Box 26"/>
          <p:cNvSpPr txBox="1">
            <a:spLocks noChangeArrowheads="1"/>
          </p:cNvSpPr>
          <p:nvPr/>
        </p:nvSpPr>
        <p:spPr bwMode="auto">
          <a:xfrm>
            <a:off x="6581775" y="5791200"/>
            <a:ext cx="2362200" cy="5016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900"/>
              <a:t>Source: Adapted from </a:t>
            </a:r>
            <a:r>
              <a:rPr lang="en-US" sz="900" i="1"/>
              <a:t>Agile Software Development with Scrum </a:t>
            </a:r>
            <a:r>
              <a:rPr lang="en-US" sz="900"/>
              <a:t>by Ken Schwaber and Mike Beedle.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Sequential vs. Overlap</a:t>
            </a:r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9913" y="4495800"/>
            <a:ext cx="5629275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6" name="Line 3"/>
          <p:cNvSpPr>
            <a:spLocks noChangeShapeType="1"/>
          </p:cNvSpPr>
          <p:nvPr/>
        </p:nvSpPr>
        <p:spPr bwMode="auto">
          <a:xfrm>
            <a:off x="1371600" y="2259013"/>
            <a:ext cx="6583363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Line 4"/>
          <p:cNvSpPr>
            <a:spLocks noChangeShapeType="1"/>
          </p:cNvSpPr>
          <p:nvPr/>
        </p:nvSpPr>
        <p:spPr bwMode="auto">
          <a:xfrm>
            <a:off x="1393825" y="5340350"/>
            <a:ext cx="658495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2" name="AutoShape 6"/>
          <p:cNvSpPr>
            <a:spLocks/>
          </p:cNvSpPr>
          <p:nvPr/>
        </p:nvSpPr>
        <p:spPr bwMode="auto">
          <a:xfrm>
            <a:off x="1165225" y="2533650"/>
            <a:ext cx="3727450" cy="1108075"/>
          </a:xfrm>
          <a:prstGeom prst="roundRect">
            <a:avLst>
              <a:gd name="adj" fmla="val 24741"/>
            </a:avLst>
          </a:prstGeom>
          <a:blipFill dpi="0" rotWithShape="0">
            <a:blip r:embed="rId3" cstate="print"/>
            <a:srcRect/>
            <a:tile tx="0" ty="0" sx="100000" sy="100000" flip="none" algn="tl"/>
          </a:blipFill>
          <a:ln w="25400">
            <a:solidFill>
              <a:srgbClr val="003C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82296" tIns="41148" rIns="82296" bIns="41148"/>
          <a:lstStyle/>
          <a:p>
            <a:pPr algn="ctr" defTabSz="822325">
              <a:defRPr/>
            </a:pPr>
            <a:endParaRPr lang="en-US" sz="2900">
              <a:latin typeface="Gill Sans" charset="0"/>
              <a:ea typeface="ヒラギノ角ゴ Pro W3" charset="-128"/>
              <a:sym typeface="Gill Sans" charset="0"/>
            </a:endParaRPr>
          </a:p>
        </p:txBody>
      </p:sp>
      <p:sp>
        <p:nvSpPr>
          <p:cNvPr id="19463" name="AutoShape 7"/>
          <p:cNvSpPr>
            <a:spLocks/>
          </p:cNvSpPr>
          <p:nvPr/>
        </p:nvSpPr>
        <p:spPr bwMode="auto">
          <a:xfrm>
            <a:off x="4427538" y="3200400"/>
            <a:ext cx="3725862" cy="1109663"/>
          </a:xfrm>
          <a:prstGeom prst="roundRect">
            <a:avLst>
              <a:gd name="adj" fmla="val 24741"/>
            </a:avLst>
          </a:prstGeom>
          <a:blipFill dpi="0" rotWithShape="0">
            <a:blip r:embed="rId4" cstate="print"/>
            <a:srcRect/>
            <a:tile tx="0" ty="0" sx="100000" sy="100000" flip="none" algn="tl"/>
          </a:blipFill>
          <a:ln w="25400">
            <a:solidFill>
              <a:srgbClr val="00531C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82296" tIns="41148" rIns="82296" bIns="41148"/>
          <a:lstStyle/>
          <a:p>
            <a:pPr algn="ctr" defTabSz="822325">
              <a:defRPr/>
            </a:pPr>
            <a:endParaRPr lang="en-US" sz="2900">
              <a:latin typeface="Gill Sans" charset="0"/>
              <a:ea typeface="ヒラギノ角ゴ Pro W3" charset="-128"/>
              <a:sym typeface="Gill Sans" charset="0"/>
            </a:endParaRPr>
          </a:p>
        </p:txBody>
      </p:sp>
      <p:sp>
        <p:nvSpPr>
          <p:cNvPr id="8200" name="Rectangle 8"/>
          <p:cNvSpPr>
            <a:spLocks/>
          </p:cNvSpPr>
          <p:nvPr/>
        </p:nvSpPr>
        <p:spPr bwMode="auto">
          <a:xfrm>
            <a:off x="1279525" y="2647950"/>
            <a:ext cx="3486150" cy="89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/>
          <a:lstStyle/>
          <a:p>
            <a:pPr algn="l" defTabSz="822325">
              <a:tabLst>
                <a:tab pos="960438" algn="l"/>
              </a:tabLst>
            </a:pPr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Rather than doing all of one thing at a time...</a:t>
            </a:r>
          </a:p>
        </p:txBody>
      </p:sp>
      <p:sp>
        <p:nvSpPr>
          <p:cNvPr id="8201" name="Rectangle 9"/>
          <p:cNvSpPr>
            <a:spLocks/>
          </p:cNvSpPr>
          <p:nvPr/>
        </p:nvSpPr>
        <p:spPr bwMode="auto">
          <a:xfrm>
            <a:off x="4530725" y="3349625"/>
            <a:ext cx="362267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/>
          <a:lstStyle/>
          <a:p>
            <a:pPr algn="l" defTabSz="822325">
              <a:tabLst>
                <a:tab pos="960438" algn="l"/>
              </a:tabLst>
            </a:pPr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...Scrum teams do a little of everything all the time</a:t>
            </a:r>
          </a:p>
        </p:txBody>
      </p:sp>
      <p:sp>
        <p:nvSpPr>
          <p:cNvPr id="8202" name="Rectangle 10"/>
          <p:cNvSpPr>
            <a:spLocks/>
          </p:cNvSpPr>
          <p:nvPr/>
        </p:nvSpPr>
        <p:spPr bwMode="auto">
          <a:xfrm>
            <a:off x="650875" y="1447800"/>
            <a:ext cx="2054225" cy="5365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22325"/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Requirements</a:t>
            </a:r>
          </a:p>
        </p:txBody>
      </p:sp>
      <p:sp>
        <p:nvSpPr>
          <p:cNvPr id="8203" name="Rectangle 11"/>
          <p:cNvSpPr>
            <a:spLocks/>
          </p:cNvSpPr>
          <p:nvPr/>
        </p:nvSpPr>
        <p:spPr bwMode="auto">
          <a:xfrm>
            <a:off x="2876550" y="1447800"/>
            <a:ext cx="1771650" cy="536575"/>
          </a:xfrm>
          <a:prstGeom prst="rect">
            <a:avLst/>
          </a:prstGeom>
          <a:solidFill>
            <a:srgbClr val="01FF0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22325"/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Design</a:t>
            </a:r>
          </a:p>
        </p:txBody>
      </p:sp>
      <p:sp>
        <p:nvSpPr>
          <p:cNvPr id="8204" name="Rectangle 12"/>
          <p:cNvSpPr>
            <a:spLocks/>
          </p:cNvSpPr>
          <p:nvPr/>
        </p:nvSpPr>
        <p:spPr bwMode="auto">
          <a:xfrm>
            <a:off x="4819650" y="1447800"/>
            <a:ext cx="1771650" cy="536575"/>
          </a:xfrm>
          <a:prstGeom prst="rect">
            <a:avLst/>
          </a:prstGeom>
          <a:solidFill>
            <a:srgbClr val="00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22325"/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Code</a:t>
            </a:r>
          </a:p>
        </p:txBody>
      </p:sp>
      <p:sp>
        <p:nvSpPr>
          <p:cNvPr id="8205" name="Rectangle 13"/>
          <p:cNvSpPr>
            <a:spLocks/>
          </p:cNvSpPr>
          <p:nvPr/>
        </p:nvSpPr>
        <p:spPr bwMode="auto">
          <a:xfrm>
            <a:off x="6762750" y="1447800"/>
            <a:ext cx="1771650" cy="536575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22325"/>
            <a:r>
              <a:rPr lang="en-US" sz="2300">
                <a:latin typeface="Gill Sans" charset="0"/>
                <a:ea typeface="ヒラギノ角ゴ Pro W3" charset="-128"/>
                <a:sym typeface="Gill Sans" charset="0"/>
              </a:rPr>
              <a:t>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Scrum Framework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50875" y="1208088"/>
            <a:ext cx="3727450" cy="1839912"/>
            <a:chOff x="0" y="0"/>
            <a:chExt cx="2608" cy="1288"/>
          </a:xfrm>
        </p:grpSpPr>
        <p:sp>
          <p:nvSpPr>
            <p:cNvPr id="21507" name="AutoShape 3"/>
            <p:cNvSpPr>
              <a:spLocks/>
            </p:cNvSpPr>
            <p:nvPr/>
          </p:nvSpPr>
          <p:spPr bwMode="auto">
            <a:xfrm>
              <a:off x="8" y="0"/>
              <a:ext cx="2600" cy="1288"/>
            </a:xfrm>
            <a:prstGeom prst="roundRect">
              <a:avLst>
                <a:gd name="adj" fmla="val 14903"/>
              </a:avLst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5400">
              <a:solidFill>
                <a:srgbClr val="003C83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82296" tIns="41148" rIns="82296" bIns="41148"/>
            <a:lstStyle/>
            <a:p>
              <a:pPr algn="ctr" defTabSz="822325">
                <a:defRPr/>
              </a:pPr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39" name="Rectangle 4"/>
            <p:cNvSpPr>
              <a:spLocks/>
            </p:cNvSpPr>
            <p:nvPr/>
          </p:nvSpPr>
          <p:spPr bwMode="auto">
            <a:xfrm>
              <a:off x="96" y="392"/>
              <a:ext cx="1768" cy="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Product owner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Scrum Master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Team</a:t>
              </a:r>
            </a:p>
          </p:txBody>
        </p:sp>
        <p:sp>
          <p:nvSpPr>
            <p:cNvPr id="9240" name="Rectangle 5"/>
            <p:cNvSpPr>
              <a:spLocks/>
            </p:cNvSpPr>
            <p:nvPr/>
          </p:nvSpPr>
          <p:spPr bwMode="auto">
            <a:xfrm>
              <a:off x="304" y="0"/>
              <a:ext cx="1200" cy="376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41" name="AutoShape 6"/>
            <p:cNvSpPr>
              <a:spLocks/>
            </p:cNvSpPr>
            <p:nvPr/>
          </p:nvSpPr>
          <p:spPr bwMode="auto">
            <a:xfrm rot="10800000">
              <a:off x="1432" y="88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AutoShape 7"/>
            <p:cNvSpPr>
              <a:spLocks/>
            </p:cNvSpPr>
            <p:nvPr/>
          </p:nvSpPr>
          <p:spPr bwMode="auto">
            <a:xfrm>
              <a:off x="0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Rectangle 8"/>
            <p:cNvSpPr>
              <a:spLocks/>
            </p:cNvSpPr>
            <p:nvPr/>
          </p:nvSpPr>
          <p:spPr bwMode="auto">
            <a:xfrm>
              <a:off x="0" y="216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44" name="Rectangle 9"/>
            <p:cNvSpPr>
              <a:spLocks/>
            </p:cNvSpPr>
            <p:nvPr/>
          </p:nvSpPr>
          <p:spPr bwMode="auto">
            <a:xfrm>
              <a:off x="1352" y="0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45" name="Rectangle 10"/>
            <p:cNvSpPr>
              <a:spLocks/>
            </p:cNvSpPr>
            <p:nvPr/>
          </p:nvSpPr>
          <p:spPr bwMode="auto">
            <a:xfrm>
              <a:off x="104" y="8"/>
              <a:ext cx="1336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tabLst>
                  <a:tab pos="960438" algn="l"/>
                </a:tabLst>
              </a:pPr>
              <a:r>
                <a:rPr lang="en-US" sz="29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Roles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903538" y="2601913"/>
            <a:ext cx="3725862" cy="2274887"/>
            <a:chOff x="0" y="0"/>
            <a:chExt cx="2608" cy="1592"/>
          </a:xfrm>
        </p:grpSpPr>
        <p:sp>
          <p:nvSpPr>
            <p:cNvPr id="21516" name="AutoShape 12"/>
            <p:cNvSpPr>
              <a:spLocks/>
            </p:cNvSpPr>
            <p:nvPr/>
          </p:nvSpPr>
          <p:spPr bwMode="auto">
            <a:xfrm>
              <a:off x="8" y="0"/>
              <a:ext cx="2600" cy="1592"/>
            </a:xfrm>
            <a:prstGeom prst="roundRect">
              <a:avLst>
                <a:gd name="adj" fmla="val 12060"/>
              </a:avLst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5400">
              <a:solidFill>
                <a:srgbClr val="003C83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82296" tIns="41148" rIns="82296" bIns="41148"/>
            <a:lstStyle/>
            <a:p>
              <a:pPr algn="ctr" defTabSz="822325">
                <a:defRPr/>
              </a:pPr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31" name="Rectangle 13"/>
            <p:cNvSpPr>
              <a:spLocks/>
            </p:cNvSpPr>
            <p:nvPr/>
          </p:nvSpPr>
          <p:spPr bwMode="auto">
            <a:xfrm>
              <a:off x="96" y="392"/>
              <a:ext cx="2320" cy="1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planning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review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retrospective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Daily scrum meeting</a:t>
              </a:r>
            </a:p>
          </p:txBody>
        </p:sp>
        <p:sp>
          <p:nvSpPr>
            <p:cNvPr id="9232" name="Rectangle 14"/>
            <p:cNvSpPr>
              <a:spLocks/>
            </p:cNvSpPr>
            <p:nvPr/>
          </p:nvSpPr>
          <p:spPr bwMode="auto">
            <a:xfrm>
              <a:off x="304" y="0"/>
              <a:ext cx="1200" cy="376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33" name="AutoShape 15"/>
            <p:cNvSpPr>
              <a:spLocks/>
            </p:cNvSpPr>
            <p:nvPr/>
          </p:nvSpPr>
          <p:spPr bwMode="auto">
            <a:xfrm rot="10800000">
              <a:off x="1432" y="88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AutoShape 16"/>
            <p:cNvSpPr>
              <a:spLocks/>
            </p:cNvSpPr>
            <p:nvPr/>
          </p:nvSpPr>
          <p:spPr bwMode="auto">
            <a:xfrm>
              <a:off x="0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Rectangle 17"/>
            <p:cNvSpPr>
              <a:spLocks/>
            </p:cNvSpPr>
            <p:nvPr/>
          </p:nvSpPr>
          <p:spPr bwMode="auto">
            <a:xfrm>
              <a:off x="0" y="216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36" name="Rectangle 18"/>
            <p:cNvSpPr>
              <a:spLocks/>
            </p:cNvSpPr>
            <p:nvPr/>
          </p:nvSpPr>
          <p:spPr bwMode="auto">
            <a:xfrm>
              <a:off x="1352" y="0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37" name="Rectangle 19"/>
            <p:cNvSpPr>
              <a:spLocks/>
            </p:cNvSpPr>
            <p:nvPr/>
          </p:nvSpPr>
          <p:spPr bwMode="auto">
            <a:xfrm>
              <a:off x="104" y="8"/>
              <a:ext cx="1512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tabLst>
                  <a:tab pos="960438" algn="l"/>
                </a:tabLst>
              </a:pPr>
              <a:r>
                <a:rPr lang="en-US" sz="29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Ceremonies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876800" y="4787900"/>
            <a:ext cx="3727450" cy="1841500"/>
            <a:chOff x="0" y="0"/>
            <a:chExt cx="2608" cy="1288"/>
          </a:xfrm>
        </p:grpSpPr>
        <p:sp>
          <p:nvSpPr>
            <p:cNvPr id="21525" name="AutoShape 21"/>
            <p:cNvSpPr>
              <a:spLocks/>
            </p:cNvSpPr>
            <p:nvPr/>
          </p:nvSpPr>
          <p:spPr bwMode="auto">
            <a:xfrm>
              <a:off x="8" y="0"/>
              <a:ext cx="2600" cy="1288"/>
            </a:xfrm>
            <a:prstGeom prst="roundRect">
              <a:avLst>
                <a:gd name="adj" fmla="val 14903"/>
              </a:avLst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5400">
              <a:solidFill>
                <a:srgbClr val="003C83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82296" tIns="41148" rIns="82296" bIns="41148"/>
            <a:lstStyle/>
            <a:p>
              <a:pPr algn="ctr" defTabSz="822325">
                <a:defRPr/>
              </a:pPr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23" name="Rectangle 22"/>
            <p:cNvSpPr>
              <a:spLocks/>
            </p:cNvSpPr>
            <p:nvPr/>
          </p:nvSpPr>
          <p:spPr bwMode="auto">
            <a:xfrm>
              <a:off x="96" y="392"/>
              <a:ext cx="2376" cy="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Product backlog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backlog</a:t>
              </a:r>
            </a:p>
            <a:p>
              <a:pPr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5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Burndown charts</a:t>
              </a:r>
            </a:p>
          </p:txBody>
        </p:sp>
        <p:sp>
          <p:nvSpPr>
            <p:cNvPr id="9224" name="Rectangle 23"/>
            <p:cNvSpPr>
              <a:spLocks/>
            </p:cNvSpPr>
            <p:nvPr/>
          </p:nvSpPr>
          <p:spPr bwMode="auto">
            <a:xfrm>
              <a:off x="304" y="0"/>
              <a:ext cx="1200" cy="376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25" name="AutoShape 24"/>
            <p:cNvSpPr>
              <a:spLocks/>
            </p:cNvSpPr>
            <p:nvPr/>
          </p:nvSpPr>
          <p:spPr bwMode="auto">
            <a:xfrm rot="10800000">
              <a:off x="1432" y="88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AutoShape 25"/>
            <p:cNvSpPr>
              <a:spLocks/>
            </p:cNvSpPr>
            <p:nvPr/>
          </p:nvSpPr>
          <p:spPr bwMode="auto">
            <a:xfrm>
              <a:off x="0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Rectangle 26"/>
            <p:cNvSpPr>
              <a:spLocks/>
            </p:cNvSpPr>
            <p:nvPr/>
          </p:nvSpPr>
          <p:spPr bwMode="auto">
            <a:xfrm>
              <a:off x="0" y="216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28" name="Rectangle 27"/>
            <p:cNvSpPr>
              <a:spLocks/>
            </p:cNvSpPr>
            <p:nvPr/>
          </p:nvSpPr>
          <p:spPr bwMode="auto">
            <a:xfrm>
              <a:off x="1352" y="0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9229" name="Rectangle 28"/>
            <p:cNvSpPr>
              <a:spLocks/>
            </p:cNvSpPr>
            <p:nvPr/>
          </p:nvSpPr>
          <p:spPr bwMode="auto">
            <a:xfrm>
              <a:off x="104" y="8"/>
              <a:ext cx="1336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tabLst>
                  <a:tab pos="960438" algn="l"/>
                </a:tabLst>
              </a:pPr>
              <a:r>
                <a:rPr lang="en-US" sz="29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Artifacts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Scrum Roles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GB"/>
              <a:t>Product Owner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Possibly a Product Manager or Project Sponsor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GB" sz="1800"/>
              <a:t>Decides features, release date, prioritization, $$$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endParaRPr lang="en-GB" sz="1200"/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endParaRPr lang="en-GB" sz="1200"/>
          </a:p>
          <a:p>
            <a:pPr lvl="1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GB"/>
              <a:t>Scrum Master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Typically a Project Manager or Team Leader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Responsible for enacting Scrum values and practices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Remove impediments / politics, keeps everyone productive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endParaRPr lang="en-US" sz="1200"/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endParaRPr lang="en-US" sz="1200"/>
          </a:p>
          <a:p>
            <a:pPr lvl="1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GB"/>
              <a:t>Project Team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GB" sz="1800"/>
              <a:t>5-10 members;  </a:t>
            </a:r>
            <a:r>
              <a:rPr lang="en-US" sz="1800"/>
              <a:t>Teams are self-organizing</a:t>
            </a:r>
            <a:endParaRPr lang="en-GB" sz="1800"/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Cross-functional: QA, Programmers, UI Designers, etc.</a:t>
            </a:r>
          </a:p>
          <a:p>
            <a:pPr lvl="2" defTabSz="1028700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sz="1800"/>
              <a:t>Membership should change only between sprints</a:t>
            </a:r>
          </a:p>
        </p:txBody>
      </p:sp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9675" y="1447800"/>
            <a:ext cx="898525" cy="69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3124200"/>
            <a:ext cx="838200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239000" y="4648200"/>
            <a:ext cx="1295400" cy="1066800"/>
            <a:chOff x="0" y="0"/>
            <a:chExt cx="1704" cy="1346"/>
          </a:xfrm>
        </p:grpSpPr>
        <p:pic>
          <p:nvPicPr>
            <p:cNvPr id="10247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08" y="453"/>
              <a:ext cx="507" cy="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0"/>
              <a:ext cx="1704" cy="1346"/>
              <a:chOff x="0" y="0"/>
              <a:chExt cx="1704" cy="1346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1704" cy="440"/>
                <a:chOff x="0" y="0"/>
                <a:chExt cx="1704" cy="440"/>
              </a:xfrm>
            </p:grpSpPr>
            <p:pic>
              <p:nvPicPr>
                <p:cNvPr id="10255" name="Picture 7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507" cy="4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256" name="Picture 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598" y="0"/>
                  <a:ext cx="507" cy="4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257" name="Picture 9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1196" y="0"/>
                  <a:ext cx="508" cy="4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10250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40" y="469"/>
                <a:ext cx="507" cy="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5" name="Group 11"/>
              <p:cNvGrpSpPr>
                <a:grpSpLocks/>
              </p:cNvGrpSpPr>
              <p:nvPr/>
            </p:nvGrpSpPr>
            <p:grpSpPr bwMode="auto">
              <a:xfrm>
                <a:off x="0" y="906"/>
                <a:ext cx="1704" cy="440"/>
                <a:chOff x="0" y="0"/>
                <a:chExt cx="1704" cy="440"/>
              </a:xfrm>
            </p:grpSpPr>
            <p:pic>
              <p:nvPicPr>
                <p:cNvPr id="10252" name="Picture 12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0" y="16"/>
                  <a:ext cx="507" cy="4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253" name="Picture 13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1196" y="0"/>
                  <a:ext cx="508" cy="4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254" name="Picture 14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98" y="0"/>
                  <a:ext cx="507" cy="4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Sprint Planning Mtg.</a:t>
            </a:r>
          </a:p>
        </p:txBody>
      </p:sp>
      <p:sp>
        <p:nvSpPr>
          <p:cNvPr id="27649" name="AutoShape 1"/>
          <p:cNvSpPr>
            <a:spLocks/>
          </p:cNvSpPr>
          <p:nvPr/>
        </p:nvSpPr>
        <p:spPr bwMode="auto">
          <a:xfrm>
            <a:off x="2217738" y="1211263"/>
            <a:ext cx="4583112" cy="5418137"/>
          </a:xfrm>
          <a:prstGeom prst="roundRect">
            <a:avLst>
              <a:gd name="adj" fmla="val 5981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003C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82296" tIns="41148" rIns="82296" bIns="41148"/>
          <a:lstStyle/>
          <a:p>
            <a:pPr algn="ctr" defTabSz="822325">
              <a:defRPr/>
            </a:pPr>
            <a:endParaRPr lang="en-US" sz="2900">
              <a:solidFill>
                <a:srgbClr val="000000"/>
              </a:solidFill>
              <a:latin typeface="Gill Sans" charset="0"/>
              <a:ea typeface="ヒラギノ角ゴ Pro W3" charset="-128"/>
              <a:sym typeface="Gill Sans" charset="0"/>
            </a:endParaRPr>
          </a:p>
        </p:txBody>
      </p:sp>
      <p:sp>
        <p:nvSpPr>
          <p:cNvPr id="11268" name="Rectangle 2"/>
          <p:cNvSpPr>
            <a:spLocks/>
          </p:cNvSpPr>
          <p:nvPr/>
        </p:nvSpPr>
        <p:spPr bwMode="auto">
          <a:xfrm>
            <a:off x="2640013" y="1211263"/>
            <a:ext cx="3143250" cy="538162"/>
          </a:xfrm>
          <a:prstGeom prst="rect">
            <a:avLst/>
          </a:prstGeom>
          <a:solidFill>
            <a:srgbClr val="003C83"/>
          </a:solidFill>
          <a:ln w="25400">
            <a:noFill/>
            <a:miter lim="800000"/>
            <a:headEnd/>
            <a:tailEnd/>
          </a:ln>
        </p:spPr>
        <p:txBody>
          <a:bodyPr lIns="82296" tIns="41148" rIns="82296" bIns="41148"/>
          <a:lstStyle/>
          <a:p>
            <a:pPr algn="ctr" defTabSz="822325"/>
            <a:endParaRPr lang="en-US" sz="2900">
              <a:solidFill>
                <a:srgbClr val="000000"/>
              </a:solidFill>
              <a:latin typeface="Gill Sans" charset="0"/>
              <a:ea typeface="ヒラギノ角ゴ Pro W3" charset="-128"/>
              <a:sym typeface="Gill Sans" charset="0"/>
            </a:endParaRPr>
          </a:p>
        </p:txBody>
      </p:sp>
      <p:sp>
        <p:nvSpPr>
          <p:cNvPr id="11269" name="AutoShape 3"/>
          <p:cNvSpPr>
            <a:spLocks/>
          </p:cNvSpPr>
          <p:nvPr/>
        </p:nvSpPr>
        <p:spPr bwMode="auto">
          <a:xfrm>
            <a:off x="2206625" y="1211263"/>
            <a:ext cx="444500" cy="411162"/>
          </a:xfrm>
          <a:custGeom>
            <a:avLst/>
            <a:gdLst>
              <a:gd name="T0" fmla="*/ 148608520 w 21600"/>
              <a:gd name="T1" fmla="*/ 554402 h 21600"/>
              <a:gd name="T2" fmla="*/ 151480 w 21600"/>
              <a:gd name="T3" fmla="*/ 120505333 h 21600"/>
              <a:gd name="T4" fmla="*/ 0 w 21600"/>
              <a:gd name="T5" fmla="*/ 184212007 h 21600"/>
              <a:gd name="T6" fmla="*/ 233722707 w 21600"/>
              <a:gd name="T7" fmla="*/ 184212007 h 21600"/>
              <a:gd name="T8" fmla="*/ 233722707 w 21600"/>
              <a:gd name="T9" fmla="*/ 0 h 21600"/>
              <a:gd name="T10" fmla="*/ 148608520 w 21600"/>
              <a:gd name="T11" fmla="*/ 554402 h 21600"/>
              <a:gd name="T12" fmla="*/ 148608520 w 21600"/>
              <a:gd name="T13" fmla="*/ 554402 h 21600"/>
              <a:gd name="T14" fmla="*/ 148608520 w 21600"/>
              <a:gd name="T15" fmla="*/ 55440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600"/>
              <a:gd name="T25" fmla="*/ 0 h 21600"/>
              <a:gd name="T26" fmla="*/ 21600 w 21600"/>
              <a:gd name="T27" fmla="*/ 21600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3734" y="65"/>
                </a:moveTo>
                <a:cubicBezTo>
                  <a:pt x="4547" y="550"/>
                  <a:pt x="111" y="6203"/>
                  <a:pt x="14" y="14130"/>
                </a:cubicBezTo>
                <a:cubicBezTo>
                  <a:pt x="9" y="16620"/>
                  <a:pt x="5" y="19110"/>
                  <a:pt x="0" y="21600"/>
                </a:cubicBezTo>
                <a:cubicBezTo>
                  <a:pt x="7200" y="21600"/>
                  <a:pt x="14400" y="21600"/>
                  <a:pt x="21600" y="21600"/>
                </a:cubicBezTo>
                <a:cubicBezTo>
                  <a:pt x="21600" y="14400"/>
                  <a:pt x="21600" y="7200"/>
                  <a:pt x="21600" y="0"/>
                </a:cubicBezTo>
                <a:cubicBezTo>
                  <a:pt x="18978" y="22"/>
                  <a:pt x="16356" y="43"/>
                  <a:pt x="13734" y="65"/>
                </a:cubicBezTo>
                <a:cubicBezTo>
                  <a:pt x="13734" y="65"/>
                  <a:pt x="13734" y="65"/>
                  <a:pt x="13734" y="65"/>
                </a:cubicBezTo>
                <a:cubicBezTo>
                  <a:pt x="13734" y="65"/>
                  <a:pt x="13734" y="65"/>
                  <a:pt x="13734" y="65"/>
                </a:cubicBezTo>
              </a:path>
            </a:pathLst>
          </a:custGeom>
          <a:solidFill>
            <a:srgbClr val="003C83"/>
          </a:solidFill>
          <a:ln w="25400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0" name="Rectangle 4"/>
          <p:cNvSpPr>
            <a:spLocks/>
          </p:cNvSpPr>
          <p:nvPr/>
        </p:nvSpPr>
        <p:spPr bwMode="auto">
          <a:xfrm>
            <a:off x="2206625" y="1520825"/>
            <a:ext cx="558800" cy="228600"/>
          </a:xfrm>
          <a:prstGeom prst="rect">
            <a:avLst/>
          </a:prstGeom>
          <a:solidFill>
            <a:srgbClr val="003C83"/>
          </a:solidFill>
          <a:ln w="25400">
            <a:noFill/>
            <a:miter lim="800000"/>
            <a:headEnd/>
            <a:tailEnd/>
          </a:ln>
        </p:spPr>
        <p:txBody>
          <a:bodyPr lIns="82296" tIns="41148" rIns="82296" bIns="41148"/>
          <a:lstStyle/>
          <a:p>
            <a:pPr algn="ctr" defTabSz="822325"/>
            <a:endParaRPr lang="en-US" sz="2900">
              <a:solidFill>
                <a:srgbClr val="000000"/>
              </a:solidFill>
              <a:latin typeface="Gill Sans" charset="0"/>
              <a:ea typeface="ヒラギノ角ゴ Pro W3" charset="-128"/>
              <a:sym typeface="Gill Sans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11813" y="1211263"/>
            <a:ext cx="560387" cy="538162"/>
            <a:chOff x="0" y="0"/>
            <a:chExt cx="392" cy="376"/>
          </a:xfrm>
        </p:grpSpPr>
        <p:sp>
          <p:nvSpPr>
            <p:cNvPr id="11303" name="AutoShape 6"/>
            <p:cNvSpPr>
              <a:spLocks/>
            </p:cNvSpPr>
            <p:nvPr/>
          </p:nvSpPr>
          <p:spPr bwMode="auto">
            <a:xfrm rot="10800000">
              <a:off x="80" y="88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Rectangle 7"/>
            <p:cNvSpPr>
              <a:spLocks/>
            </p:cNvSpPr>
            <p:nvPr/>
          </p:nvSpPr>
          <p:spPr bwMode="auto">
            <a:xfrm>
              <a:off x="0" y="0"/>
              <a:ext cx="392" cy="160"/>
            </a:xfrm>
            <a:prstGeom prst="rect">
              <a:avLst/>
            </a:prstGeom>
            <a:solidFill>
              <a:srgbClr val="003C83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</p:grpSp>
      <p:sp>
        <p:nvSpPr>
          <p:cNvPr id="11272" name="Rectangle 8"/>
          <p:cNvSpPr>
            <a:spLocks/>
          </p:cNvSpPr>
          <p:nvPr/>
        </p:nvSpPr>
        <p:spPr bwMode="auto">
          <a:xfrm>
            <a:off x="2354263" y="1211263"/>
            <a:ext cx="3817937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/>
          <a:lstStyle/>
          <a:p>
            <a:pPr algn="l" defTabSz="822325">
              <a:tabLst>
                <a:tab pos="960438" algn="l"/>
              </a:tabLst>
            </a:pPr>
            <a:r>
              <a:rPr lang="en-US" sz="2500">
                <a:solidFill>
                  <a:srgbClr val="FFFFFF"/>
                </a:solidFill>
                <a:latin typeface="Gill Sans" charset="0"/>
                <a:ea typeface="ヒラギノ角ゴ Pro W3" charset="-128"/>
                <a:sym typeface="Gill Sans" charset="0"/>
              </a:rPr>
              <a:t>Sprint planning meeting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446338" y="1931988"/>
            <a:ext cx="4194175" cy="1679575"/>
            <a:chOff x="0" y="0"/>
            <a:chExt cx="2936" cy="1176"/>
          </a:xfrm>
        </p:grpSpPr>
        <p:sp>
          <p:nvSpPr>
            <p:cNvPr id="27658" name="AutoShape 10"/>
            <p:cNvSpPr>
              <a:spLocks/>
            </p:cNvSpPr>
            <p:nvPr/>
          </p:nvSpPr>
          <p:spPr bwMode="auto">
            <a:xfrm>
              <a:off x="0" y="0"/>
              <a:ext cx="2936" cy="1176"/>
            </a:xfrm>
            <a:prstGeom prst="roundRect">
              <a:avLst>
                <a:gd name="adj" fmla="val 16324"/>
              </a:avLst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25400">
              <a:solidFill>
                <a:srgbClr val="00531C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82296" tIns="41148" rIns="82296" bIns="41148"/>
            <a:lstStyle/>
            <a:p>
              <a:pPr algn="ctr" defTabSz="822325">
                <a:defRPr/>
              </a:pPr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11298" name="Rectangle 11"/>
            <p:cNvSpPr>
              <a:spLocks/>
            </p:cNvSpPr>
            <p:nvPr/>
          </p:nvSpPr>
          <p:spPr bwMode="auto">
            <a:xfrm>
              <a:off x="304" y="0"/>
              <a:ext cx="1432" cy="288"/>
            </a:xfrm>
            <a:prstGeom prst="rect">
              <a:avLst/>
            </a:pr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11299" name="AutoShape 12"/>
            <p:cNvSpPr>
              <a:spLocks/>
            </p:cNvSpPr>
            <p:nvPr/>
          </p:nvSpPr>
          <p:spPr bwMode="auto">
            <a:xfrm rot="10800000">
              <a:off x="1656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AutoShape 13"/>
            <p:cNvSpPr>
              <a:spLocks/>
            </p:cNvSpPr>
            <p:nvPr/>
          </p:nvSpPr>
          <p:spPr bwMode="auto">
            <a:xfrm>
              <a:off x="0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Rectangle 14"/>
            <p:cNvSpPr>
              <a:spLocks/>
            </p:cNvSpPr>
            <p:nvPr/>
          </p:nvSpPr>
          <p:spPr bwMode="auto">
            <a:xfrm>
              <a:off x="104" y="0"/>
              <a:ext cx="1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tabLst>
                  <a:tab pos="960438" algn="l"/>
                </a:tabLst>
              </a:pPr>
              <a:r>
                <a:rPr lang="en-US" sz="22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prioritization</a:t>
              </a:r>
            </a:p>
          </p:txBody>
        </p:sp>
        <p:sp>
          <p:nvSpPr>
            <p:cNvPr id="11302" name="Rectangle 15"/>
            <p:cNvSpPr>
              <a:spLocks/>
            </p:cNvSpPr>
            <p:nvPr/>
          </p:nvSpPr>
          <p:spPr bwMode="auto">
            <a:xfrm>
              <a:off x="40" y="336"/>
              <a:ext cx="2720" cy="7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marL="252413" indent="-252413"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1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Analyze/evaluate product backlog</a:t>
              </a:r>
            </a:p>
            <a:p>
              <a:pPr marL="252413" indent="-252413"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1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Select sprint goal</a:t>
              </a: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446338" y="3771900"/>
            <a:ext cx="4194175" cy="2640013"/>
            <a:chOff x="0" y="0"/>
            <a:chExt cx="2936" cy="1848"/>
          </a:xfrm>
        </p:grpSpPr>
        <p:sp>
          <p:nvSpPr>
            <p:cNvPr id="27665" name="AutoShape 17"/>
            <p:cNvSpPr>
              <a:spLocks/>
            </p:cNvSpPr>
            <p:nvPr/>
          </p:nvSpPr>
          <p:spPr bwMode="auto">
            <a:xfrm>
              <a:off x="0" y="0"/>
              <a:ext cx="2936" cy="1848"/>
            </a:xfrm>
            <a:prstGeom prst="roundRect">
              <a:avLst>
                <a:gd name="adj" fmla="val 10389"/>
              </a:avLst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25400">
              <a:solidFill>
                <a:srgbClr val="00531C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82296" tIns="41148" rIns="82296" bIns="41148"/>
            <a:lstStyle/>
            <a:p>
              <a:pPr algn="ctr" defTabSz="822325">
                <a:defRPr/>
              </a:pPr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11292" name="Rectangle 18"/>
            <p:cNvSpPr>
              <a:spLocks/>
            </p:cNvSpPr>
            <p:nvPr/>
          </p:nvSpPr>
          <p:spPr bwMode="auto">
            <a:xfrm>
              <a:off x="304" y="0"/>
              <a:ext cx="1432" cy="288"/>
            </a:xfrm>
            <a:prstGeom prst="rect">
              <a:avLst/>
            </a:pr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 lIns="82296" tIns="41148" rIns="82296" bIns="41148"/>
            <a:lstStyle/>
            <a:p>
              <a:pPr algn="ctr" defTabSz="822325"/>
              <a:endParaRPr lang="en-US" sz="2900">
                <a:solidFill>
                  <a:srgbClr val="000000"/>
                </a:solidFill>
                <a:latin typeface="Gill Sans" charset="0"/>
                <a:ea typeface="ヒラギノ角ゴ Pro W3" charset="-128"/>
                <a:sym typeface="Gill Sans" charset="0"/>
              </a:endParaRPr>
            </a:p>
          </p:txBody>
        </p:sp>
        <p:sp>
          <p:nvSpPr>
            <p:cNvPr id="11293" name="AutoShape 19"/>
            <p:cNvSpPr>
              <a:spLocks/>
            </p:cNvSpPr>
            <p:nvPr/>
          </p:nvSpPr>
          <p:spPr bwMode="auto">
            <a:xfrm rot="10800000">
              <a:off x="1656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AutoShape 20"/>
            <p:cNvSpPr>
              <a:spLocks/>
            </p:cNvSpPr>
            <p:nvPr/>
          </p:nvSpPr>
          <p:spPr bwMode="auto">
            <a:xfrm>
              <a:off x="0" y="0"/>
              <a:ext cx="31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3734" y="65"/>
                  </a:moveTo>
                  <a:cubicBezTo>
                    <a:pt x="4547" y="550"/>
                    <a:pt x="111" y="6203"/>
                    <a:pt x="14" y="14130"/>
                  </a:cubicBezTo>
                  <a:cubicBezTo>
                    <a:pt x="9" y="16620"/>
                    <a:pt x="5" y="19110"/>
                    <a:pt x="0" y="21600"/>
                  </a:cubicBezTo>
                  <a:cubicBezTo>
                    <a:pt x="7200" y="21600"/>
                    <a:pt x="14400" y="21600"/>
                    <a:pt x="21600" y="216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978" y="22"/>
                    <a:pt x="16356" y="43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  <a:cubicBezTo>
                    <a:pt x="13734" y="65"/>
                    <a:pt x="13734" y="65"/>
                    <a:pt x="13734" y="65"/>
                  </a:cubicBezTo>
                </a:path>
              </a:pathLst>
            </a:custGeom>
            <a:solidFill>
              <a:srgbClr val="00531C"/>
            </a:solidFill>
            <a:ln w="254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Rectangle 21"/>
            <p:cNvSpPr>
              <a:spLocks/>
            </p:cNvSpPr>
            <p:nvPr/>
          </p:nvSpPr>
          <p:spPr bwMode="auto">
            <a:xfrm>
              <a:off x="104" y="0"/>
              <a:ext cx="16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algn="l" defTabSz="822325">
                <a:tabLst>
                  <a:tab pos="960438" algn="l"/>
                </a:tabLst>
              </a:pPr>
              <a:r>
                <a:rPr lang="en-US" sz="22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 planning</a:t>
              </a:r>
            </a:p>
          </p:txBody>
        </p:sp>
        <p:sp>
          <p:nvSpPr>
            <p:cNvPr id="11296" name="Rectangle 22"/>
            <p:cNvSpPr>
              <a:spLocks/>
            </p:cNvSpPr>
            <p:nvPr/>
          </p:nvSpPr>
          <p:spPr bwMode="auto">
            <a:xfrm>
              <a:off x="40" y="336"/>
              <a:ext cx="2896" cy="1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/>
            <a:lstStyle/>
            <a:p>
              <a:pPr marL="252413" indent="-252413"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1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Decide how to achieve sprint goal (design)</a:t>
              </a:r>
            </a:p>
            <a:p>
              <a:pPr marL="252413" indent="-252413"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1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Create sprint backlog (tasks) from product backlog items (user stories / features)</a:t>
              </a:r>
            </a:p>
            <a:p>
              <a:pPr marL="252413" indent="-252413" algn="l" defTabSz="822325">
                <a:buClr>
                  <a:srgbClr val="FFFFFF"/>
                </a:buClr>
                <a:buSzPct val="125000"/>
                <a:buFont typeface="Gill Sans" charset="0"/>
                <a:buChar char="•"/>
                <a:tabLst>
                  <a:tab pos="960438" algn="l"/>
                </a:tabLst>
              </a:pPr>
              <a:r>
                <a:rPr lang="en-US" sz="2100">
                  <a:solidFill>
                    <a:srgbClr val="FFFF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Estimate sprint backlog in hours</a:t>
              </a: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640513" y="2251075"/>
            <a:ext cx="2274887" cy="1041400"/>
            <a:chOff x="0" y="0"/>
            <a:chExt cx="1592" cy="728"/>
          </a:xfrm>
        </p:grpSpPr>
        <p:sp>
          <p:nvSpPr>
            <p:cNvPr id="11289" name="Line 24"/>
            <p:cNvSpPr>
              <a:spLocks noChangeShapeType="1"/>
            </p:cNvSpPr>
            <p:nvPr/>
          </p:nvSpPr>
          <p:spPr bwMode="auto">
            <a:xfrm flipH="1">
              <a:off x="0" y="363"/>
              <a:ext cx="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AutoShape 25"/>
            <p:cNvSpPr>
              <a:spLocks/>
            </p:cNvSpPr>
            <p:nvPr/>
          </p:nvSpPr>
          <p:spPr bwMode="auto">
            <a:xfrm>
              <a:off x="528" y="0"/>
              <a:ext cx="1064" cy="728"/>
            </a:xfrm>
            <a:prstGeom prst="roundRect">
              <a:avLst>
                <a:gd name="adj" fmla="val 26370"/>
              </a:avLst>
            </a:prstGeom>
            <a:blipFill dpi="0" rotWithShape="0">
              <a:blip r:embed="rId4" cstate="print"/>
              <a:srcRect/>
              <a:tile tx="0" ty="0" sx="100000" sy="100000" flip="none" algn="tl"/>
            </a:blipFill>
            <a:ln w="25400">
              <a:solidFill>
                <a:srgbClr val="910000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0" tIns="0" rIns="0" bIns="0" anchor="ctr"/>
            <a:lstStyle/>
            <a:p>
              <a:pPr algn="ctr" defTabSz="822325">
                <a:tabLst>
                  <a:tab pos="960438" algn="l"/>
                </a:tabLst>
                <a:defRPr/>
              </a:pPr>
              <a:r>
                <a:rPr lang="en-US" sz="2900">
                  <a:solidFill>
                    <a:srgbClr val="E3F0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</a:t>
              </a:r>
            </a:p>
            <a:p>
              <a:pPr algn="ctr" defTabSz="822325">
                <a:tabLst>
                  <a:tab pos="960438" algn="l"/>
                </a:tabLst>
                <a:defRPr/>
              </a:pPr>
              <a:r>
                <a:rPr lang="en-US" sz="2900">
                  <a:solidFill>
                    <a:srgbClr val="E3F0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goal</a:t>
              </a:r>
            </a:p>
          </p:txBody>
        </p:sp>
      </p:grpSp>
      <p:sp>
        <p:nvSpPr>
          <p:cNvPr id="11276" name="Line 26"/>
          <p:cNvSpPr>
            <a:spLocks noChangeShapeType="1"/>
          </p:cNvSpPr>
          <p:nvPr/>
        </p:nvSpPr>
        <p:spPr bwMode="auto">
          <a:xfrm flipH="1">
            <a:off x="1628775" y="1751013"/>
            <a:ext cx="588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6640513" y="4560888"/>
            <a:ext cx="2274887" cy="1039812"/>
            <a:chOff x="0" y="0"/>
            <a:chExt cx="1592" cy="728"/>
          </a:xfrm>
        </p:grpSpPr>
        <p:sp>
          <p:nvSpPr>
            <p:cNvPr id="27676" name="AutoShape 28"/>
            <p:cNvSpPr>
              <a:spLocks/>
            </p:cNvSpPr>
            <p:nvPr/>
          </p:nvSpPr>
          <p:spPr bwMode="auto">
            <a:xfrm>
              <a:off x="528" y="0"/>
              <a:ext cx="1064" cy="728"/>
            </a:xfrm>
            <a:prstGeom prst="roundRect">
              <a:avLst>
                <a:gd name="adj" fmla="val 26370"/>
              </a:avLst>
            </a:prstGeom>
            <a:blipFill dpi="0" rotWithShape="0">
              <a:blip r:embed="rId4" cstate="print"/>
              <a:srcRect/>
              <a:tile tx="0" ty="0" sx="100000" sy="100000" flip="none" algn="tl"/>
            </a:blipFill>
            <a:ln w="25400">
              <a:solidFill>
                <a:srgbClr val="910000"/>
              </a:solidFill>
              <a:round/>
              <a:headEnd/>
              <a:tailEnd/>
            </a:ln>
            <a:effectLst>
              <a:outerShdw dist="63500" dir="2700000" algn="ctr" rotWithShape="0">
                <a:schemeClr val="bg2">
                  <a:alpha val="29999"/>
                </a:schemeClr>
              </a:outerShdw>
            </a:effectLst>
          </p:spPr>
          <p:txBody>
            <a:bodyPr lIns="0" tIns="0" rIns="0" bIns="0" anchor="ctr"/>
            <a:lstStyle/>
            <a:p>
              <a:pPr algn="ctr" defTabSz="822325">
                <a:tabLst>
                  <a:tab pos="960438" algn="l"/>
                </a:tabLst>
                <a:defRPr/>
              </a:pPr>
              <a:r>
                <a:rPr lang="en-US" sz="2900">
                  <a:solidFill>
                    <a:srgbClr val="E3F0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Sprint</a:t>
              </a:r>
            </a:p>
            <a:p>
              <a:pPr algn="ctr" defTabSz="822325">
                <a:tabLst>
                  <a:tab pos="960438" algn="l"/>
                </a:tabLst>
                <a:defRPr/>
              </a:pPr>
              <a:r>
                <a:rPr lang="en-US" sz="2900">
                  <a:solidFill>
                    <a:srgbClr val="E3F0FF"/>
                  </a:solidFill>
                  <a:latin typeface="Gill Sans" charset="0"/>
                  <a:ea typeface="ヒラギノ角ゴ Pro W3" charset="-128"/>
                  <a:sym typeface="Gill Sans" charset="0"/>
                </a:rPr>
                <a:t>backlog</a:t>
              </a:r>
            </a:p>
          </p:txBody>
        </p:sp>
        <p:sp>
          <p:nvSpPr>
            <p:cNvPr id="11288" name="Line 29"/>
            <p:cNvSpPr>
              <a:spLocks noChangeShapeType="1"/>
            </p:cNvSpPr>
            <p:nvPr/>
          </p:nvSpPr>
          <p:spPr bwMode="auto">
            <a:xfrm flipH="1">
              <a:off x="0" y="363"/>
              <a:ext cx="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78" name="AutoShape 30"/>
          <p:cNvSpPr>
            <a:spLocks/>
          </p:cNvSpPr>
          <p:nvPr/>
        </p:nvSpPr>
        <p:spPr bwMode="auto">
          <a:xfrm>
            <a:off x="263525" y="3475038"/>
            <a:ext cx="1371600" cy="914400"/>
          </a:xfrm>
          <a:prstGeom prst="roundRect">
            <a:avLst>
              <a:gd name="adj" fmla="val 30000"/>
            </a:avLst>
          </a:prstGeom>
          <a:blipFill dpi="0" rotWithShape="0">
            <a:blip r:embed="rId5" cstate="print"/>
            <a:srcRect/>
            <a:tile tx="0" ty="0" sx="100000" sy="100000" flip="none" algn="tl"/>
          </a:blipFill>
          <a:ln w="25400">
            <a:solidFill>
              <a:srgbClr val="7500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>
                <a:solidFill>
                  <a:srgbClr val="E3F0FF"/>
                </a:solidFill>
                <a:latin typeface="Gill Sans" charset="0"/>
                <a:ea typeface="ヒラギノ角ゴ Pro W3" charset="-128"/>
                <a:sym typeface="Gill Sans" charset="0"/>
              </a:rPr>
              <a:t>Business conditions</a:t>
            </a:r>
          </a:p>
        </p:txBody>
      </p:sp>
      <p:sp>
        <p:nvSpPr>
          <p:cNvPr id="27679" name="AutoShape 31"/>
          <p:cNvSpPr>
            <a:spLocks/>
          </p:cNvSpPr>
          <p:nvPr/>
        </p:nvSpPr>
        <p:spPr bwMode="auto">
          <a:xfrm>
            <a:off x="263525" y="1303338"/>
            <a:ext cx="1371600" cy="914400"/>
          </a:xfrm>
          <a:prstGeom prst="roundRect">
            <a:avLst>
              <a:gd name="adj" fmla="val 30000"/>
            </a:avLst>
          </a:prstGeom>
          <a:blipFill dpi="0" rotWithShape="0">
            <a:blip r:embed="rId5" cstate="print"/>
            <a:srcRect/>
            <a:tile tx="0" ty="0" sx="100000" sy="100000" flip="none" algn="tl"/>
          </a:blipFill>
          <a:ln w="25400">
            <a:solidFill>
              <a:srgbClr val="7500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>
                <a:solidFill>
                  <a:srgbClr val="E3F0FF"/>
                </a:solidFill>
                <a:latin typeface="Gill Sans" charset="0"/>
                <a:ea typeface="ヒラギノ角ゴ Pro W3" charset="-128"/>
                <a:sym typeface="Gill Sans" charset="0"/>
              </a:rPr>
              <a:t>Team capacity</a:t>
            </a:r>
          </a:p>
        </p:txBody>
      </p:sp>
      <p:sp>
        <p:nvSpPr>
          <p:cNvPr id="27680" name="AutoShape 32"/>
          <p:cNvSpPr>
            <a:spLocks/>
          </p:cNvSpPr>
          <p:nvPr/>
        </p:nvSpPr>
        <p:spPr bwMode="auto">
          <a:xfrm>
            <a:off x="263525" y="2389188"/>
            <a:ext cx="1371600" cy="914400"/>
          </a:xfrm>
          <a:prstGeom prst="roundRect">
            <a:avLst>
              <a:gd name="adj" fmla="val 30000"/>
            </a:avLst>
          </a:prstGeom>
          <a:blipFill dpi="0" rotWithShape="0">
            <a:blip r:embed="rId5" cstate="print"/>
            <a:srcRect/>
            <a:tile tx="0" ty="0" sx="100000" sy="100000" flip="none" algn="tl"/>
          </a:blipFill>
          <a:ln w="25400">
            <a:solidFill>
              <a:srgbClr val="7500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>
                <a:solidFill>
                  <a:srgbClr val="E3F0FF"/>
                </a:solidFill>
                <a:latin typeface="Gill Sans" charset="0"/>
                <a:ea typeface="ヒラギノ角ゴ Pro W3" charset="-128"/>
                <a:sym typeface="Gill Sans" charset="0"/>
              </a:rPr>
              <a:t>Product backlog</a:t>
            </a:r>
          </a:p>
        </p:txBody>
      </p:sp>
      <p:sp>
        <p:nvSpPr>
          <p:cNvPr id="27681" name="AutoShape 33"/>
          <p:cNvSpPr>
            <a:spLocks/>
          </p:cNvSpPr>
          <p:nvPr/>
        </p:nvSpPr>
        <p:spPr bwMode="auto">
          <a:xfrm>
            <a:off x="263525" y="5646738"/>
            <a:ext cx="1371600" cy="914400"/>
          </a:xfrm>
          <a:prstGeom prst="roundRect">
            <a:avLst>
              <a:gd name="adj" fmla="val 30000"/>
            </a:avLst>
          </a:prstGeom>
          <a:blipFill dpi="0" rotWithShape="0">
            <a:blip r:embed="rId5" cstate="print"/>
            <a:srcRect/>
            <a:tile tx="0" ty="0" sx="100000" sy="100000" flip="none" algn="tl"/>
          </a:blipFill>
          <a:ln w="25400">
            <a:solidFill>
              <a:srgbClr val="7500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>
                <a:solidFill>
                  <a:srgbClr val="E3F0FF"/>
                </a:solidFill>
                <a:latin typeface="Gill Sans" charset="0"/>
                <a:ea typeface="ヒラギノ角ゴ Pro W3" charset="-128"/>
                <a:sym typeface="Gill Sans" charset="0"/>
              </a:rPr>
              <a:t>Technology</a:t>
            </a:r>
          </a:p>
        </p:txBody>
      </p:sp>
      <p:sp>
        <p:nvSpPr>
          <p:cNvPr id="27682" name="AutoShape 34"/>
          <p:cNvSpPr>
            <a:spLocks/>
          </p:cNvSpPr>
          <p:nvPr/>
        </p:nvSpPr>
        <p:spPr bwMode="auto">
          <a:xfrm>
            <a:off x="263525" y="4560888"/>
            <a:ext cx="1371600" cy="914400"/>
          </a:xfrm>
          <a:prstGeom prst="roundRect">
            <a:avLst>
              <a:gd name="adj" fmla="val 30000"/>
            </a:avLst>
          </a:prstGeom>
          <a:blipFill dpi="0" rotWithShape="0">
            <a:blip r:embed="rId5" cstate="print"/>
            <a:srcRect/>
            <a:tile tx="0" ty="0" sx="100000" sy="100000" flip="none" algn="tl"/>
          </a:blipFill>
          <a:ln w="25400">
            <a:solidFill>
              <a:srgbClr val="750083"/>
            </a:solidFill>
            <a:round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>
                <a:solidFill>
                  <a:srgbClr val="E3F0FF"/>
                </a:solidFill>
                <a:latin typeface="Gill Sans" charset="0"/>
                <a:ea typeface="ヒラギノ角ゴ Pro W3" charset="-128"/>
                <a:sym typeface="Gill Sans" charset="0"/>
              </a:rPr>
              <a:t>Current product</a:t>
            </a:r>
          </a:p>
        </p:txBody>
      </p:sp>
      <p:sp>
        <p:nvSpPr>
          <p:cNvPr id="11283" name="Line 35"/>
          <p:cNvSpPr>
            <a:spLocks noChangeShapeType="1"/>
          </p:cNvSpPr>
          <p:nvPr/>
        </p:nvSpPr>
        <p:spPr bwMode="auto">
          <a:xfrm flipH="1">
            <a:off x="1628775" y="2836863"/>
            <a:ext cx="588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Line 36"/>
          <p:cNvSpPr>
            <a:spLocks noChangeShapeType="1"/>
          </p:cNvSpPr>
          <p:nvPr/>
        </p:nvSpPr>
        <p:spPr bwMode="auto">
          <a:xfrm flipH="1">
            <a:off x="1628775" y="3922713"/>
            <a:ext cx="588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5" name="Line 37"/>
          <p:cNvSpPr>
            <a:spLocks noChangeShapeType="1"/>
          </p:cNvSpPr>
          <p:nvPr/>
        </p:nvSpPr>
        <p:spPr bwMode="auto">
          <a:xfrm flipH="1">
            <a:off x="1628775" y="5008563"/>
            <a:ext cx="588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Line 38"/>
          <p:cNvSpPr>
            <a:spLocks noChangeShapeType="1"/>
          </p:cNvSpPr>
          <p:nvPr/>
        </p:nvSpPr>
        <p:spPr bwMode="auto">
          <a:xfrm flipH="1">
            <a:off x="1628775" y="6094413"/>
            <a:ext cx="588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 idx="4294967295"/>
          </p:nvPr>
        </p:nvSpPr>
        <p:spPr/>
        <p:txBody>
          <a:bodyPr lIns="34290" tIns="34290" rIns="34290" bIns="34290"/>
          <a:lstStyle/>
          <a:p>
            <a:pPr eaLnBrk="1" hangingPunct="1"/>
            <a:r>
              <a:rPr lang="en-US"/>
              <a:t>Daily Scrum Meeting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439863"/>
            <a:ext cx="8839200" cy="4926012"/>
          </a:xfrm>
        </p:spPr>
        <p:txBody>
          <a:bodyPr lIns="34290" tIns="34290" rIns="34290" bIns="34290"/>
          <a:lstStyle/>
          <a:p>
            <a:pPr marL="698500" indent="-444500" eaLnBrk="1" hangingPunct="1"/>
            <a:r>
              <a:rPr lang="en-US"/>
              <a:t>Parameters</a:t>
            </a:r>
          </a:p>
          <a:p>
            <a:pPr marL="1041400" lvl="1" indent="-444500" eaLnBrk="1" hangingPunct="1"/>
            <a:r>
              <a:rPr lang="en-US"/>
              <a:t>Daily, ~15 minutes, Stand-up</a:t>
            </a:r>
          </a:p>
          <a:p>
            <a:pPr marL="1041400" lvl="1" indent="-444500" eaLnBrk="1" hangingPunct="1"/>
            <a:r>
              <a:rPr lang="en-US"/>
              <a:t>Anyone late pays a $1 fee</a:t>
            </a:r>
          </a:p>
          <a:p>
            <a:pPr marL="1041400" lvl="1" indent="-444500" eaLnBrk="1" hangingPunct="1"/>
            <a:endParaRPr lang="en-US" sz="1200"/>
          </a:p>
          <a:p>
            <a:pPr marL="698500" indent="-444500" eaLnBrk="1" hangingPunct="1"/>
            <a:r>
              <a:rPr lang="en-US"/>
              <a:t>Not for problem solving</a:t>
            </a:r>
          </a:p>
          <a:p>
            <a:pPr marL="1041400" lvl="1" indent="-444500" eaLnBrk="1" hangingPunct="1"/>
            <a:r>
              <a:rPr lang="en-US"/>
              <a:t>Whole world is invited</a:t>
            </a:r>
          </a:p>
          <a:p>
            <a:pPr marL="1041400" lvl="1" indent="-444500" eaLnBrk="1" hangingPunct="1"/>
            <a:r>
              <a:rPr lang="en-US"/>
              <a:t>Only team members, Scrum Master, product owner, can talk</a:t>
            </a:r>
            <a:endParaRPr lang="en-US" sz="1200"/>
          </a:p>
          <a:p>
            <a:pPr marL="1041400" lvl="1" indent="-444500" eaLnBrk="1" hangingPunct="1"/>
            <a:r>
              <a:rPr lang="en-US"/>
              <a:t>Helps avoid other unnecessary meetings</a:t>
            </a:r>
          </a:p>
          <a:p>
            <a:pPr marL="1041400" lvl="1" indent="-444500" eaLnBrk="1" hangingPunct="1"/>
            <a:endParaRPr lang="en-US" sz="1200"/>
          </a:p>
          <a:p>
            <a:pPr marL="698500" indent="-444500" eaLnBrk="1" hangingPunct="1"/>
            <a:r>
              <a:rPr lang="en-US" sz="2200"/>
              <a:t>Three questions answered by each team member:</a:t>
            </a:r>
          </a:p>
          <a:p>
            <a:pPr marL="1041400" lvl="1" indent="-444500" eaLnBrk="1" hangingPunct="1">
              <a:buFont typeface="Wingdings" pitchFamily="2" charset="2"/>
              <a:buAutoNum type="arabicPeriod"/>
            </a:pPr>
            <a:r>
              <a:rPr lang="en-US" sz="2000"/>
              <a:t>What did you do yesterday?</a:t>
            </a:r>
          </a:p>
          <a:p>
            <a:pPr marL="1041400" lvl="1" indent="-444500" eaLnBrk="1" hangingPunct="1">
              <a:buFont typeface="Wingdings" pitchFamily="2" charset="2"/>
              <a:buAutoNum type="arabicPeriod"/>
            </a:pPr>
            <a:r>
              <a:rPr lang="en-US" sz="2000"/>
              <a:t>What will you do today?</a:t>
            </a:r>
          </a:p>
          <a:p>
            <a:pPr marL="1041400" lvl="1" indent="-444500" eaLnBrk="1" hangingPunct="1">
              <a:buFont typeface="Wingdings" pitchFamily="2" charset="2"/>
              <a:buAutoNum type="arabicPeriod"/>
            </a:pPr>
            <a:r>
              <a:rPr lang="en-US" sz="2000"/>
              <a:t>What obstacles are in your way?</a:t>
            </a:r>
            <a:r>
              <a:rPr lang="en-GB" sz="2000"/>
              <a:t> </a:t>
            </a:r>
            <a:endParaRPr lang="en-US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1247775"/>
            <a:ext cx="2514600" cy="188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Scrum's Artifacts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/>
              <a:t>Scrum has remarkably few artifacts</a:t>
            </a:r>
          </a:p>
          <a:p>
            <a:pPr lvl="1" eaLnBrk="1" hangingPunct="1"/>
            <a:r>
              <a:rPr lang="en-GB"/>
              <a:t>Product Backlog</a:t>
            </a:r>
          </a:p>
          <a:p>
            <a:pPr lvl="1" eaLnBrk="1" hangingPunct="1"/>
            <a:r>
              <a:rPr lang="en-GB"/>
              <a:t>Sprint Backlog</a:t>
            </a:r>
          </a:p>
          <a:p>
            <a:pPr lvl="1" eaLnBrk="1" hangingPunct="1"/>
            <a:r>
              <a:rPr lang="en-GB"/>
              <a:t>Burndown Charts</a:t>
            </a:r>
          </a:p>
          <a:p>
            <a:pPr lvl="1" eaLnBrk="1" hangingPunct="1"/>
            <a:endParaRPr lang="en-GB"/>
          </a:p>
          <a:p>
            <a:pPr eaLnBrk="1" hangingPunct="1"/>
            <a:r>
              <a:rPr lang="en-GB"/>
              <a:t>Can be managed using just an Excel spreadsheet</a:t>
            </a:r>
          </a:p>
          <a:p>
            <a:pPr lvl="1" eaLnBrk="1" hangingPunct="1"/>
            <a:r>
              <a:rPr lang="en-GB"/>
              <a:t>More advanced / complicated tools exist:</a:t>
            </a:r>
          </a:p>
          <a:p>
            <a:pPr lvl="2" eaLnBrk="1" hangingPunct="1"/>
            <a:r>
              <a:rPr lang="en-GB"/>
              <a:t>Expensive</a:t>
            </a:r>
          </a:p>
          <a:p>
            <a:pPr lvl="2" eaLnBrk="1" hangingPunct="1"/>
            <a:r>
              <a:rPr lang="en-GB"/>
              <a:t>Web-based – no good for Scrum Master/project manager who travels</a:t>
            </a:r>
          </a:p>
          <a:p>
            <a:pPr lvl="2" eaLnBrk="1" hangingPunct="1"/>
            <a:r>
              <a:rPr lang="en-GB"/>
              <a:t>Still under development</a:t>
            </a:r>
          </a:p>
          <a:p>
            <a:pPr lvl="1" eaLnBrk="1" hangingPunct="1"/>
            <a:endParaRPr lang="en-GB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Product Backlog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sz="2000"/>
              <a:t>The requirements</a:t>
            </a:r>
          </a:p>
          <a:p>
            <a:pPr eaLnBrk="1" hangingPunct="1">
              <a:spcBef>
                <a:spcPct val="100000"/>
              </a:spcBef>
            </a:pPr>
            <a:r>
              <a:rPr lang="en-US" sz="2000"/>
              <a:t>A list of all desired work on project</a:t>
            </a:r>
          </a:p>
          <a:p>
            <a:pPr eaLnBrk="1" hangingPunct="1">
              <a:spcBef>
                <a:spcPct val="100000"/>
              </a:spcBef>
            </a:pPr>
            <a:r>
              <a:rPr lang="en-US" sz="2000"/>
              <a:t>Ideally expressed as a list of user stories along with "story points", such that each item has value to users or customers of the product </a:t>
            </a:r>
          </a:p>
          <a:p>
            <a:pPr eaLnBrk="1" hangingPunct="1">
              <a:spcBef>
                <a:spcPct val="100000"/>
              </a:spcBef>
            </a:pPr>
            <a:r>
              <a:rPr lang="en-US" sz="2000"/>
              <a:t>Prioritized by the product owner</a:t>
            </a:r>
          </a:p>
          <a:p>
            <a:pPr eaLnBrk="1" hangingPunct="1">
              <a:spcBef>
                <a:spcPct val="100000"/>
              </a:spcBef>
            </a:pPr>
            <a:r>
              <a:rPr lang="en-US" sz="2000"/>
              <a:t>Reprioritized at start of each sprint</a:t>
            </a:r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2" cstate="print"/>
          <a:srcRect b="6540"/>
          <a:stretch>
            <a:fillRect/>
          </a:stretch>
        </p:blipFill>
        <p:spPr bwMode="auto">
          <a:xfrm>
            <a:off x="217488" y="1676400"/>
            <a:ext cx="4046537" cy="156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4"/>
          <p:cNvSpPr>
            <a:spLocks/>
          </p:cNvSpPr>
          <p:nvPr/>
        </p:nvSpPr>
        <p:spPr bwMode="auto">
          <a:xfrm>
            <a:off x="1428750" y="4037013"/>
            <a:ext cx="2525713" cy="914400"/>
          </a:xfrm>
          <a:prstGeom prst="rect">
            <a:avLst/>
          </a:prstGeom>
          <a:blipFill dpi="0" rotWithShape="0">
            <a:blip r:embed="rId3" cstate="print"/>
            <a:srcRect/>
            <a:tile tx="0" ty="0" sx="100000" sy="100000" flip="none" algn="tl"/>
          </a:blipFill>
          <a:ln w="25400">
            <a:solidFill>
              <a:srgbClr val="003C83"/>
            </a:solidFill>
            <a:miter lim="800000"/>
            <a:headEnd/>
            <a:tailEnd/>
          </a:ln>
          <a:effectLst>
            <a:outerShdw dist="63500" dir="2700000" algn="ctr" rotWithShape="0">
              <a:schemeClr val="bg2">
                <a:alpha val="29999"/>
              </a:schemeClr>
            </a:outerShdw>
          </a:effectLst>
        </p:spPr>
        <p:txBody>
          <a:bodyPr lIns="0" tIns="0" rIns="0" bIns="0" anchor="ctr"/>
          <a:lstStyle/>
          <a:p>
            <a:pPr algn="ctr" defTabSz="822325">
              <a:tabLst>
                <a:tab pos="960438" algn="l"/>
              </a:tabLst>
              <a:defRPr/>
            </a:pPr>
            <a:r>
              <a:rPr lang="en-US" sz="2400">
                <a:latin typeface="Gill Sans" charset="0"/>
                <a:ea typeface="ヒラギノ角ゴ Pro W3" charset="-128"/>
                <a:sym typeface="Gill Sans" charset="0"/>
              </a:rPr>
              <a:t>This is the</a:t>
            </a:r>
            <a:br>
              <a:rPr lang="en-US" sz="2400">
                <a:latin typeface="Gill Sans" charset="0"/>
                <a:ea typeface="ヒラギノ角ゴ Pro W3" charset="-128"/>
                <a:sym typeface="Gill Sans" charset="0"/>
              </a:rPr>
            </a:br>
            <a:r>
              <a:rPr lang="en-US" sz="2400">
                <a:latin typeface="Gill Sans" charset="0"/>
                <a:ea typeface="ヒラギノ角ゴ Pro W3" charset="-128"/>
                <a:sym typeface="Gill Sans" charset="0"/>
              </a:rPr>
              <a:t>product backlog</a:t>
            </a: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>
            <a:off x="982663" y="2824163"/>
            <a:ext cx="387350" cy="1371600"/>
          </a:xfrm>
          <a:prstGeom prst="line">
            <a:avLst/>
          </a:prstGeom>
          <a:noFill/>
          <a:ln w="38100">
            <a:solidFill>
              <a:srgbClr val="033F7F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Stories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Instead of Use Cases, Agile project owners do "user stories"</a:t>
            </a:r>
          </a:p>
          <a:p>
            <a:pPr lvl="1" eaLnBrk="1" hangingPunct="1"/>
            <a:r>
              <a:rPr lang="en-US" b="1" dirty="0"/>
              <a:t>Who </a:t>
            </a:r>
            <a:r>
              <a:rPr lang="en-US" dirty="0"/>
              <a:t>(user role) – Is this a customer, employee, admin, etc.?</a:t>
            </a:r>
          </a:p>
          <a:p>
            <a:pPr lvl="1" eaLnBrk="1" hangingPunct="1"/>
            <a:r>
              <a:rPr lang="en-US" b="1" dirty="0"/>
              <a:t>What</a:t>
            </a:r>
            <a:r>
              <a:rPr lang="en-US" dirty="0"/>
              <a:t> (goal) – What functionality must be achieved/developed? </a:t>
            </a:r>
          </a:p>
          <a:p>
            <a:pPr lvl="1" eaLnBrk="1" hangingPunct="1"/>
            <a:r>
              <a:rPr lang="en-US" b="1" dirty="0"/>
              <a:t>Why</a:t>
            </a:r>
            <a:r>
              <a:rPr lang="en-US" dirty="0"/>
              <a:t> (reason) – Why does user want to accomplish this goal?</a:t>
            </a:r>
          </a:p>
          <a:p>
            <a:pPr eaLnBrk="1" hangingPunct="1">
              <a:buFontTx/>
              <a:buNone/>
            </a:pPr>
            <a:endParaRPr lang="en-US" sz="1200" dirty="0"/>
          </a:p>
          <a:p>
            <a:pPr algn="ctr" eaLnBrk="1" hangingPunct="1">
              <a:buFontTx/>
              <a:buNone/>
            </a:pPr>
            <a:r>
              <a:rPr lang="en-US" dirty="0"/>
              <a:t>As a </a:t>
            </a:r>
            <a:r>
              <a:rPr lang="en-US" dirty="0">
                <a:solidFill>
                  <a:srgbClr val="800000"/>
                </a:solidFill>
              </a:rPr>
              <a:t>[user role]</a:t>
            </a:r>
            <a:r>
              <a:rPr lang="en-US" dirty="0"/>
              <a:t>, I want to </a:t>
            </a:r>
            <a:r>
              <a:rPr lang="en-US" dirty="0">
                <a:solidFill>
                  <a:srgbClr val="800000"/>
                </a:solidFill>
              </a:rPr>
              <a:t>[goal]</a:t>
            </a:r>
            <a:r>
              <a:rPr lang="en-US" dirty="0"/>
              <a:t>, so I can </a:t>
            </a:r>
            <a:r>
              <a:rPr lang="en-US" dirty="0">
                <a:solidFill>
                  <a:srgbClr val="800000"/>
                </a:solidFill>
              </a:rPr>
              <a:t>[reason]</a:t>
            </a:r>
            <a:r>
              <a:rPr lang="en-US" dirty="0"/>
              <a:t>.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"As a user, I want to log in, so I can access subscriber content."</a:t>
            </a:r>
          </a:p>
          <a:p>
            <a:pPr lvl="1"/>
            <a:endParaRPr lang="en-US" dirty="0"/>
          </a:p>
          <a:p>
            <a:r>
              <a:rPr lang="en-US" b="1" dirty="0"/>
              <a:t>story points</a:t>
            </a:r>
            <a:r>
              <a:rPr lang="en-US" dirty="0"/>
              <a:t>: Rating of effort needed to implement this story</a:t>
            </a:r>
          </a:p>
          <a:p>
            <a:pPr lvl="1"/>
            <a:r>
              <a:rPr lang="en-US" dirty="0"/>
              <a:t>common scales: 1-10, shirt sizes (XS, S, M, L, XL),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Sample Product Backlog 2</a:t>
            </a:r>
            <a:endParaRPr lang="en-GB"/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228725"/>
            <a:ext cx="777557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Sprint Backlog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Individuals sign up for work of their own choosing</a:t>
            </a:r>
          </a:p>
          <a:p>
            <a:pPr lvl="1" eaLnBrk="1" hangingPunct="1"/>
            <a:r>
              <a:rPr lang="en-US"/>
              <a:t>Work is never assigned</a:t>
            </a:r>
          </a:p>
          <a:p>
            <a:pPr eaLnBrk="1" hangingPunct="1"/>
            <a:r>
              <a:rPr lang="en-US"/>
              <a:t>Estimated work remaining is updated daily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Any team member can add, delete change sprint backlog</a:t>
            </a:r>
          </a:p>
          <a:p>
            <a:pPr eaLnBrk="1" hangingPunct="1"/>
            <a:r>
              <a:rPr lang="en-US"/>
              <a:t>Work for the sprint emerges</a:t>
            </a:r>
          </a:p>
          <a:p>
            <a:pPr eaLnBrk="1" hangingPunct="1"/>
            <a:r>
              <a:rPr lang="en-US"/>
              <a:t>If work is unclear, define a sprint backlog item with a larger amount of time and break it down later</a:t>
            </a:r>
          </a:p>
          <a:p>
            <a:pPr eaLnBrk="1" hangingPunct="1"/>
            <a:r>
              <a:rPr lang="en-US"/>
              <a:t>Update work remaining as more becomes known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GB"/>
              <a:t>Sample Sprint Backlog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158875"/>
            <a:ext cx="8856662" cy="265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3956050"/>
            <a:ext cx="8848725" cy="268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4750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Scrum Meeting: Details</a:t>
            </a:r>
            <a:endParaRPr lang="en-US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8077200" cy="4800600"/>
          </a:xfrm>
        </p:spPr>
        <p:txBody>
          <a:bodyPr>
            <a:noAutofit/>
          </a:bodyPr>
          <a:lstStyle/>
          <a:p>
            <a:r>
              <a:rPr lang="en-US" sz="2400" dirty="0"/>
              <a:t>The Scrum Meeting—or scrum—is the heartbeat of Scrum and the project. Each workday at the same time and place, hold a meeting with the team members </a:t>
            </a:r>
            <a:r>
              <a:rPr lang="en-US" sz="2400" i="1" dirty="0"/>
              <a:t>standing </a:t>
            </a:r>
            <a:r>
              <a:rPr lang="en-US" sz="2400" dirty="0"/>
              <a:t>in a circle, at which time the same special questions are answered by each member:</a:t>
            </a:r>
          </a:p>
          <a:p>
            <a:pPr>
              <a:buNone/>
            </a:pPr>
            <a:r>
              <a:rPr lang="en-US" sz="2400" b="1" dirty="0"/>
              <a:t>1. </a:t>
            </a:r>
            <a:r>
              <a:rPr lang="en-US" sz="2400" dirty="0"/>
              <a:t>What have you done since the last Scrum?</a:t>
            </a:r>
          </a:p>
          <a:p>
            <a:pPr>
              <a:buNone/>
            </a:pPr>
            <a:r>
              <a:rPr lang="en-US" sz="2400" b="1" dirty="0"/>
              <a:t>2. </a:t>
            </a:r>
            <a:r>
              <a:rPr lang="en-US" sz="2400" dirty="0"/>
              <a:t>What will you do between now and the next Scrum?</a:t>
            </a:r>
          </a:p>
          <a:p>
            <a:pPr>
              <a:buNone/>
            </a:pPr>
            <a:r>
              <a:rPr lang="en-US" sz="2400" b="1" dirty="0"/>
              <a:t>3. </a:t>
            </a:r>
            <a:r>
              <a:rPr lang="en-US" sz="2400" dirty="0"/>
              <a:t>What is getting in the way (blocks) of meeting the iteration goals?</a:t>
            </a:r>
          </a:p>
          <a:p>
            <a:pPr>
              <a:buNone/>
            </a:pPr>
            <a:r>
              <a:rPr lang="en-US" sz="2400" b="1" dirty="0"/>
              <a:t>4. </a:t>
            </a:r>
            <a:r>
              <a:rPr lang="en-US" sz="2400" dirty="0"/>
              <a:t>Any tasks to add to the Sprint Backlog</a:t>
            </a:r>
          </a:p>
          <a:p>
            <a:pPr>
              <a:buNone/>
            </a:pPr>
            <a:r>
              <a:rPr lang="en-US" sz="2400" b="1" dirty="0"/>
              <a:t>5. </a:t>
            </a:r>
            <a:r>
              <a:rPr lang="en-US" sz="2400" dirty="0"/>
              <a:t>The last question provides an efficient forum for a continuously improving and learning group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200" dirty="0">
              <a:latin typeface="Palatino" pitchFamily="-12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fld id="{9149B8E4-C25E-4212-A529-916362F2573F}" type="slidenum">
              <a:rPr lang="en-US" altLang="en-US" sz="750">
                <a:solidFill>
                  <a:prstClr val="black"/>
                </a:solidFill>
                <a:latin typeface="Helvetica" panose="020B0604020202020204" pitchFamily="34" charset="0"/>
              </a:rPr>
              <a:pPr defTabSz="685800"/>
              <a:t>18</a:t>
            </a:fld>
            <a:endParaRPr lang="en-US" altLang="en-US" sz="750">
              <a:solidFill>
                <a:prstClr val="black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4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4750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Work products</a:t>
            </a:r>
            <a:endParaRPr lang="en-US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8077200" cy="1981200"/>
          </a:xfrm>
        </p:spPr>
        <p:txBody>
          <a:bodyPr>
            <a:noAutofit/>
          </a:bodyPr>
          <a:lstStyle/>
          <a:p>
            <a:r>
              <a:rPr lang="en-US" sz="2200" dirty="0"/>
              <a:t>In addition to the work products illustrated , Scrum allows any other work products of value to the project.</a:t>
            </a:r>
            <a:r>
              <a:rPr lang="en-US" sz="2200" b="1" dirty="0"/>
              <a:t> </a:t>
            </a:r>
            <a:endParaRPr lang="en-US" sz="2200" dirty="0"/>
          </a:p>
          <a:p>
            <a:r>
              <a:rPr lang="en-US" sz="2200" b="1" dirty="0"/>
              <a:t>Product Backlog</a:t>
            </a:r>
            <a:endParaRPr lang="en-US" sz="2200" dirty="0"/>
          </a:p>
          <a:p>
            <a:r>
              <a:rPr lang="en-US" sz="2200" b="1" dirty="0"/>
              <a:t>Sprint Backlog</a:t>
            </a:r>
            <a:endParaRPr lang="en-US" sz="2200" dirty="0"/>
          </a:p>
          <a:p>
            <a:r>
              <a:rPr lang="en-US" sz="2200" b="1" dirty="0"/>
              <a:t>Sprint Backlog Graph</a:t>
            </a:r>
            <a:endParaRPr lang="en-US" sz="2200" dirty="0"/>
          </a:p>
          <a:p>
            <a:pPr algn="just" eaLnBrk="1" hangingPunct="1">
              <a:lnSpc>
                <a:spcPct val="90000"/>
              </a:lnSpc>
            </a:pPr>
            <a:endParaRPr lang="en-US" altLang="en-US" sz="2200" dirty="0">
              <a:latin typeface="Palatino" pitchFamily="-12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fld id="{9149B8E4-C25E-4212-A529-916362F2573F}" type="slidenum">
              <a:rPr lang="en-US" altLang="en-US" sz="750">
                <a:solidFill>
                  <a:prstClr val="black"/>
                </a:solidFill>
                <a:latin typeface="Helvetica" panose="020B0604020202020204" pitchFamily="34" charset="0"/>
              </a:rPr>
              <a:pPr defTabSz="685800"/>
              <a:t>19</a:t>
            </a:fld>
            <a:endParaRPr lang="en-US" altLang="en-US" sz="750">
              <a:solidFill>
                <a:prstClr val="black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895600"/>
            <a:ext cx="8305800" cy="47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75000" lnSpcReduction="20000"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Other Practices and Values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3352800"/>
            <a:ext cx="8077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altLang="en-US" sz="2200" b="1" dirty="0">
                <a:latin typeface="+mj-lt"/>
              </a:rPr>
              <a:t>Workers daily update the Sprint Backlog</a:t>
            </a:r>
          </a:p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altLang="en-US" sz="2200" b="1" dirty="0">
                <a:latin typeface="+mj-lt"/>
              </a:rPr>
              <a:t>No PERT charts allowed</a:t>
            </a:r>
          </a:p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altLang="en-US" sz="2200" b="1" dirty="0">
                <a:latin typeface="+mj-lt"/>
              </a:rPr>
              <a:t>Scrum Master reinforces vision</a:t>
            </a:r>
          </a:p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altLang="en-US" sz="2200" b="1" dirty="0">
                <a:latin typeface="+mj-lt"/>
              </a:rPr>
              <a:t>Replace ineffective Scrum Master</a:t>
            </a:r>
          </a:p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C00000"/>
                </a:solidFill>
                <a:latin typeface="+mj-lt"/>
              </a:rPr>
              <a:t>VALUES:  </a:t>
            </a:r>
            <a:r>
              <a:rPr lang="en-US" altLang="en-US" sz="2200" b="1" dirty="0">
                <a:latin typeface="+mj-lt"/>
              </a:rPr>
              <a:t>Commitment,  Focus, Openness, Respect, Courage</a:t>
            </a:r>
          </a:p>
          <a:p>
            <a:pPr marL="22860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</a:pPr>
            <a:endParaRPr kumimoji="0" lang="en-US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446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7886700" cy="373380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dirty="0"/>
              <a:t>Define SCRUM.</a:t>
            </a:r>
          </a:p>
          <a:p>
            <a:pPr>
              <a:buNone/>
            </a:pPr>
            <a:r>
              <a:rPr lang="en-US" sz="2400" dirty="0"/>
              <a:t>2.   Explain Method Overview of scrum.</a:t>
            </a:r>
          </a:p>
          <a:p>
            <a:pPr marL="457200" indent="-457200">
              <a:buAutoNum type="arabicPeriod" startAt="3"/>
            </a:pPr>
            <a:r>
              <a:rPr lang="en-US" sz="2400" dirty="0"/>
              <a:t>Sketch and explain Lifecycle of scrum.</a:t>
            </a:r>
            <a:endParaRPr lang="en-US" altLang="en-US" sz="2400" dirty="0"/>
          </a:p>
          <a:p>
            <a:pPr marL="457200" indent="-457200">
              <a:buAutoNum type="arabicPeriod" startAt="3"/>
            </a:pPr>
            <a:r>
              <a:rPr lang="en-US" sz="2400" dirty="0"/>
              <a:t>Explain </a:t>
            </a:r>
            <a:r>
              <a:rPr lang="en-US" sz="2400" dirty="0" err="1"/>
              <a:t>Workproducts</a:t>
            </a:r>
            <a:r>
              <a:rPr lang="en-US" sz="2400" dirty="0"/>
              <a:t>, Roles, and Practices</a:t>
            </a:r>
            <a:r>
              <a:rPr lang="en-US" altLang="en-US" sz="2400" dirty="0"/>
              <a:t>.</a:t>
            </a:r>
          </a:p>
          <a:p>
            <a:pPr marL="457200" indent="-457200">
              <a:buAutoNum type="arabicPeriod" startAt="3"/>
            </a:pPr>
            <a:r>
              <a:rPr lang="en-US" altLang="en-US" sz="2400" dirty="0"/>
              <a:t>Advantages of Scrum Meeting.</a:t>
            </a:r>
          </a:p>
          <a:p>
            <a:pPr marL="457200" indent="-457200">
              <a:buAutoNum type="arabicPeriod" startAt="3"/>
            </a:pPr>
            <a:r>
              <a:rPr lang="en-US" altLang="en-US" sz="2400" dirty="0"/>
              <a:t>List out the values of </a:t>
            </a:r>
            <a:r>
              <a:rPr lang="en-US" altLang="en-US" sz="2400"/>
              <a:t>scrum.</a:t>
            </a:r>
            <a:endParaRPr lang="en-US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606</TotalTime>
  <Words>1007</Words>
  <Application>Microsoft Office PowerPoint</Application>
  <PresentationFormat>On-screen Show (4:3)</PresentationFormat>
  <Paragraphs>181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Gill Sans</vt:lpstr>
      <vt:lpstr>Helvetica</vt:lpstr>
      <vt:lpstr>Palatino</vt:lpstr>
      <vt:lpstr>Times New Roman</vt:lpstr>
      <vt:lpstr>Wingdings</vt:lpstr>
      <vt:lpstr>Theme1</vt:lpstr>
      <vt:lpstr>PowerPoint Presentation</vt:lpstr>
      <vt:lpstr>SCRUM</vt:lpstr>
      <vt:lpstr>Some key practices include</vt:lpstr>
      <vt:lpstr>What is Scrum?</vt:lpstr>
      <vt:lpstr>Scrum at a Glance</vt:lpstr>
      <vt:lpstr>Sequential vs. Overlap</vt:lpstr>
      <vt:lpstr>Scrum Framework</vt:lpstr>
      <vt:lpstr>Scrum Roles</vt:lpstr>
      <vt:lpstr>Sprint Planning Mtg.</vt:lpstr>
      <vt:lpstr>Daily Scrum Meeting</vt:lpstr>
      <vt:lpstr>Scrum's Artifacts</vt:lpstr>
      <vt:lpstr>Product Backlog</vt:lpstr>
      <vt:lpstr>User Stories</vt:lpstr>
      <vt:lpstr>PowerPoint Presentation</vt:lpstr>
      <vt:lpstr>Sample Product Backlog 2</vt:lpstr>
      <vt:lpstr>Sprint Backlog</vt:lpstr>
      <vt:lpstr>Sample Sprint Backlog</vt:lpstr>
      <vt:lpstr>The Scrum Meeting: Details</vt:lpstr>
      <vt:lpstr>Work products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Software</dc:title>
  <dc:creator>HP</dc:creator>
  <cp:lastModifiedBy>106263</cp:lastModifiedBy>
  <cp:revision>39</cp:revision>
  <dcterms:created xsi:type="dcterms:W3CDTF">2006-08-16T00:00:00Z</dcterms:created>
  <dcterms:modified xsi:type="dcterms:W3CDTF">2025-08-05T11:18:36Z</dcterms:modified>
</cp:coreProperties>
</file>