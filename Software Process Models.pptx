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47"/>
  </p:notesMasterIdLst>
  <p:handoutMasterIdLst>
    <p:handoutMasterId r:id="rId48"/>
  </p:handoutMasterIdLst>
  <p:sldIdLst>
    <p:sldId id="256" r:id="rId2"/>
    <p:sldId id="314" r:id="rId3"/>
    <p:sldId id="257" r:id="rId4"/>
    <p:sldId id="288" r:id="rId5"/>
    <p:sldId id="259" r:id="rId6"/>
    <p:sldId id="290" r:id="rId7"/>
    <p:sldId id="289" r:id="rId8"/>
    <p:sldId id="261" r:id="rId9"/>
    <p:sldId id="315" r:id="rId10"/>
    <p:sldId id="316" r:id="rId11"/>
    <p:sldId id="317" r:id="rId12"/>
    <p:sldId id="292" r:id="rId13"/>
    <p:sldId id="291" r:id="rId14"/>
    <p:sldId id="263" r:id="rId15"/>
    <p:sldId id="293" r:id="rId16"/>
    <p:sldId id="294" r:id="rId17"/>
    <p:sldId id="298" r:id="rId18"/>
    <p:sldId id="297" r:id="rId19"/>
    <p:sldId id="269" r:id="rId20"/>
    <p:sldId id="270" r:id="rId21"/>
    <p:sldId id="299" r:id="rId22"/>
    <p:sldId id="300" r:id="rId23"/>
    <p:sldId id="271" r:id="rId24"/>
    <p:sldId id="307" r:id="rId25"/>
    <p:sldId id="301" r:id="rId26"/>
    <p:sldId id="302" r:id="rId27"/>
    <p:sldId id="303" r:id="rId28"/>
    <p:sldId id="304" r:id="rId29"/>
    <p:sldId id="273" r:id="rId30"/>
    <p:sldId id="274" r:id="rId31"/>
    <p:sldId id="275" r:id="rId32"/>
    <p:sldId id="276" r:id="rId33"/>
    <p:sldId id="305" r:id="rId34"/>
    <p:sldId id="306" r:id="rId35"/>
    <p:sldId id="280" r:id="rId36"/>
    <p:sldId id="308" r:id="rId37"/>
    <p:sldId id="281" r:id="rId38"/>
    <p:sldId id="282" r:id="rId39"/>
    <p:sldId id="284" r:id="rId40"/>
    <p:sldId id="309" r:id="rId41"/>
    <p:sldId id="310" r:id="rId42"/>
    <p:sldId id="311" r:id="rId43"/>
    <p:sldId id="312" r:id="rId44"/>
    <p:sldId id="287" r:id="rId45"/>
    <p:sldId id="313" r:id="rId4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15" autoAdjust="0"/>
  </p:normalViewPr>
  <p:slideViewPr>
    <p:cSldViewPr>
      <p:cViewPr varScale="1">
        <p:scale>
          <a:sx n="61" d="100"/>
          <a:sy n="61" d="100"/>
        </p:scale>
        <p:origin x="1440" y="44"/>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D328AA-19BF-56EF-99E8-D48A205C21A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GB"/>
          </a:p>
        </p:txBody>
      </p:sp>
      <p:sp>
        <p:nvSpPr>
          <p:cNvPr id="3" name="Date Placeholder 2">
            <a:extLst>
              <a:ext uri="{FF2B5EF4-FFF2-40B4-BE49-F238E27FC236}">
                <a16:creationId xmlns:a16="http://schemas.microsoft.com/office/drawing/2014/main" id="{02744359-6229-D763-F8B9-8A5CC2F75901}"/>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E11627E3-C58C-410F-BE09-3DCDFF8D477A}" type="datetimeFigureOut">
              <a:rPr lang="en-GB"/>
              <a:pPr>
                <a:defRPr/>
              </a:pPr>
              <a:t>05/08/2025</a:t>
            </a:fld>
            <a:endParaRPr lang="en-GB"/>
          </a:p>
        </p:txBody>
      </p:sp>
      <p:sp>
        <p:nvSpPr>
          <p:cNvPr id="4" name="Footer Placeholder 3">
            <a:extLst>
              <a:ext uri="{FF2B5EF4-FFF2-40B4-BE49-F238E27FC236}">
                <a16:creationId xmlns:a16="http://schemas.microsoft.com/office/drawing/2014/main" id="{9D9D1BD3-6491-C33F-B340-3C68551018A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GB"/>
          </a:p>
        </p:txBody>
      </p:sp>
      <p:sp>
        <p:nvSpPr>
          <p:cNvPr id="5" name="Slide Number Placeholder 4">
            <a:extLst>
              <a:ext uri="{FF2B5EF4-FFF2-40B4-BE49-F238E27FC236}">
                <a16:creationId xmlns:a16="http://schemas.microsoft.com/office/drawing/2014/main" id="{22CC43A1-8BD3-38BA-4CDA-F3030AD5786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939F501-137B-4A19-A592-F88BFEB894E0}"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681B5C-E8C2-1745-41C4-C7E24DE306B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GB"/>
          </a:p>
        </p:txBody>
      </p:sp>
      <p:sp>
        <p:nvSpPr>
          <p:cNvPr id="3" name="Date Placeholder 2">
            <a:extLst>
              <a:ext uri="{FF2B5EF4-FFF2-40B4-BE49-F238E27FC236}">
                <a16:creationId xmlns:a16="http://schemas.microsoft.com/office/drawing/2014/main" id="{087F7EA8-8687-9F9C-4D6C-4F7D78C3C47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08E5840B-476B-4C27-9905-EAC965F6951B}" type="datetimeFigureOut">
              <a:rPr lang="en-GB"/>
              <a:pPr>
                <a:defRPr/>
              </a:pPr>
              <a:t>05/08/2025</a:t>
            </a:fld>
            <a:endParaRPr lang="en-GB"/>
          </a:p>
        </p:txBody>
      </p:sp>
      <p:sp>
        <p:nvSpPr>
          <p:cNvPr id="4" name="Slide Image Placeholder 3">
            <a:extLst>
              <a:ext uri="{FF2B5EF4-FFF2-40B4-BE49-F238E27FC236}">
                <a16:creationId xmlns:a16="http://schemas.microsoft.com/office/drawing/2014/main" id="{15E6EA7E-A8DC-21BC-E381-DF140B62485B}"/>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1A477E3E-1827-23BE-FCDB-EF5B65D51570}"/>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B341E1F2-86FE-96A6-BEA1-00A153B3AD00}"/>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GB"/>
          </a:p>
        </p:txBody>
      </p:sp>
      <p:sp>
        <p:nvSpPr>
          <p:cNvPr id="7" name="Slide Number Placeholder 6">
            <a:extLst>
              <a:ext uri="{FF2B5EF4-FFF2-40B4-BE49-F238E27FC236}">
                <a16:creationId xmlns:a16="http://schemas.microsoft.com/office/drawing/2014/main" id="{195FBDE9-6935-1FF8-251C-0721A749974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9E4893A7-63C2-447A-99B0-84872CBC8452}"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69322354-0EC6-627D-C2E8-1EDAEF45097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E6814B6-A5CA-44E8-8CE4-EBF6F1352F13}" type="slidenum">
              <a:rPr lang="ar-SA" altLang="en-US">
                <a:latin typeface="Arial" panose="020B0604020202020204" pitchFamily="34" charset="0"/>
              </a:rPr>
              <a:pPr/>
              <a:t>2</a:t>
            </a:fld>
            <a:endParaRPr lang="en-US" altLang="en-US">
              <a:latin typeface="Arial" panose="020B0604020202020204" pitchFamily="34" charset="0"/>
            </a:endParaRPr>
          </a:p>
        </p:txBody>
      </p:sp>
      <p:sp>
        <p:nvSpPr>
          <p:cNvPr id="49155" name="Rectangle 2">
            <a:extLst>
              <a:ext uri="{FF2B5EF4-FFF2-40B4-BE49-F238E27FC236}">
                <a16:creationId xmlns:a16="http://schemas.microsoft.com/office/drawing/2014/main" id="{B2505634-5AF4-D59D-65C5-A753FA5B163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a:extLst>
              <a:ext uri="{FF2B5EF4-FFF2-40B4-BE49-F238E27FC236}">
                <a16:creationId xmlns:a16="http://schemas.microsoft.com/office/drawing/2014/main" id="{7DCB2A7B-C595-E369-E7BE-ED5CBCC9092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A7EFB691-734F-ABA3-792B-94266B9C76C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E5D3259-8668-42DB-B435-0322884BFA8F}" type="slidenum">
              <a:rPr lang="ar-SA" altLang="en-US">
                <a:latin typeface="Arial" panose="020B0604020202020204" pitchFamily="34" charset="0"/>
              </a:rPr>
              <a:pPr/>
              <a:t>3</a:t>
            </a:fld>
            <a:endParaRPr lang="en-US" altLang="en-US">
              <a:latin typeface="Arial" panose="020B0604020202020204" pitchFamily="34" charset="0"/>
            </a:endParaRPr>
          </a:p>
        </p:txBody>
      </p:sp>
      <p:sp>
        <p:nvSpPr>
          <p:cNvPr id="50179" name="Rectangle 2">
            <a:extLst>
              <a:ext uri="{FF2B5EF4-FFF2-40B4-BE49-F238E27FC236}">
                <a16:creationId xmlns:a16="http://schemas.microsoft.com/office/drawing/2014/main" id="{E059ABE9-9282-DB5E-B1A4-645742FBFD3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a:extLst>
              <a:ext uri="{FF2B5EF4-FFF2-40B4-BE49-F238E27FC236}">
                <a16:creationId xmlns:a16="http://schemas.microsoft.com/office/drawing/2014/main" id="{6579DD68-0963-6E0B-BD79-5F3AB8B98EA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86799C4E-0EC1-3EED-1F4B-A7183B7B78A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57B22D8-2366-4368-87CE-1DE1AB762DF6}" type="slidenum">
              <a:rPr lang="ar-SA" altLang="en-US">
                <a:latin typeface="Arial" panose="020B0604020202020204" pitchFamily="34" charset="0"/>
              </a:rPr>
              <a:pPr/>
              <a:t>5</a:t>
            </a:fld>
            <a:endParaRPr lang="en-US" altLang="en-US">
              <a:latin typeface="Arial" panose="020B0604020202020204" pitchFamily="34" charset="0"/>
            </a:endParaRPr>
          </a:p>
        </p:txBody>
      </p:sp>
      <p:sp>
        <p:nvSpPr>
          <p:cNvPr id="51203" name="Rectangle 2">
            <a:extLst>
              <a:ext uri="{FF2B5EF4-FFF2-40B4-BE49-F238E27FC236}">
                <a16:creationId xmlns:a16="http://schemas.microsoft.com/office/drawing/2014/main" id="{955A582E-6431-52C6-0D7F-23EA92E4A04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a:extLst>
              <a:ext uri="{FF2B5EF4-FFF2-40B4-BE49-F238E27FC236}">
                <a16:creationId xmlns:a16="http://schemas.microsoft.com/office/drawing/2014/main" id="{EC0FBCCE-9465-DC63-FB39-539C99627C4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712FBC46-B73C-BEFD-ED16-E834FC8900A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9F53CBB-E3B8-47D9-95DB-EDB512CC48C4}" type="slidenum">
              <a:rPr lang="ar-SA" altLang="en-US">
                <a:latin typeface="Arial" panose="020B0604020202020204" pitchFamily="34" charset="0"/>
              </a:rPr>
              <a:pPr/>
              <a:t>8</a:t>
            </a:fld>
            <a:endParaRPr lang="en-US" altLang="en-US">
              <a:latin typeface="Arial" panose="020B0604020202020204" pitchFamily="34" charset="0"/>
            </a:endParaRPr>
          </a:p>
        </p:txBody>
      </p:sp>
      <p:sp>
        <p:nvSpPr>
          <p:cNvPr id="52227" name="Rectangle 2">
            <a:extLst>
              <a:ext uri="{FF2B5EF4-FFF2-40B4-BE49-F238E27FC236}">
                <a16:creationId xmlns:a16="http://schemas.microsoft.com/office/drawing/2014/main" id="{68AFC72A-26C7-7CC3-CCAA-0A01EAF234F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a:extLst>
              <a:ext uri="{FF2B5EF4-FFF2-40B4-BE49-F238E27FC236}">
                <a16:creationId xmlns:a16="http://schemas.microsoft.com/office/drawing/2014/main" id="{B5172F7F-341F-8B3C-7839-8336CEDA60F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0C4159A6-AB57-9CFD-364C-02E67C29628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27035C5D-707C-4259-B6B7-21236DAEB700}" type="slidenum">
              <a:rPr lang="ar-SA" altLang="en-US">
                <a:latin typeface="Arial" panose="020B0604020202020204" pitchFamily="34" charset="0"/>
              </a:rPr>
              <a:pPr/>
              <a:t>11</a:t>
            </a:fld>
            <a:endParaRPr lang="en-US" altLang="en-US">
              <a:latin typeface="Arial" panose="020B0604020202020204" pitchFamily="34" charset="0"/>
            </a:endParaRPr>
          </a:p>
        </p:txBody>
      </p:sp>
      <p:sp>
        <p:nvSpPr>
          <p:cNvPr id="53251" name="Rectangle 2">
            <a:extLst>
              <a:ext uri="{FF2B5EF4-FFF2-40B4-BE49-F238E27FC236}">
                <a16:creationId xmlns:a16="http://schemas.microsoft.com/office/drawing/2014/main" id="{161B7C35-805B-9D19-5F06-8D1424A8867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2" name="Rectangle 3">
            <a:extLst>
              <a:ext uri="{FF2B5EF4-FFF2-40B4-BE49-F238E27FC236}">
                <a16:creationId xmlns:a16="http://schemas.microsoft.com/office/drawing/2014/main" id="{986457D1-F76B-9F55-2083-2D9DF255D49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8300DBA4-AC19-2073-8FF4-CE2304B2FE8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EFF653D-79A3-4DCA-BC03-CF812A6C498C}" type="slidenum">
              <a:rPr lang="ar-SA" altLang="en-US">
                <a:latin typeface="Arial" panose="020B0604020202020204" pitchFamily="34" charset="0"/>
              </a:rPr>
              <a:pPr/>
              <a:t>14</a:t>
            </a:fld>
            <a:endParaRPr lang="en-US" altLang="en-US">
              <a:latin typeface="Arial" panose="020B0604020202020204" pitchFamily="34" charset="0"/>
            </a:endParaRPr>
          </a:p>
        </p:txBody>
      </p:sp>
      <p:sp>
        <p:nvSpPr>
          <p:cNvPr id="54275" name="Rectangle 2">
            <a:extLst>
              <a:ext uri="{FF2B5EF4-FFF2-40B4-BE49-F238E27FC236}">
                <a16:creationId xmlns:a16="http://schemas.microsoft.com/office/drawing/2014/main" id="{24B41AC2-08BB-A86F-00A6-9E7FEBD4E8C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a:extLst>
              <a:ext uri="{FF2B5EF4-FFF2-40B4-BE49-F238E27FC236}">
                <a16:creationId xmlns:a16="http://schemas.microsoft.com/office/drawing/2014/main" id="{75F7E1CB-48BE-F0ED-2C37-D8920628193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0B8483B1-C8E7-FCDE-EDE6-DC7686A66C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5E81FBEE-32D8-4520-A038-79073AAE24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a:t>Examples of Software Risks include:</a:t>
            </a:r>
          </a:p>
          <a:p>
            <a:pPr>
              <a:spcBef>
                <a:spcPct val="0"/>
              </a:spcBef>
            </a:pPr>
            <a:r>
              <a:rPr lang="en-US" altLang="en-US"/>
              <a:t>1- </a:t>
            </a:r>
            <a:r>
              <a:rPr lang="en-GB" altLang="en-US" b="1"/>
              <a:t>Estimation and scheduling</a:t>
            </a:r>
          </a:p>
          <a:p>
            <a:pPr>
              <a:spcBef>
                <a:spcPct val="0"/>
              </a:spcBef>
            </a:pPr>
            <a:r>
              <a:rPr lang="en-US" altLang="en-US"/>
              <a:t>2- </a:t>
            </a:r>
            <a:r>
              <a:rPr lang="en-GB" altLang="en-US" b="1"/>
              <a:t>Sudden growth in requirements</a:t>
            </a:r>
          </a:p>
          <a:p>
            <a:pPr>
              <a:spcBef>
                <a:spcPct val="0"/>
              </a:spcBef>
            </a:pPr>
            <a:r>
              <a:rPr lang="en-US" altLang="en-US"/>
              <a:t>3- </a:t>
            </a:r>
            <a:r>
              <a:rPr lang="en-GB" altLang="en-US" b="1"/>
              <a:t>Employee turnover</a:t>
            </a:r>
          </a:p>
          <a:p>
            <a:pPr>
              <a:spcBef>
                <a:spcPct val="0"/>
              </a:spcBef>
            </a:pPr>
            <a:r>
              <a:rPr lang="en-US" altLang="en-US"/>
              <a:t>4- </a:t>
            </a:r>
            <a:r>
              <a:rPr lang="en-GB" altLang="en-US" b="1"/>
              <a:t>Productivity issues</a:t>
            </a:r>
          </a:p>
          <a:p>
            <a:pPr>
              <a:spcBef>
                <a:spcPct val="0"/>
              </a:spcBef>
            </a:pPr>
            <a:r>
              <a:rPr lang="en-US" altLang="en-US"/>
              <a:t>5- </a:t>
            </a:r>
            <a:r>
              <a:rPr lang="en-GB" altLang="en-US" b="1"/>
              <a:t>Compromising on designs</a:t>
            </a:r>
          </a:p>
          <a:p>
            <a:pPr>
              <a:spcBef>
                <a:spcPct val="0"/>
              </a:spcBef>
            </a:pPr>
            <a:r>
              <a:rPr lang="en-US" altLang="en-US"/>
              <a:t>6- </a:t>
            </a:r>
            <a:r>
              <a:rPr lang="en-GB" altLang="en-US" b="1"/>
              <a:t>Technical risks</a:t>
            </a:r>
          </a:p>
          <a:p>
            <a:pPr>
              <a:spcBef>
                <a:spcPct val="0"/>
              </a:spcBef>
            </a:pPr>
            <a:endParaRPr lang="en-US" altLang="en-US"/>
          </a:p>
          <a:p>
            <a:pPr>
              <a:spcBef>
                <a:spcPct val="0"/>
              </a:spcBef>
            </a:pPr>
            <a:endParaRPr lang="en-US" altLang="en-US"/>
          </a:p>
          <a:p>
            <a:pPr>
              <a:spcBef>
                <a:spcPct val="0"/>
              </a:spcBef>
            </a:pPr>
            <a:endParaRPr lang="en-GB" altLang="en-US"/>
          </a:p>
        </p:txBody>
      </p:sp>
      <p:sp>
        <p:nvSpPr>
          <p:cNvPr id="55300" name="Slide Number Placeholder 3">
            <a:extLst>
              <a:ext uri="{FF2B5EF4-FFF2-40B4-BE49-F238E27FC236}">
                <a16:creationId xmlns:a16="http://schemas.microsoft.com/office/drawing/2014/main" id="{A661A621-54FC-67D6-CFCF-E57DF4209E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8C28854-C1D2-4BFA-9C02-C365E794F90E}" type="slidenum">
              <a:rPr lang="en-GB" altLang="en-US"/>
              <a:pPr/>
              <a:t>17</a:t>
            </a:fld>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30906725-8BC0-8046-83C4-9F50C21167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15A3038F-D2BB-47BE-89D4-4F3310C77327}" type="slidenum">
              <a:rPr lang="ar-SA" altLang="en-US">
                <a:latin typeface="Arial" panose="020B0604020202020204" pitchFamily="34" charset="0"/>
              </a:rPr>
              <a:pPr/>
              <a:t>19</a:t>
            </a:fld>
            <a:endParaRPr lang="en-US" altLang="en-US">
              <a:latin typeface="Arial" panose="020B0604020202020204" pitchFamily="34" charset="0"/>
            </a:endParaRPr>
          </a:p>
        </p:txBody>
      </p:sp>
      <p:sp>
        <p:nvSpPr>
          <p:cNvPr id="56323" name="Rectangle 2">
            <a:extLst>
              <a:ext uri="{FF2B5EF4-FFF2-40B4-BE49-F238E27FC236}">
                <a16:creationId xmlns:a16="http://schemas.microsoft.com/office/drawing/2014/main" id="{1ACD322E-76A3-80D8-0BBE-74E400E6884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a:extLst>
              <a:ext uri="{FF2B5EF4-FFF2-40B4-BE49-F238E27FC236}">
                <a16:creationId xmlns:a16="http://schemas.microsoft.com/office/drawing/2014/main" id="{4C1DABDF-21C0-D4AA-C495-D1E9685CE84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D83723E4-B338-2FE0-1488-AE72C9D4ED6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C51D1CD-5A6E-437B-A1A3-789196A01D7D}" type="slidenum">
              <a:rPr lang="ar-SA" altLang="en-US">
                <a:latin typeface="Arial" panose="020B0604020202020204" pitchFamily="34" charset="0"/>
              </a:rPr>
              <a:pPr/>
              <a:t>20</a:t>
            </a:fld>
            <a:endParaRPr lang="en-US" altLang="en-US">
              <a:latin typeface="Arial" panose="020B0604020202020204" pitchFamily="34" charset="0"/>
            </a:endParaRPr>
          </a:p>
        </p:txBody>
      </p:sp>
      <p:sp>
        <p:nvSpPr>
          <p:cNvPr id="57347" name="Rectangle 2">
            <a:extLst>
              <a:ext uri="{FF2B5EF4-FFF2-40B4-BE49-F238E27FC236}">
                <a16:creationId xmlns:a16="http://schemas.microsoft.com/office/drawing/2014/main" id="{4477E00F-FF38-1DBC-9D64-33FD3080B4A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8" name="Rectangle 3">
            <a:extLst>
              <a:ext uri="{FF2B5EF4-FFF2-40B4-BE49-F238E27FC236}">
                <a16:creationId xmlns:a16="http://schemas.microsoft.com/office/drawing/2014/main" id="{3303DAAD-EA9D-A3A2-0BFB-8726A81F684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6648920C-8351-8F25-F115-54097454C27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C99F3F6-063E-4E26-BF4B-402FB95EF5BF}" type="slidenum">
              <a:rPr lang="ar-SA" altLang="en-US">
                <a:latin typeface="Arial" panose="020B0604020202020204" pitchFamily="34" charset="0"/>
              </a:rPr>
              <a:pPr/>
              <a:t>23</a:t>
            </a:fld>
            <a:endParaRPr lang="en-US" altLang="en-US">
              <a:latin typeface="Arial" panose="020B0604020202020204" pitchFamily="34" charset="0"/>
            </a:endParaRPr>
          </a:p>
        </p:txBody>
      </p:sp>
      <p:sp>
        <p:nvSpPr>
          <p:cNvPr id="58371" name="Rectangle 2">
            <a:extLst>
              <a:ext uri="{FF2B5EF4-FFF2-40B4-BE49-F238E27FC236}">
                <a16:creationId xmlns:a16="http://schemas.microsoft.com/office/drawing/2014/main" id="{FA4A0773-F0EA-BEC7-B289-10FF6C298A5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a:extLst>
              <a:ext uri="{FF2B5EF4-FFF2-40B4-BE49-F238E27FC236}">
                <a16:creationId xmlns:a16="http://schemas.microsoft.com/office/drawing/2014/main" id="{DCF5EBAA-05A4-8CEF-2E9D-52958F569CA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398C9B93-77B5-16AA-98ED-25DB92218F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0EAD75D9-71A2-06B4-C239-658FB604F3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a:t>Presentation Required!</a:t>
            </a:r>
            <a:endParaRPr lang="en-GB" altLang="en-US"/>
          </a:p>
        </p:txBody>
      </p:sp>
      <p:sp>
        <p:nvSpPr>
          <p:cNvPr id="59396" name="Slide Number Placeholder 3">
            <a:extLst>
              <a:ext uri="{FF2B5EF4-FFF2-40B4-BE49-F238E27FC236}">
                <a16:creationId xmlns:a16="http://schemas.microsoft.com/office/drawing/2014/main" id="{D5A617DB-D7D5-E4EC-7551-A7F3C00BF08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5CA427B-59B4-47BF-9BA4-D65067103003}" type="slidenum">
              <a:rPr lang="en-GB" altLang="en-US"/>
              <a:pPr/>
              <a:t>25</a:t>
            </a:fld>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4893A7-63C2-447A-99B0-84872CBC8452}" type="slidenum">
              <a:rPr lang="en-GB" altLang="en-US" smtClean="0"/>
              <a:pPr/>
              <a:t>28</a:t>
            </a:fld>
            <a:endParaRPr lang="en-GB" altLang="en-US"/>
          </a:p>
        </p:txBody>
      </p:sp>
    </p:spTree>
    <p:extLst>
      <p:ext uri="{BB962C8B-B14F-4D97-AF65-F5344CB8AC3E}">
        <p14:creationId xmlns:p14="http://schemas.microsoft.com/office/powerpoint/2010/main" val="1312485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1737505-BEA0-B60D-7434-64595385CBE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3B36918-D601-4311-8EA2-D84BA60A3542}" type="slidenum">
              <a:rPr lang="ar-SA" altLang="en-US">
                <a:latin typeface="Arial" panose="020B0604020202020204" pitchFamily="34" charset="0"/>
              </a:rPr>
              <a:pPr/>
              <a:t>29</a:t>
            </a:fld>
            <a:endParaRPr lang="en-US" altLang="en-US">
              <a:latin typeface="Arial" panose="020B0604020202020204" pitchFamily="34" charset="0"/>
            </a:endParaRPr>
          </a:p>
        </p:txBody>
      </p:sp>
      <p:sp>
        <p:nvSpPr>
          <p:cNvPr id="60419" name="Rectangle 2">
            <a:extLst>
              <a:ext uri="{FF2B5EF4-FFF2-40B4-BE49-F238E27FC236}">
                <a16:creationId xmlns:a16="http://schemas.microsoft.com/office/drawing/2014/main" id="{CC0AC1C6-ECF8-701E-A752-E9485B60E15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a:extLst>
              <a:ext uri="{FF2B5EF4-FFF2-40B4-BE49-F238E27FC236}">
                <a16:creationId xmlns:a16="http://schemas.microsoft.com/office/drawing/2014/main" id="{60DE81A0-90B1-4962-FF3B-42F56E05AE8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8BF3BD4F-9F75-FC41-DB5A-F59CEB5E64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15353B0-62F7-40C7-81B3-D04C5FC8CD04}" type="slidenum">
              <a:rPr lang="ar-SA" altLang="en-US">
                <a:latin typeface="Arial" panose="020B0604020202020204" pitchFamily="34" charset="0"/>
              </a:rPr>
              <a:pPr/>
              <a:t>30</a:t>
            </a:fld>
            <a:endParaRPr lang="en-US" altLang="en-US">
              <a:latin typeface="Arial" panose="020B0604020202020204" pitchFamily="34" charset="0"/>
            </a:endParaRPr>
          </a:p>
        </p:txBody>
      </p:sp>
      <p:sp>
        <p:nvSpPr>
          <p:cNvPr id="61443" name="Rectangle 2">
            <a:extLst>
              <a:ext uri="{FF2B5EF4-FFF2-40B4-BE49-F238E27FC236}">
                <a16:creationId xmlns:a16="http://schemas.microsoft.com/office/drawing/2014/main" id="{88056532-628F-EF84-7B94-DB7EB45B0E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4" name="Rectangle 3">
            <a:extLst>
              <a:ext uri="{FF2B5EF4-FFF2-40B4-BE49-F238E27FC236}">
                <a16:creationId xmlns:a16="http://schemas.microsoft.com/office/drawing/2014/main" id="{04D6C82D-5D96-B0AA-4C94-453528AE8CF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F9470EEC-05FA-A55E-985A-5B020121444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9271E87-886C-4D09-8C1C-B5187233B106}" type="slidenum">
              <a:rPr lang="ar-SA" altLang="en-US">
                <a:latin typeface="Arial" panose="020B0604020202020204" pitchFamily="34" charset="0"/>
              </a:rPr>
              <a:pPr/>
              <a:t>31</a:t>
            </a:fld>
            <a:endParaRPr lang="en-US" altLang="en-US">
              <a:latin typeface="Arial" panose="020B0604020202020204" pitchFamily="34" charset="0"/>
            </a:endParaRPr>
          </a:p>
        </p:txBody>
      </p:sp>
      <p:sp>
        <p:nvSpPr>
          <p:cNvPr id="62467" name="Rectangle 2">
            <a:extLst>
              <a:ext uri="{FF2B5EF4-FFF2-40B4-BE49-F238E27FC236}">
                <a16:creationId xmlns:a16="http://schemas.microsoft.com/office/drawing/2014/main" id="{97F80CE7-1FC7-FE8A-C7CC-42F4AB6E05C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a:extLst>
              <a:ext uri="{FF2B5EF4-FFF2-40B4-BE49-F238E27FC236}">
                <a16:creationId xmlns:a16="http://schemas.microsoft.com/office/drawing/2014/main" id="{D3C2D3DB-0F15-3E0B-9ABC-C74FA4D5E99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F2AC45CC-2019-75CC-8290-33623ED899F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9CCDDBD-7D57-4FFF-90A5-E258C69E73F1}" type="slidenum">
              <a:rPr lang="ar-SA" altLang="en-US">
                <a:latin typeface="Arial" panose="020B0604020202020204" pitchFamily="34" charset="0"/>
              </a:rPr>
              <a:pPr/>
              <a:t>32</a:t>
            </a:fld>
            <a:endParaRPr lang="en-US" altLang="en-US">
              <a:latin typeface="Arial" panose="020B0604020202020204" pitchFamily="34" charset="0"/>
            </a:endParaRPr>
          </a:p>
        </p:txBody>
      </p:sp>
      <p:sp>
        <p:nvSpPr>
          <p:cNvPr id="63491" name="Rectangle 2">
            <a:extLst>
              <a:ext uri="{FF2B5EF4-FFF2-40B4-BE49-F238E27FC236}">
                <a16:creationId xmlns:a16="http://schemas.microsoft.com/office/drawing/2014/main" id="{ED99727B-FF0A-D9E9-575A-76F7CEE7343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a:extLst>
              <a:ext uri="{FF2B5EF4-FFF2-40B4-BE49-F238E27FC236}">
                <a16:creationId xmlns:a16="http://schemas.microsoft.com/office/drawing/2014/main" id="{D687E5F6-E382-AF76-C390-2E38633292A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489C80D3-6048-74CA-B47F-DD14544F4D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10497330-E67F-D96D-C539-150BE67591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GB" altLang="en-US"/>
          </a:p>
        </p:txBody>
      </p:sp>
      <p:sp>
        <p:nvSpPr>
          <p:cNvPr id="64516" name="Slide Number Placeholder 3">
            <a:extLst>
              <a:ext uri="{FF2B5EF4-FFF2-40B4-BE49-F238E27FC236}">
                <a16:creationId xmlns:a16="http://schemas.microsoft.com/office/drawing/2014/main" id="{6CA8876C-6311-9DE3-0A4F-4DBCA215106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28BD06A-0A08-4221-B3EB-3AD865C0A48C}" type="slidenum">
              <a:rPr lang="en-GB" altLang="en-US"/>
              <a:pPr/>
              <a:t>34</a:t>
            </a:fld>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B313DC42-B7A8-0E1E-7976-2A7E2B1093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9BDAB5B1-9F68-477E-A00B-890F34A5DA6D}" type="slidenum">
              <a:rPr lang="ar-SA" altLang="en-US">
                <a:latin typeface="Arial" panose="020B0604020202020204" pitchFamily="34" charset="0"/>
              </a:rPr>
              <a:pPr/>
              <a:t>35</a:t>
            </a:fld>
            <a:endParaRPr lang="en-US" altLang="en-US">
              <a:latin typeface="Arial" panose="020B0604020202020204" pitchFamily="34" charset="0"/>
            </a:endParaRPr>
          </a:p>
        </p:txBody>
      </p:sp>
      <p:sp>
        <p:nvSpPr>
          <p:cNvPr id="65539" name="Rectangle 2">
            <a:extLst>
              <a:ext uri="{FF2B5EF4-FFF2-40B4-BE49-F238E27FC236}">
                <a16:creationId xmlns:a16="http://schemas.microsoft.com/office/drawing/2014/main" id="{2224D5DD-C130-88DE-06AB-A3EABD29BA2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40" name="Rectangle 3">
            <a:extLst>
              <a:ext uri="{FF2B5EF4-FFF2-40B4-BE49-F238E27FC236}">
                <a16:creationId xmlns:a16="http://schemas.microsoft.com/office/drawing/2014/main" id="{357C9129-739F-5127-5D8D-943D416DE87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20AA7CEA-F5E5-6CFB-8084-F44878E8D85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9AA217B5-A708-4030-933E-96E77F58D444}" type="slidenum">
              <a:rPr lang="ar-SA" altLang="en-US">
                <a:latin typeface="Arial" panose="020B0604020202020204" pitchFamily="34" charset="0"/>
              </a:rPr>
              <a:pPr/>
              <a:t>37</a:t>
            </a:fld>
            <a:endParaRPr lang="en-US" altLang="en-US">
              <a:latin typeface="Arial" panose="020B0604020202020204" pitchFamily="34" charset="0"/>
            </a:endParaRPr>
          </a:p>
        </p:txBody>
      </p:sp>
      <p:sp>
        <p:nvSpPr>
          <p:cNvPr id="66563" name="Rectangle 2">
            <a:extLst>
              <a:ext uri="{FF2B5EF4-FFF2-40B4-BE49-F238E27FC236}">
                <a16:creationId xmlns:a16="http://schemas.microsoft.com/office/drawing/2014/main" id="{55A4BD20-39D4-820B-14CB-57440AC61A0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4" name="Rectangle 3">
            <a:extLst>
              <a:ext uri="{FF2B5EF4-FFF2-40B4-BE49-F238E27FC236}">
                <a16:creationId xmlns:a16="http://schemas.microsoft.com/office/drawing/2014/main" id="{15C285B9-C56D-00B0-E598-FA3427AD186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16A993B8-EBC2-C922-DC6B-4E5AE491FB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7402595-336A-41EC-9887-FD8AD5784077}" type="slidenum">
              <a:rPr lang="ar-SA" altLang="en-US">
                <a:latin typeface="Arial" panose="020B0604020202020204" pitchFamily="34" charset="0"/>
              </a:rPr>
              <a:pPr/>
              <a:t>38</a:t>
            </a:fld>
            <a:endParaRPr lang="en-US" altLang="en-US">
              <a:latin typeface="Arial" panose="020B0604020202020204" pitchFamily="34" charset="0"/>
            </a:endParaRPr>
          </a:p>
        </p:txBody>
      </p:sp>
      <p:sp>
        <p:nvSpPr>
          <p:cNvPr id="67587" name="Rectangle 2">
            <a:extLst>
              <a:ext uri="{FF2B5EF4-FFF2-40B4-BE49-F238E27FC236}">
                <a16:creationId xmlns:a16="http://schemas.microsoft.com/office/drawing/2014/main" id="{A101FBC0-BB80-94C6-3A4B-0E69F610345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8" name="Rectangle 3">
            <a:extLst>
              <a:ext uri="{FF2B5EF4-FFF2-40B4-BE49-F238E27FC236}">
                <a16:creationId xmlns:a16="http://schemas.microsoft.com/office/drawing/2014/main" id="{2319EADB-40C2-E2D8-EB7B-9AC5A58B09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77C946E5-0AEF-CA4B-09AF-F1CD838AB6E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2D84686-F74B-4A11-8AA0-3CE5EF51DCFB}" type="slidenum">
              <a:rPr lang="ar-SA" altLang="en-US">
                <a:latin typeface="Arial" panose="020B0604020202020204" pitchFamily="34" charset="0"/>
              </a:rPr>
              <a:pPr/>
              <a:t>42</a:t>
            </a:fld>
            <a:endParaRPr lang="en-US" altLang="en-US">
              <a:latin typeface="Arial" panose="020B0604020202020204" pitchFamily="34" charset="0"/>
            </a:endParaRPr>
          </a:p>
        </p:txBody>
      </p:sp>
      <p:sp>
        <p:nvSpPr>
          <p:cNvPr id="68611" name="Rectangle 2">
            <a:extLst>
              <a:ext uri="{FF2B5EF4-FFF2-40B4-BE49-F238E27FC236}">
                <a16:creationId xmlns:a16="http://schemas.microsoft.com/office/drawing/2014/main" id="{22E0E025-9428-EE9D-7033-7E8EA739351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2" name="Rectangle 3">
            <a:extLst>
              <a:ext uri="{FF2B5EF4-FFF2-40B4-BE49-F238E27FC236}">
                <a16:creationId xmlns:a16="http://schemas.microsoft.com/office/drawing/2014/main" id="{D348C93A-AB02-7069-18B8-3CAD2458765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95AE0C5A-B586-2C6D-2C5D-2B4A7B6D05D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251653B-02BD-4615-B195-8A4999EE25EF}" type="slidenum">
              <a:rPr lang="ar-SA" altLang="en-US">
                <a:latin typeface="Arial" panose="020B0604020202020204" pitchFamily="34" charset="0"/>
              </a:rPr>
              <a:pPr/>
              <a:t>44</a:t>
            </a:fld>
            <a:endParaRPr lang="en-US" altLang="en-US">
              <a:latin typeface="Arial" panose="020B0604020202020204" pitchFamily="34" charset="0"/>
            </a:endParaRPr>
          </a:p>
        </p:txBody>
      </p:sp>
      <p:sp>
        <p:nvSpPr>
          <p:cNvPr id="69635" name="Rectangle 2">
            <a:extLst>
              <a:ext uri="{FF2B5EF4-FFF2-40B4-BE49-F238E27FC236}">
                <a16:creationId xmlns:a16="http://schemas.microsoft.com/office/drawing/2014/main" id="{E1E3D619-E820-FF77-0112-106411AE7B6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a:extLst>
              <a:ext uri="{FF2B5EF4-FFF2-40B4-BE49-F238E27FC236}">
                <a16:creationId xmlns:a16="http://schemas.microsoft.com/office/drawing/2014/main" id="{5ACFFA9D-4A5C-BD19-2980-1A6173DEAE3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ar-EG"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Slide Number Placeholder 5">
            <a:extLst>
              <a:ext uri="{FF2B5EF4-FFF2-40B4-BE49-F238E27FC236}">
                <a16:creationId xmlns:a16="http://schemas.microsoft.com/office/drawing/2014/main" id="{144BC6BF-DCFF-FE4A-686A-7D776DD58FA3}"/>
              </a:ext>
            </a:extLst>
          </p:cNvPr>
          <p:cNvSpPr>
            <a:spLocks noGrp="1"/>
          </p:cNvSpPr>
          <p:nvPr>
            <p:ph type="sldNum" sz="quarter" idx="10"/>
          </p:nvPr>
        </p:nvSpPr>
        <p:spPr>
          <a:ln/>
        </p:spPr>
        <p:txBody>
          <a:bodyPr/>
          <a:lstStyle>
            <a:lvl1pPr>
              <a:defRPr/>
            </a:lvl1pPr>
          </a:lstStyle>
          <a:p>
            <a:fld id="{4BD4AC5D-93D7-4039-827E-7AD5BB73CCD3}" type="slidenum">
              <a:rPr lang="en-US" altLang="en-US"/>
              <a:pPr/>
              <a:t>‹#›</a:t>
            </a:fld>
            <a:endParaRPr lang="en-US" altLang="en-US"/>
          </a:p>
        </p:txBody>
      </p:sp>
      <p:sp>
        <p:nvSpPr>
          <p:cNvPr id="5" name="Footer Placeholder 4">
            <a:extLst>
              <a:ext uri="{FF2B5EF4-FFF2-40B4-BE49-F238E27FC236}">
                <a16:creationId xmlns:a16="http://schemas.microsoft.com/office/drawing/2014/main" id="{BF64E158-0E72-6D0A-70EF-2AB059F5CEE4}"/>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B33782E7-D580-F9EE-677F-00B6FC2F7041}"/>
              </a:ext>
            </a:extLst>
          </p:cNvPr>
          <p:cNvSpPr>
            <a:spLocks noGrp="1"/>
          </p:cNvSpPr>
          <p:nvPr>
            <p:ph type="dt" sz="half" idx="12"/>
          </p:nvPr>
        </p:nvSpPr>
        <p:spPr/>
        <p:txBody>
          <a:bodyPr/>
          <a:lstStyle>
            <a:lvl1pPr>
              <a:defRPr/>
            </a:lvl1pPr>
          </a:lstStyle>
          <a:p>
            <a:pPr>
              <a:defRPr/>
            </a:pPr>
            <a:fld id="{4002F3C3-0213-4097-9681-F7A15723196A}" type="datetimeFigureOut">
              <a:rPr lang="en-US"/>
              <a:pPr>
                <a:defRPr/>
              </a:pPr>
              <a:t>8/5/2025</a:t>
            </a:fld>
            <a:endParaRPr lang="en-US"/>
          </a:p>
        </p:txBody>
      </p:sp>
    </p:spTree>
    <p:extLst>
      <p:ext uri="{BB962C8B-B14F-4D97-AF65-F5344CB8AC3E}">
        <p14:creationId xmlns:p14="http://schemas.microsoft.com/office/powerpoint/2010/main" val="4047739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00" b="1"/>
            </a:lvl1pPr>
          </a:lstStyle>
          <a:p>
            <a:r>
              <a:rPr lang="en-US" dirty="0"/>
              <a:t>Click to edit Master title style</a:t>
            </a:r>
          </a:p>
        </p:txBody>
      </p:sp>
      <p:sp>
        <p:nvSpPr>
          <p:cNvPr id="3" name="Content Placeholder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A156E101-0517-1220-EB23-7DDB354CC859}"/>
              </a:ext>
            </a:extLst>
          </p:cNvPr>
          <p:cNvSpPr>
            <a:spLocks noGrp="1"/>
          </p:cNvSpPr>
          <p:nvPr>
            <p:ph type="sldNum" sz="quarter" idx="10"/>
          </p:nvPr>
        </p:nvSpPr>
        <p:spPr>
          <a:ln/>
        </p:spPr>
        <p:txBody>
          <a:bodyPr/>
          <a:lstStyle>
            <a:lvl1pPr>
              <a:defRPr/>
            </a:lvl1pPr>
          </a:lstStyle>
          <a:p>
            <a:fld id="{14075852-5A51-4E6B-88DB-0ABD319E0A86}" type="slidenum">
              <a:rPr lang="en-US" altLang="en-US"/>
              <a:pPr/>
              <a:t>‹#›</a:t>
            </a:fld>
            <a:endParaRPr lang="en-US" altLang="en-US"/>
          </a:p>
        </p:txBody>
      </p:sp>
      <p:sp>
        <p:nvSpPr>
          <p:cNvPr id="5" name="Footer Placeholder 4">
            <a:extLst>
              <a:ext uri="{FF2B5EF4-FFF2-40B4-BE49-F238E27FC236}">
                <a16:creationId xmlns:a16="http://schemas.microsoft.com/office/drawing/2014/main" id="{51291651-E07B-49C5-A29F-19F4098C30D6}"/>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8E55DBCE-AA52-50AD-D178-38E7C2D7072B}"/>
              </a:ext>
            </a:extLst>
          </p:cNvPr>
          <p:cNvSpPr>
            <a:spLocks noGrp="1"/>
          </p:cNvSpPr>
          <p:nvPr>
            <p:ph type="dt" sz="half" idx="12"/>
          </p:nvPr>
        </p:nvSpPr>
        <p:spPr/>
        <p:txBody>
          <a:bodyPr/>
          <a:lstStyle>
            <a:lvl1pPr>
              <a:defRPr/>
            </a:lvl1pPr>
          </a:lstStyle>
          <a:p>
            <a:pPr>
              <a:defRPr/>
            </a:pPr>
            <a:fld id="{8CC67879-C072-4BBE-B557-424AB4A891E3}" type="datetimeFigureOut">
              <a:rPr lang="en-US"/>
              <a:pPr>
                <a:defRPr/>
              </a:pPr>
              <a:t>8/5/2025</a:t>
            </a:fld>
            <a:endParaRPr lang="en-US"/>
          </a:p>
        </p:txBody>
      </p:sp>
    </p:spTree>
    <p:extLst>
      <p:ext uri="{BB962C8B-B14F-4D97-AF65-F5344CB8AC3E}">
        <p14:creationId xmlns:p14="http://schemas.microsoft.com/office/powerpoint/2010/main" val="3227693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5">
            <a:extLst>
              <a:ext uri="{FF2B5EF4-FFF2-40B4-BE49-F238E27FC236}">
                <a16:creationId xmlns:a16="http://schemas.microsoft.com/office/drawing/2014/main" id="{43E8D0A8-F60B-EAE8-5D44-3BF72373B9D5}"/>
              </a:ext>
            </a:extLst>
          </p:cNvPr>
          <p:cNvSpPr>
            <a:spLocks noGrp="1"/>
          </p:cNvSpPr>
          <p:nvPr>
            <p:ph type="sldNum" sz="quarter" idx="10"/>
          </p:nvPr>
        </p:nvSpPr>
        <p:spPr>
          <a:ln/>
        </p:spPr>
        <p:txBody>
          <a:bodyPr/>
          <a:lstStyle>
            <a:lvl1pPr>
              <a:defRPr/>
            </a:lvl1pPr>
          </a:lstStyle>
          <a:p>
            <a:fld id="{4583BDD6-2D33-4BA3-A111-16093C83C528}" type="slidenum">
              <a:rPr lang="en-US" altLang="en-US"/>
              <a:pPr/>
              <a:t>‹#›</a:t>
            </a:fld>
            <a:endParaRPr lang="en-US" altLang="en-US"/>
          </a:p>
        </p:txBody>
      </p:sp>
      <p:sp>
        <p:nvSpPr>
          <p:cNvPr id="5" name="Footer Placeholder 4">
            <a:extLst>
              <a:ext uri="{FF2B5EF4-FFF2-40B4-BE49-F238E27FC236}">
                <a16:creationId xmlns:a16="http://schemas.microsoft.com/office/drawing/2014/main" id="{5DAA0224-6FB5-1ED3-5D44-7AB5AF8DA2F9}"/>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645053B9-78DC-9F1E-1F09-939B6C89F0D2}"/>
              </a:ext>
            </a:extLst>
          </p:cNvPr>
          <p:cNvSpPr>
            <a:spLocks noGrp="1"/>
          </p:cNvSpPr>
          <p:nvPr>
            <p:ph type="dt" sz="half" idx="12"/>
          </p:nvPr>
        </p:nvSpPr>
        <p:spPr/>
        <p:txBody>
          <a:bodyPr/>
          <a:lstStyle>
            <a:lvl1pPr>
              <a:defRPr/>
            </a:lvl1pPr>
          </a:lstStyle>
          <a:p>
            <a:pPr>
              <a:defRPr/>
            </a:pPr>
            <a:fld id="{20E6F6F3-D323-41AD-A783-1310FC847870}" type="datetimeFigureOut">
              <a:rPr lang="en-US"/>
              <a:pPr>
                <a:defRPr/>
              </a:pPr>
              <a:t>8/5/2025</a:t>
            </a:fld>
            <a:endParaRPr lang="en-US"/>
          </a:p>
        </p:txBody>
      </p:sp>
    </p:spTree>
    <p:extLst>
      <p:ext uri="{BB962C8B-B14F-4D97-AF65-F5344CB8AC3E}">
        <p14:creationId xmlns:p14="http://schemas.microsoft.com/office/powerpoint/2010/main" val="4258453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33707BDC-A8EC-884C-A51E-32AF088EA940}"/>
              </a:ext>
            </a:extLst>
          </p:cNvPr>
          <p:cNvSpPr>
            <a:spLocks noGrp="1"/>
          </p:cNvSpPr>
          <p:nvPr>
            <p:ph type="sldNum" sz="quarter" idx="10"/>
          </p:nvPr>
        </p:nvSpPr>
        <p:spPr>
          <a:ln/>
        </p:spPr>
        <p:txBody>
          <a:bodyPr/>
          <a:lstStyle>
            <a:lvl1pPr>
              <a:defRPr/>
            </a:lvl1pPr>
          </a:lstStyle>
          <a:p>
            <a:fld id="{7DD48F13-A340-4AF3-8712-BB45E1A8E6A9}" type="slidenum">
              <a:rPr lang="en-US" altLang="en-US"/>
              <a:pPr/>
              <a:t>‹#›</a:t>
            </a:fld>
            <a:endParaRPr lang="en-US" altLang="en-US"/>
          </a:p>
        </p:txBody>
      </p:sp>
      <p:sp>
        <p:nvSpPr>
          <p:cNvPr id="6" name="Footer Placeholder 4">
            <a:extLst>
              <a:ext uri="{FF2B5EF4-FFF2-40B4-BE49-F238E27FC236}">
                <a16:creationId xmlns:a16="http://schemas.microsoft.com/office/drawing/2014/main" id="{F6AB90EF-0AB6-5A27-E32A-D47BF35C64D0}"/>
              </a:ext>
            </a:extLst>
          </p:cNvPr>
          <p:cNvSpPr>
            <a:spLocks noGrp="1"/>
          </p:cNvSpPr>
          <p:nvPr>
            <p:ph type="ftr" sz="quarter" idx="11"/>
          </p:nvPr>
        </p:nvSpPr>
        <p:spPr/>
        <p:txBody>
          <a:bodyPr/>
          <a:lstStyle>
            <a:lvl1pPr>
              <a:defRPr/>
            </a:lvl1pPr>
          </a:lstStyle>
          <a:p>
            <a:pPr>
              <a:defRPr/>
            </a:pPr>
            <a:endParaRPr lang="en-US"/>
          </a:p>
        </p:txBody>
      </p:sp>
      <p:sp>
        <p:nvSpPr>
          <p:cNvPr id="7" name="Date Placeholder 3">
            <a:extLst>
              <a:ext uri="{FF2B5EF4-FFF2-40B4-BE49-F238E27FC236}">
                <a16:creationId xmlns:a16="http://schemas.microsoft.com/office/drawing/2014/main" id="{3FA06620-2A9A-CFCA-C3D8-16F1E574C1CB}"/>
              </a:ext>
            </a:extLst>
          </p:cNvPr>
          <p:cNvSpPr>
            <a:spLocks noGrp="1"/>
          </p:cNvSpPr>
          <p:nvPr>
            <p:ph type="dt" sz="half" idx="12"/>
          </p:nvPr>
        </p:nvSpPr>
        <p:spPr/>
        <p:txBody>
          <a:bodyPr/>
          <a:lstStyle>
            <a:lvl1pPr>
              <a:defRPr/>
            </a:lvl1pPr>
          </a:lstStyle>
          <a:p>
            <a:pPr>
              <a:defRPr/>
            </a:pPr>
            <a:fld id="{6474C1F7-77E8-4E8A-99AF-6E8A9B980FC6}" type="datetimeFigureOut">
              <a:rPr lang="en-US"/>
              <a:pPr>
                <a:defRPr/>
              </a:pPr>
              <a:t>8/5/2025</a:t>
            </a:fld>
            <a:endParaRPr lang="en-US"/>
          </a:p>
        </p:txBody>
      </p:sp>
    </p:spTree>
    <p:extLst>
      <p:ext uri="{BB962C8B-B14F-4D97-AF65-F5344CB8AC3E}">
        <p14:creationId xmlns:p14="http://schemas.microsoft.com/office/powerpoint/2010/main" val="3933880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9FC48A11-3715-F515-0276-A8A665C22A1F}"/>
              </a:ext>
            </a:extLst>
          </p:cNvPr>
          <p:cNvSpPr>
            <a:spLocks noGrp="1"/>
          </p:cNvSpPr>
          <p:nvPr>
            <p:ph type="sldNum" sz="quarter" idx="10"/>
          </p:nvPr>
        </p:nvSpPr>
        <p:spPr>
          <a:ln/>
        </p:spPr>
        <p:txBody>
          <a:bodyPr/>
          <a:lstStyle>
            <a:lvl1pPr>
              <a:defRPr/>
            </a:lvl1pPr>
          </a:lstStyle>
          <a:p>
            <a:fld id="{C8EAC763-7337-4E8A-BC0D-2BB19AF596F7}" type="slidenum">
              <a:rPr lang="en-US" altLang="en-US"/>
              <a:pPr/>
              <a:t>‹#›</a:t>
            </a:fld>
            <a:endParaRPr lang="en-US" altLang="en-US"/>
          </a:p>
        </p:txBody>
      </p:sp>
      <p:sp>
        <p:nvSpPr>
          <p:cNvPr id="8" name="Footer Placeholder 4">
            <a:extLst>
              <a:ext uri="{FF2B5EF4-FFF2-40B4-BE49-F238E27FC236}">
                <a16:creationId xmlns:a16="http://schemas.microsoft.com/office/drawing/2014/main" id="{1E4F6C3B-2DE8-A165-7258-654210816A44}"/>
              </a:ext>
            </a:extLst>
          </p:cNvPr>
          <p:cNvSpPr>
            <a:spLocks noGrp="1"/>
          </p:cNvSpPr>
          <p:nvPr>
            <p:ph type="ftr" sz="quarter" idx="11"/>
          </p:nvPr>
        </p:nvSpPr>
        <p:spPr/>
        <p:txBody>
          <a:bodyPr/>
          <a:lstStyle>
            <a:lvl1pPr>
              <a:defRPr/>
            </a:lvl1pPr>
          </a:lstStyle>
          <a:p>
            <a:pPr>
              <a:defRPr/>
            </a:pPr>
            <a:endParaRPr lang="en-US"/>
          </a:p>
        </p:txBody>
      </p:sp>
      <p:sp>
        <p:nvSpPr>
          <p:cNvPr id="9" name="Date Placeholder 3">
            <a:extLst>
              <a:ext uri="{FF2B5EF4-FFF2-40B4-BE49-F238E27FC236}">
                <a16:creationId xmlns:a16="http://schemas.microsoft.com/office/drawing/2014/main" id="{818B5A4A-10F6-7247-AAF9-2693F578D007}"/>
              </a:ext>
            </a:extLst>
          </p:cNvPr>
          <p:cNvSpPr>
            <a:spLocks noGrp="1"/>
          </p:cNvSpPr>
          <p:nvPr>
            <p:ph type="dt" sz="half" idx="12"/>
          </p:nvPr>
        </p:nvSpPr>
        <p:spPr/>
        <p:txBody>
          <a:bodyPr/>
          <a:lstStyle>
            <a:lvl1pPr>
              <a:defRPr/>
            </a:lvl1pPr>
          </a:lstStyle>
          <a:p>
            <a:pPr>
              <a:defRPr/>
            </a:pPr>
            <a:fld id="{DD06E6E1-BDEC-48D4-864F-4EB2B6D71546}" type="datetimeFigureOut">
              <a:rPr lang="en-US"/>
              <a:pPr>
                <a:defRPr/>
              </a:pPr>
              <a:t>8/5/2025</a:t>
            </a:fld>
            <a:endParaRPr lang="en-US"/>
          </a:p>
        </p:txBody>
      </p:sp>
    </p:spTree>
    <p:extLst>
      <p:ext uri="{BB962C8B-B14F-4D97-AF65-F5344CB8AC3E}">
        <p14:creationId xmlns:p14="http://schemas.microsoft.com/office/powerpoint/2010/main" val="4273796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a:extLst>
              <a:ext uri="{FF2B5EF4-FFF2-40B4-BE49-F238E27FC236}">
                <a16:creationId xmlns:a16="http://schemas.microsoft.com/office/drawing/2014/main" id="{0C4CE134-BF5B-0A7C-322B-CCEA7A0A9AF3}"/>
              </a:ext>
            </a:extLst>
          </p:cNvPr>
          <p:cNvSpPr>
            <a:spLocks noGrp="1"/>
          </p:cNvSpPr>
          <p:nvPr>
            <p:ph type="sldNum" sz="quarter" idx="10"/>
          </p:nvPr>
        </p:nvSpPr>
        <p:spPr>
          <a:ln/>
        </p:spPr>
        <p:txBody>
          <a:bodyPr/>
          <a:lstStyle>
            <a:lvl1pPr>
              <a:defRPr/>
            </a:lvl1pPr>
          </a:lstStyle>
          <a:p>
            <a:fld id="{112CA1B9-6ACB-4864-9F24-B3AC3242E7BD}" type="slidenum">
              <a:rPr lang="en-US" altLang="en-US"/>
              <a:pPr/>
              <a:t>‹#›</a:t>
            </a:fld>
            <a:endParaRPr lang="en-US" altLang="en-US"/>
          </a:p>
        </p:txBody>
      </p:sp>
      <p:sp>
        <p:nvSpPr>
          <p:cNvPr id="4" name="Footer Placeholder 4">
            <a:extLst>
              <a:ext uri="{FF2B5EF4-FFF2-40B4-BE49-F238E27FC236}">
                <a16:creationId xmlns:a16="http://schemas.microsoft.com/office/drawing/2014/main" id="{D6F5F044-6338-4D6D-55BF-EE98D7E097C1}"/>
              </a:ext>
            </a:extLst>
          </p:cNvPr>
          <p:cNvSpPr>
            <a:spLocks noGrp="1"/>
          </p:cNvSpPr>
          <p:nvPr>
            <p:ph type="ftr" sz="quarter" idx="11"/>
          </p:nvPr>
        </p:nvSpPr>
        <p:spPr/>
        <p:txBody>
          <a:bodyPr/>
          <a:lstStyle>
            <a:lvl1pPr>
              <a:defRPr/>
            </a:lvl1pPr>
          </a:lstStyle>
          <a:p>
            <a:pPr>
              <a:defRPr/>
            </a:pPr>
            <a:endParaRPr lang="en-US"/>
          </a:p>
        </p:txBody>
      </p:sp>
      <p:sp>
        <p:nvSpPr>
          <p:cNvPr id="5" name="Date Placeholder 3">
            <a:extLst>
              <a:ext uri="{FF2B5EF4-FFF2-40B4-BE49-F238E27FC236}">
                <a16:creationId xmlns:a16="http://schemas.microsoft.com/office/drawing/2014/main" id="{58742D69-68D8-98A3-EAA2-A6E2C3A0DE84}"/>
              </a:ext>
            </a:extLst>
          </p:cNvPr>
          <p:cNvSpPr>
            <a:spLocks noGrp="1"/>
          </p:cNvSpPr>
          <p:nvPr>
            <p:ph type="dt" sz="half" idx="12"/>
          </p:nvPr>
        </p:nvSpPr>
        <p:spPr/>
        <p:txBody>
          <a:bodyPr/>
          <a:lstStyle>
            <a:lvl1pPr>
              <a:defRPr/>
            </a:lvl1pPr>
          </a:lstStyle>
          <a:p>
            <a:pPr>
              <a:defRPr/>
            </a:pPr>
            <a:fld id="{67895944-4846-48E3-8CB9-0E63AECE4C62}" type="datetimeFigureOut">
              <a:rPr lang="en-US"/>
              <a:pPr>
                <a:defRPr/>
              </a:pPr>
              <a:t>8/5/2025</a:t>
            </a:fld>
            <a:endParaRPr lang="en-US"/>
          </a:p>
        </p:txBody>
      </p:sp>
    </p:spTree>
    <p:extLst>
      <p:ext uri="{BB962C8B-B14F-4D97-AF65-F5344CB8AC3E}">
        <p14:creationId xmlns:p14="http://schemas.microsoft.com/office/powerpoint/2010/main" val="152505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71902B3-8BC8-85F8-26CE-8DE962E14966}"/>
              </a:ext>
            </a:extLst>
          </p:cNvPr>
          <p:cNvSpPr>
            <a:spLocks noGrp="1"/>
          </p:cNvSpPr>
          <p:nvPr>
            <p:ph type="sldNum" sz="quarter" idx="10"/>
          </p:nvPr>
        </p:nvSpPr>
        <p:spPr>
          <a:ln/>
        </p:spPr>
        <p:txBody>
          <a:bodyPr/>
          <a:lstStyle>
            <a:lvl1pPr>
              <a:defRPr/>
            </a:lvl1pPr>
          </a:lstStyle>
          <a:p>
            <a:fld id="{329D8127-EC0E-49D7-A124-D68AD08323B9}" type="slidenum">
              <a:rPr lang="en-US" altLang="en-US"/>
              <a:pPr/>
              <a:t>‹#›</a:t>
            </a:fld>
            <a:endParaRPr lang="en-US" altLang="en-US"/>
          </a:p>
        </p:txBody>
      </p:sp>
      <p:sp>
        <p:nvSpPr>
          <p:cNvPr id="3" name="Footer Placeholder 4">
            <a:extLst>
              <a:ext uri="{FF2B5EF4-FFF2-40B4-BE49-F238E27FC236}">
                <a16:creationId xmlns:a16="http://schemas.microsoft.com/office/drawing/2014/main" id="{87A1D5B2-49E9-AC9F-5BB4-7F6EDA713CA1}"/>
              </a:ext>
            </a:extLst>
          </p:cNvPr>
          <p:cNvSpPr>
            <a:spLocks noGrp="1"/>
          </p:cNvSpPr>
          <p:nvPr>
            <p:ph type="ftr" sz="quarter" idx="11"/>
          </p:nvPr>
        </p:nvSpPr>
        <p:spPr/>
        <p:txBody>
          <a:bodyPr/>
          <a:lstStyle>
            <a:lvl1pPr>
              <a:defRPr/>
            </a:lvl1pPr>
          </a:lstStyle>
          <a:p>
            <a:pPr>
              <a:defRPr/>
            </a:pPr>
            <a:endParaRPr lang="en-US"/>
          </a:p>
        </p:txBody>
      </p:sp>
      <p:sp>
        <p:nvSpPr>
          <p:cNvPr id="4" name="Date Placeholder 3">
            <a:extLst>
              <a:ext uri="{FF2B5EF4-FFF2-40B4-BE49-F238E27FC236}">
                <a16:creationId xmlns:a16="http://schemas.microsoft.com/office/drawing/2014/main" id="{26F6A689-806E-33CD-5F20-1321B3AEC111}"/>
              </a:ext>
            </a:extLst>
          </p:cNvPr>
          <p:cNvSpPr>
            <a:spLocks noGrp="1"/>
          </p:cNvSpPr>
          <p:nvPr>
            <p:ph type="dt" sz="half" idx="12"/>
          </p:nvPr>
        </p:nvSpPr>
        <p:spPr/>
        <p:txBody>
          <a:bodyPr/>
          <a:lstStyle>
            <a:lvl1pPr>
              <a:defRPr/>
            </a:lvl1pPr>
          </a:lstStyle>
          <a:p>
            <a:pPr>
              <a:defRPr/>
            </a:pPr>
            <a:fld id="{0C461C7D-3461-494F-B8AC-B4748C7229C4}" type="datetimeFigureOut">
              <a:rPr lang="en-US"/>
              <a:pPr>
                <a:defRPr/>
              </a:pPr>
              <a:t>8/5/2025</a:t>
            </a:fld>
            <a:endParaRPr lang="en-US"/>
          </a:p>
        </p:txBody>
      </p:sp>
    </p:spTree>
    <p:extLst>
      <p:ext uri="{BB962C8B-B14F-4D97-AF65-F5344CB8AC3E}">
        <p14:creationId xmlns:p14="http://schemas.microsoft.com/office/powerpoint/2010/main" val="269202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5">
            <a:extLst>
              <a:ext uri="{FF2B5EF4-FFF2-40B4-BE49-F238E27FC236}">
                <a16:creationId xmlns:a16="http://schemas.microsoft.com/office/drawing/2014/main" id="{CD8A8CCC-4735-EC53-6B02-6F63B35637BE}"/>
              </a:ext>
            </a:extLst>
          </p:cNvPr>
          <p:cNvSpPr>
            <a:spLocks noGrp="1"/>
          </p:cNvSpPr>
          <p:nvPr>
            <p:ph type="sldNum" sz="quarter" idx="14"/>
          </p:nvPr>
        </p:nvSpPr>
        <p:spPr>
          <a:ln/>
        </p:spPr>
        <p:txBody>
          <a:bodyPr/>
          <a:lstStyle>
            <a:lvl1pPr>
              <a:defRPr/>
            </a:lvl1pPr>
          </a:lstStyle>
          <a:p>
            <a:fld id="{8EF2BD4C-DCFB-431C-9701-16A71FF2CC27}" type="slidenum">
              <a:rPr lang="en-US" altLang="en-US"/>
              <a:pPr/>
              <a:t>‹#›</a:t>
            </a:fld>
            <a:endParaRPr lang="en-US" altLang="en-US"/>
          </a:p>
        </p:txBody>
      </p:sp>
      <p:sp>
        <p:nvSpPr>
          <p:cNvPr id="5" name="Footer Placeholder 4">
            <a:extLst>
              <a:ext uri="{FF2B5EF4-FFF2-40B4-BE49-F238E27FC236}">
                <a16:creationId xmlns:a16="http://schemas.microsoft.com/office/drawing/2014/main" id="{3EF21B03-F95B-868C-923B-77503EA425BB}"/>
              </a:ext>
            </a:extLst>
          </p:cNvPr>
          <p:cNvSpPr>
            <a:spLocks noGrp="1"/>
          </p:cNvSpPr>
          <p:nvPr>
            <p:ph type="ftr" sz="quarter" idx="15"/>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50B8BA29-E68F-D7A0-5A06-554073522A88}"/>
              </a:ext>
            </a:extLst>
          </p:cNvPr>
          <p:cNvSpPr>
            <a:spLocks noGrp="1"/>
          </p:cNvSpPr>
          <p:nvPr>
            <p:ph type="dt" sz="half" idx="16"/>
          </p:nvPr>
        </p:nvSpPr>
        <p:spPr/>
        <p:txBody>
          <a:bodyPr/>
          <a:lstStyle>
            <a:lvl1pPr>
              <a:defRPr/>
            </a:lvl1pPr>
          </a:lstStyle>
          <a:p>
            <a:pPr>
              <a:defRPr/>
            </a:pPr>
            <a:fld id="{6386FDFB-6067-406D-930A-7043C534548B}" type="datetimeFigureOut">
              <a:rPr lang="en-US"/>
              <a:pPr>
                <a:defRPr/>
              </a:pPr>
              <a:t>8/5/2025</a:t>
            </a:fld>
            <a:endParaRPr lang="en-US"/>
          </a:p>
        </p:txBody>
      </p:sp>
    </p:spTree>
    <p:extLst>
      <p:ext uri="{BB962C8B-B14F-4D97-AF65-F5344CB8AC3E}">
        <p14:creationId xmlns:p14="http://schemas.microsoft.com/office/powerpoint/2010/main" val="2520233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a:extLst>
              <a:ext uri="{FF2B5EF4-FFF2-40B4-BE49-F238E27FC236}">
                <a16:creationId xmlns:a16="http://schemas.microsoft.com/office/drawing/2014/main" id="{A5D92289-0815-8501-8E3D-F25558FC6786}"/>
              </a:ext>
            </a:extLst>
          </p:cNvPr>
          <p:cNvSpPr>
            <a:spLocks noGrp="1"/>
          </p:cNvSpPr>
          <p:nvPr>
            <p:ph type="sldNum" sz="quarter" idx="10"/>
          </p:nvPr>
        </p:nvSpPr>
        <p:spPr>
          <a:ln/>
        </p:spPr>
        <p:txBody>
          <a:bodyPr/>
          <a:lstStyle>
            <a:lvl1pPr>
              <a:defRPr/>
            </a:lvl1pPr>
          </a:lstStyle>
          <a:p>
            <a:fld id="{97BA692B-A0DC-4E98-A2B3-A897A3A607F4}" type="slidenum">
              <a:rPr lang="en-US" altLang="en-US"/>
              <a:pPr/>
              <a:t>‹#›</a:t>
            </a:fld>
            <a:endParaRPr lang="en-US" altLang="en-US"/>
          </a:p>
        </p:txBody>
      </p:sp>
      <p:sp>
        <p:nvSpPr>
          <p:cNvPr id="6" name="Footer Placeholder 4">
            <a:extLst>
              <a:ext uri="{FF2B5EF4-FFF2-40B4-BE49-F238E27FC236}">
                <a16:creationId xmlns:a16="http://schemas.microsoft.com/office/drawing/2014/main" id="{3D71027C-4BF1-D747-AC6E-286FB9B617EE}"/>
              </a:ext>
            </a:extLst>
          </p:cNvPr>
          <p:cNvSpPr>
            <a:spLocks noGrp="1"/>
          </p:cNvSpPr>
          <p:nvPr>
            <p:ph type="ftr" sz="quarter" idx="11"/>
          </p:nvPr>
        </p:nvSpPr>
        <p:spPr/>
        <p:txBody>
          <a:bodyPr/>
          <a:lstStyle>
            <a:lvl1pPr>
              <a:defRPr/>
            </a:lvl1pPr>
          </a:lstStyle>
          <a:p>
            <a:pPr>
              <a:defRPr/>
            </a:pPr>
            <a:endParaRPr lang="en-US"/>
          </a:p>
        </p:txBody>
      </p:sp>
      <p:sp>
        <p:nvSpPr>
          <p:cNvPr id="7" name="Date Placeholder 3">
            <a:extLst>
              <a:ext uri="{FF2B5EF4-FFF2-40B4-BE49-F238E27FC236}">
                <a16:creationId xmlns:a16="http://schemas.microsoft.com/office/drawing/2014/main" id="{F439E551-E289-29CE-E689-86FDDB3DB95C}"/>
              </a:ext>
            </a:extLst>
          </p:cNvPr>
          <p:cNvSpPr>
            <a:spLocks noGrp="1"/>
          </p:cNvSpPr>
          <p:nvPr>
            <p:ph type="dt" sz="half" idx="12"/>
          </p:nvPr>
        </p:nvSpPr>
        <p:spPr/>
        <p:txBody>
          <a:bodyPr/>
          <a:lstStyle>
            <a:lvl1pPr>
              <a:defRPr/>
            </a:lvl1pPr>
          </a:lstStyle>
          <a:p>
            <a:pPr>
              <a:defRPr/>
            </a:pPr>
            <a:fld id="{C1F7D2E9-18B7-4F66-85F5-B79C7D009CE0}" type="datetimeFigureOut">
              <a:rPr lang="en-US"/>
              <a:pPr>
                <a:defRPr/>
              </a:pPr>
              <a:t>8/5/2025</a:t>
            </a:fld>
            <a:endParaRPr lang="en-US"/>
          </a:p>
        </p:txBody>
      </p:sp>
    </p:spTree>
    <p:extLst>
      <p:ext uri="{BB962C8B-B14F-4D97-AF65-F5344CB8AC3E}">
        <p14:creationId xmlns:p14="http://schemas.microsoft.com/office/powerpoint/2010/main" val="3348663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09EB5457-7F7C-B23F-7A9F-E05D24342EBC}"/>
              </a:ext>
            </a:extLst>
          </p:cNvPr>
          <p:cNvSpPr>
            <a:spLocks noGrp="1"/>
          </p:cNvSpPr>
          <p:nvPr>
            <p:ph type="sldNum" sz="quarter" idx="10"/>
          </p:nvPr>
        </p:nvSpPr>
        <p:spPr>
          <a:ln/>
        </p:spPr>
        <p:txBody>
          <a:bodyPr/>
          <a:lstStyle>
            <a:lvl1pPr>
              <a:defRPr/>
            </a:lvl1pPr>
          </a:lstStyle>
          <a:p>
            <a:fld id="{80BA5D61-4120-40F3-AF55-3C2B5E995141}" type="slidenum">
              <a:rPr lang="en-US" altLang="en-US"/>
              <a:pPr/>
              <a:t>‹#›</a:t>
            </a:fld>
            <a:endParaRPr lang="en-US" altLang="en-US"/>
          </a:p>
        </p:txBody>
      </p:sp>
      <p:sp>
        <p:nvSpPr>
          <p:cNvPr id="5" name="Footer Placeholder 4">
            <a:extLst>
              <a:ext uri="{FF2B5EF4-FFF2-40B4-BE49-F238E27FC236}">
                <a16:creationId xmlns:a16="http://schemas.microsoft.com/office/drawing/2014/main" id="{D537BC13-3507-1B98-9846-62646F987F29}"/>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168722CA-6577-AD50-9F81-3F1832A96A10}"/>
              </a:ext>
            </a:extLst>
          </p:cNvPr>
          <p:cNvSpPr>
            <a:spLocks noGrp="1"/>
          </p:cNvSpPr>
          <p:nvPr>
            <p:ph type="dt" sz="half" idx="12"/>
          </p:nvPr>
        </p:nvSpPr>
        <p:spPr/>
        <p:txBody>
          <a:bodyPr/>
          <a:lstStyle>
            <a:lvl1pPr>
              <a:defRPr/>
            </a:lvl1pPr>
          </a:lstStyle>
          <a:p>
            <a:pPr>
              <a:defRPr/>
            </a:pPr>
            <a:fld id="{6D5E19B1-5F85-4FAB-9264-9F49E22AFA3A}" type="datetimeFigureOut">
              <a:rPr lang="en-US"/>
              <a:pPr>
                <a:defRPr/>
              </a:pPr>
              <a:t>8/5/2025</a:t>
            </a:fld>
            <a:endParaRPr lang="en-US"/>
          </a:p>
        </p:txBody>
      </p:sp>
    </p:spTree>
    <p:extLst>
      <p:ext uri="{BB962C8B-B14F-4D97-AF65-F5344CB8AC3E}">
        <p14:creationId xmlns:p14="http://schemas.microsoft.com/office/powerpoint/2010/main" val="3071212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FAF2CBC4-907F-2385-F3F0-AEE89EE94B47}"/>
              </a:ext>
            </a:extLst>
          </p:cNvPr>
          <p:cNvSpPr>
            <a:spLocks noGrp="1"/>
          </p:cNvSpPr>
          <p:nvPr>
            <p:ph type="sldNum" sz="quarter" idx="10"/>
          </p:nvPr>
        </p:nvSpPr>
        <p:spPr>
          <a:ln/>
        </p:spPr>
        <p:txBody>
          <a:bodyPr/>
          <a:lstStyle>
            <a:lvl1pPr>
              <a:defRPr/>
            </a:lvl1pPr>
          </a:lstStyle>
          <a:p>
            <a:fld id="{FF41FB59-83F7-4709-9757-D8B63CCFE17C}" type="slidenum">
              <a:rPr lang="en-US" altLang="en-US"/>
              <a:pPr/>
              <a:t>‹#›</a:t>
            </a:fld>
            <a:endParaRPr lang="en-US" altLang="en-US"/>
          </a:p>
        </p:txBody>
      </p:sp>
      <p:sp>
        <p:nvSpPr>
          <p:cNvPr id="5" name="Footer Placeholder 4">
            <a:extLst>
              <a:ext uri="{FF2B5EF4-FFF2-40B4-BE49-F238E27FC236}">
                <a16:creationId xmlns:a16="http://schemas.microsoft.com/office/drawing/2014/main" id="{E94B7900-F268-6D3E-70B9-01DB88956309}"/>
              </a:ext>
            </a:extLst>
          </p:cNvPr>
          <p:cNvSpPr>
            <a:spLocks noGrp="1"/>
          </p:cNvSpPr>
          <p:nvPr>
            <p:ph type="ftr" sz="quarter" idx="11"/>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E6BC907F-3C42-DCD4-7D24-2245D2759B0F}"/>
              </a:ext>
            </a:extLst>
          </p:cNvPr>
          <p:cNvSpPr>
            <a:spLocks noGrp="1"/>
          </p:cNvSpPr>
          <p:nvPr>
            <p:ph type="dt" sz="half" idx="12"/>
          </p:nvPr>
        </p:nvSpPr>
        <p:spPr/>
        <p:txBody>
          <a:bodyPr/>
          <a:lstStyle>
            <a:lvl1pPr>
              <a:defRPr/>
            </a:lvl1pPr>
          </a:lstStyle>
          <a:p>
            <a:pPr>
              <a:defRPr/>
            </a:pPr>
            <a:fld id="{EFC906A8-5DB3-4DCB-90D7-DC4439682AC8}" type="datetimeFigureOut">
              <a:rPr lang="en-US"/>
              <a:pPr>
                <a:defRPr/>
              </a:pPr>
              <a:t>8/5/2025</a:t>
            </a:fld>
            <a:endParaRPr lang="en-US"/>
          </a:p>
        </p:txBody>
      </p:sp>
    </p:spTree>
    <p:extLst>
      <p:ext uri="{BB962C8B-B14F-4D97-AF65-F5344CB8AC3E}">
        <p14:creationId xmlns:p14="http://schemas.microsoft.com/office/powerpoint/2010/main" val="3731979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D11D6D-AFAA-5996-5638-1A09A96A87C0}"/>
              </a:ext>
            </a:extLst>
          </p:cNvPr>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dirty="0"/>
              <a:t>Click to edit Master title style</a:t>
            </a:r>
          </a:p>
        </p:txBody>
      </p:sp>
      <p:sp>
        <p:nvSpPr>
          <p:cNvPr id="1027" name="Text Placeholder 2">
            <a:extLst>
              <a:ext uri="{FF2B5EF4-FFF2-40B4-BE49-F238E27FC236}">
                <a16:creationId xmlns:a16="http://schemas.microsoft.com/office/drawing/2014/main" id="{BB1CF054-F547-124B-4452-5CFA68CC7B2B}"/>
              </a:ext>
            </a:extLst>
          </p:cNvPr>
          <p:cNvSpPr>
            <a:spLocks noGrp="1"/>
          </p:cNvSpPr>
          <p:nvPr>
            <p:ph type="body" idx="1"/>
          </p:nvPr>
        </p:nvSpPr>
        <p:spPr bwMode="auto">
          <a:xfrm>
            <a:off x="457200" y="1600200"/>
            <a:ext cx="7620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5D279FDF-8C6C-F449-7E92-030F11C90AFD}"/>
              </a:ext>
            </a:extLst>
          </p:cNvPr>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9AC400F4-7A10-C832-A170-A22350E7FFF6}"/>
              </a:ext>
            </a:extLst>
          </p:cNvPr>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A56FA34A-1E92-CFE7-D432-DCC157176E52}"/>
              </a:ext>
            </a:extLst>
          </p:cNvPr>
          <p:cNvSpPr>
            <a:spLocks noGrp="1"/>
          </p:cNvSpPr>
          <p:nvPr>
            <p:ph type="sldNum" sz="quarter" idx="4"/>
          </p:nvPr>
        </p:nvSpPr>
        <p:spPr>
          <a:xfrm>
            <a:off x="8531225" y="5648325"/>
            <a:ext cx="549275" cy="396875"/>
          </a:xfrm>
          <a:prstGeom prst="bracketPair">
            <a:avLst>
              <a:gd name="adj" fmla="val 17949"/>
            </a:avLst>
          </a:prstGeom>
          <a:ln w="19050">
            <a:solidFill>
              <a:srgbClr val="FFFFFF"/>
            </a:solidFill>
          </a:ln>
        </p:spPr>
        <p:txBody>
          <a:bodyPr vert="horz" wrap="square" lIns="0" tIns="0" rIns="0" bIns="0" numCol="1" anchor="ctr" anchorCtr="0" compatLnSpc="1">
            <a:prstTxWarp prst="textNoShape">
              <a:avLst/>
            </a:prstTxWarp>
          </a:bodyPr>
          <a:lstStyle>
            <a:lvl1pPr algn="ctr">
              <a:defRPr>
                <a:solidFill>
                  <a:srgbClr val="FFFFFF"/>
                </a:solidFill>
              </a:defRPr>
            </a:lvl1pPr>
          </a:lstStyle>
          <a:p>
            <a:fld id="{205AF2AC-AF21-4196-A989-A40074769431}" type="slidenum">
              <a:rPr lang="en-US" altLang="en-US"/>
              <a:pPr/>
              <a:t>‹#›</a:t>
            </a:fld>
            <a:endParaRPr lang="en-US" altLang="en-US"/>
          </a:p>
        </p:txBody>
      </p:sp>
      <p:sp>
        <p:nvSpPr>
          <p:cNvPr id="5" name="Footer Placeholder 4">
            <a:extLst>
              <a:ext uri="{FF2B5EF4-FFF2-40B4-BE49-F238E27FC236}">
                <a16:creationId xmlns:a16="http://schemas.microsoft.com/office/drawing/2014/main" id="{C614E5CF-94BA-94E5-E4FD-578C4133FCD2}"/>
              </a:ext>
            </a:extLst>
          </p:cNvPr>
          <p:cNvSpPr>
            <a:spLocks noGrp="1"/>
          </p:cNvSpPr>
          <p:nvPr>
            <p:ph type="ftr" sz="quarter" idx="3"/>
          </p:nvPr>
        </p:nvSpPr>
        <p:spPr>
          <a:xfrm rot="16200000">
            <a:off x="7587456" y="4048919"/>
            <a:ext cx="2366963" cy="365125"/>
          </a:xfrm>
          <a:prstGeom prst="rect">
            <a:avLst/>
          </a:prstGeom>
        </p:spPr>
        <p:txBody>
          <a:bodyPr vert="horz" lIns="91440" tIns="45720" rIns="91440" bIns="45720" rtlCol="0" anchor="ctr"/>
          <a:lstStyle>
            <a:lvl1pPr algn="r" fontAlgn="auto">
              <a:spcBef>
                <a:spcPts val="0"/>
              </a:spcBef>
              <a:spcAft>
                <a:spcPts val="0"/>
              </a:spcAft>
              <a:defRPr sz="1200">
                <a:solidFill>
                  <a:schemeClr val="bg2"/>
                </a:solidFill>
                <a:latin typeface="+mn-lt"/>
                <a:cs typeface="+mn-cs"/>
              </a:defRPr>
            </a:lvl1pPr>
          </a:lstStyle>
          <a:p>
            <a:pPr>
              <a:defRPr/>
            </a:pPr>
            <a:endParaRPr lang="en-US"/>
          </a:p>
        </p:txBody>
      </p:sp>
      <p:sp>
        <p:nvSpPr>
          <p:cNvPr id="4" name="Date Placeholder 3">
            <a:extLst>
              <a:ext uri="{FF2B5EF4-FFF2-40B4-BE49-F238E27FC236}">
                <a16:creationId xmlns:a16="http://schemas.microsoft.com/office/drawing/2014/main" id="{754A9005-1433-35BB-6A3E-DC4BCC212D4E}"/>
              </a:ext>
            </a:extLst>
          </p:cNvPr>
          <p:cNvSpPr>
            <a:spLocks noGrp="1"/>
          </p:cNvSpPr>
          <p:nvPr>
            <p:ph type="dt" sz="half" idx="2"/>
          </p:nvPr>
        </p:nvSpPr>
        <p:spPr>
          <a:xfrm rot="16200000">
            <a:off x="7551738" y="1646237"/>
            <a:ext cx="24384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2"/>
                </a:solidFill>
                <a:latin typeface="+mn-lt"/>
                <a:cs typeface="+mn-cs"/>
              </a:defRPr>
            </a:lvl1pPr>
          </a:lstStyle>
          <a:p>
            <a:pPr>
              <a:defRPr/>
            </a:pPr>
            <a:fld id="{5FF7FA11-D362-4B5F-8F7C-871C6E176081}" type="datetimeFigureOut">
              <a:rPr lang="en-US"/>
              <a:pPr>
                <a:defRPr/>
              </a:pPr>
              <a:t>8/5/2025</a:t>
            </a:fld>
            <a:endParaRPr lang="en-US"/>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rtl="0" fontAlgn="base">
        <a:spcBef>
          <a:spcPct val="0"/>
        </a:spcBef>
        <a:spcAft>
          <a:spcPct val="0"/>
        </a:spcAft>
        <a:defRPr sz="4600" b="1" kern="1200" spc="-100">
          <a:solidFill>
            <a:schemeClr val="tx2"/>
          </a:solidFill>
          <a:latin typeface="+mj-lt"/>
          <a:ea typeface="+mj-ea"/>
          <a:cs typeface="+mj-cs"/>
        </a:defRPr>
      </a:lvl1pPr>
      <a:lvl2pPr algn="l" rtl="0" fontAlgn="base">
        <a:spcBef>
          <a:spcPct val="0"/>
        </a:spcBef>
        <a:spcAft>
          <a:spcPct val="0"/>
        </a:spcAft>
        <a:defRPr sz="4600" b="1">
          <a:solidFill>
            <a:schemeClr val="tx2"/>
          </a:solidFill>
          <a:latin typeface="Cambria" panose="02040503050406030204" pitchFamily="18" charset="0"/>
        </a:defRPr>
      </a:lvl2pPr>
      <a:lvl3pPr algn="l" rtl="0" fontAlgn="base">
        <a:spcBef>
          <a:spcPct val="0"/>
        </a:spcBef>
        <a:spcAft>
          <a:spcPct val="0"/>
        </a:spcAft>
        <a:defRPr sz="4600" b="1">
          <a:solidFill>
            <a:schemeClr val="tx2"/>
          </a:solidFill>
          <a:latin typeface="Cambria" panose="02040503050406030204" pitchFamily="18" charset="0"/>
        </a:defRPr>
      </a:lvl3pPr>
      <a:lvl4pPr algn="l" rtl="0" fontAlgn="base">
        <a:spcBef>
          <a:spcPct val="0"/>
        </a:spcBef>
        <a:spcAft>
          <a:spcPct val="0"/>
        </a:spcAft>
        <a:defRPr sz="4600" b="1">
          <a:solidFill>
            <a:schemeClr val="tx2"/>
          </a:solidFill>
          <a:latin typeface="Cambria" panose="02040503050406030204" pitchFamily="18" charset="0"/>
        </a:defRPr>
      </a:lvl4pPr>
      <a:lvl5pPr algn="l" rtl="0" fontAlgn="base">
        <a:spcBef>
          <a:spcPct val="0"/>
        </a:spcBef>
        <a:spcAft>
          <a:spcPct val="0"/>
        </a:spcAft>
        <a:defRPr sz="4600" b="1">
          <a:solidFill>
            <a:schemeClr val="tx2"/>
          </a:solidFill>
          <a:latin typeface="Cambria" panose="02040503050406030204" pitchFamily="18" charset="0"/>
        </a:defRPr>
      </a:lvl5pPr>
      <a:lvl6pPr marL="457200" algn="l" rtl="0" fontAlgn="base">
        <a:spcBef>
          <a:spcPct val="0"/>
        </a:spcBef>
        <a:spcAft>
          <a:spcPct val="0"/>
        </a:spcAft>
        <a:defRPr sz="4600" b="1">
          <a:solidFill>
            <a:schemeClr val="tx2"/>
          </a:solidFill>
          <a:latin typeface="Cambria" panose="02040503050406030204" pitchFamily="18" charset="0"/>
        </a:defRPr>
      </a:lvl6pPr>
      <a:lvl7pPr marL="914400" algn="l" rtl="0" fontAlgn="base">
        <a:spcBef>
          <a:spcPct val="0"/>
        </a:spcBef>
        <a:spcAft>
          <a:spcPct val="0"/>
        </a:spcAft>
        <a:defRPr sz="4600" b="1">
          <a:solidFill>
            <a:schemeClr val="tx2"/>
          </a:solidFill>
          <a:latin typeface="Cambria" panose="02040503050406030204" pitchFamily="18" charset="0"/>
        </a:defRPr>
      </a:lvl7pPr>
      <a:lvl8pPr marL="1371600" algn="l" rtl="0" fontAlgn="base">
        <a:spcBef>
          <a:spcPct val="0"/>
        </a:spcBef>
        <a:spcAft>
          <a:spcPct val="0"/>
        </a:spcAft>
        <a:defRPr sz="4600" b="1">
          <a:solidFill>
            <a:schemeClr val="tx2"/>
          </a:solidFill>
          <a:latin typeface="Cambria" panose="02040503050406030204" pitchFamily="18" charset="0"/>
        </a:defRPr>
      </a:lvl8pPr>
      <a:lvl9pPr marL="1828800" algn="l" rtl="0" fontAlgn="base">
        <a:spcBef>
          <a:spcPct val="0"/>
        </a:spcBef>
        <a:spcAft>
          <a:spcPct val="0"/>
        </a:spcAft>
        <a:defRPr sz="4600" b="1">
          <a:solidFill>
            <a:schemeClr val="tx2"/>
          </a:solidFill>
          <a:latin typeface="Cambria" panose="02040503050406030204" pitchFamily="18" charset="0"/>
        </a:defRPr>
      </a:lvl9pPr>
    </p:titleStyle>
    <p:bodyStyle>
      <a:lvl1pPr marL="342900" indent="-228600" algn="l" rtl="0" fontAlgn="base">
        <a:spcBef>
          <a:spcPct val="20000"/>
        </a:spcBef>
        <a:spcAft>
          <a:spcPct val="0"/>
        </a:spcAft>
        <a:buClr>
          <a:schemeClr val="accent1"/>
        </a:buClr>
        <a:buFont typeface="Arial" panose="020B0604020202020204" pitchFamily="34" charset="0"/>
        <a:buChar char="•"/>
        <a:defRPr sz="2200" kern="1200">
          <a:solidFill>
            <a:schemeClr val="tx1"/>
          </a:solidFill>
          <a:latin typeface="+mn-lt"/>
          <a:ea typeface="+mn-ea"/>
          <a:cs typeface="+mn-cs"/>
        </a:defRPr>
      </a:lvl1pPr>
      <a:lvl2pPr marL="639763" indent="-228600" algn="l" rtl="0" fontAlgn="base">
        <a:spcBef>
          <a:spcPct val="20000"/>
        </a:spcBef>
        <a:spcAft>
          <a:spcPct val="0"/>
        </a:spcAft>
        <a:buClr>
          <a:schemeClr val="accent2"/>
        </a:buClr>
        <a:buFont typeface="Arial" panose="020B0604020202020204" pitchFamily="34" charset="0"/>
        <a:buChar char="•"/>
        <a:defRPr sz="2000" kern="1200">
          <a:solidFill>
            <a:schemeClr val="tx1"/>
          </a:solidFill>
          <a:latin typeface="+mn-lt"/>
          <a:ea typeface="+mn-ea"/>
          <a:cs typeface="+mn-cs"/>
        </a:defRPr>
      </a:lvl2pPr>
      <a:lvl3pPr marL="1004888" indent="-228600" algn="l" rtl="0" fontAlgn="base">
        <a:spcBef>
          <a:spcPct val="20000"/>
        </a:spcBef>
        <a:spcAft>
          <a:spcPct val="0"/>
        </a:spcAft>
        <a:buClr>
          <a:srgbClr val="0BD0D9"/>
        </a:buClr>
        <a:buFont typeface="Arial" panose="020B0604020202020204" pitchFamily="34" charset="0"/>
        <a:buChar char="•"/>
        <a:defRPr kern="1200">
          <a:solidFill>
            <a:schemeClr val="tx1"/>
          </a:solidFill>
          <a:latin typeface="+mn-lt"/>
          <a:ea typeface="+mn-ea"/>
          <a:cs typeface="+mn-cs"/>
        </a:defRPr>
      </a:lvl3pPr>
      <a:lvl4pPr marL="1279525" indent="-228600" algn="l" rtl="0" fontAlgn="base">
        <a:spcBef>
          <a:spcPct val="20000"/>
        </a:spcBef>
        <a:spcAft>
          <a:spcPct val="0"/>
        </a:spcAft>
        <a:buClr>
          <a:srgbClr val="10CF9B"/>
        </a:buClr>
        <a:buFont typeface="Arial" panose="020B0604020202020204" pitchFamily="34" charset="0"/>
        <a:buChar char="•"/>
        <a:defRPr sz="1600" kern="1200">
          <a:solidFill>
            <a:schemeClr val="tx1"/>
          </a:solidFill>
          <a:latin typeface="+mn-lt"/>
          <a:ea typeface="+mn-ea"/>
          <a:cs typeface="+mn-cs"/>
        </a:defRPr>
      </a:lvl4pPr>
      <a:lvl5pPr marL="1554163" indent="-228600" algn="l" rtl="0" fontAlgn="base">
        <a:spcBef>
          <a:spcPct val="20000"/>
        </a:spcBef>
        <a:spcAft>
          <a:spcPct val="0"/>
        </a:spcAft>
        <a:buClr>
          <a:srgbClr val="7CCA62"/>
        </a:buClr>
        <a:buFont typeface="Arial" panose="020B0604020202020204" pitchFamily="34" charset="0"/>
        <a:buChar char="•"/>
        <a:defRPr sz="1400" kern="120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FEB3D-0D3A-3BC7-E6D5-0123E99D8F78}"/>
              </a:ext>
            </a:extLst>
          </p:cNvPr>
          <p:cNvSpPr>
            <a:spLocks noGrp="1"/>
          </p:cNvSpPr>
          <p:nvPr>
            <p:ph type="ctrTitle"/>
          </p:nvPr>
        </p:nvSpPr>
        <p:spPr/>
        <p:txBody>
          <a:bodyPr/>
          <a:lstStyle/>
          <a:p>
            <a:pPr algn="ctr" fontAlgn="auto">
              <a:spcAft>
                <a:spcPts val="0"/>
              </a:spcAft>
              <a:defRPr/>
            </a:pPr>
            <a:r>
              <a:rPr lang="en-US" sz="6000" dirty="0"/>
              <a:t>Software Process Models</a:t>
            </a:r>
            <a:endParaRPr lang="en-GB"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A93E2C9-5082-CAC8-C266-40384B3FEF9B}"/>
              </a:ext>
            </a:extLst>
          </p:cNvPr>
          <p:cNvSpPr>
            <a:spLocks noGrp="1" noChangeArrowheads="1"/>
          </p:cNvSpPr>
          <p:nvPr>
            <p:ph type="title"/>
          </p:nvPr>
        </p:nvSpPr>
        <p:spPr/>
        <p:txBody>
          <a:bodyPr/>
          <a:lstStyle/>
          <a:p>
            <a:pPr fontAlgn="auto">
              <a:spcAft>
                <a:spcPts val="0"/>
              </a:spcAft>
              <a:defRPr/>
            </a:pPr>
            <a:r>
              <a:rPr lang="en-US" altLang="en-US" sz="4800" dirty="0"/>
              <a:t>Overview</a:t>
            </a:r>
          </a:p>
        </p:txBody>
      </p:sp>
      <p:sp>
        <p:nvSpPr>
          <p:cNvPr id="3075" name="Rectangle 3">
            <a:extLst>
              <a:ext uri="{FF2B5EF4-FFF2-40B4-BE49-F238E27FC236}">
                <a16:creationId xmlns:a16="http://schemas.microsoft.com/office/drawing/2014/main" id="{4EB34C63-111C-1AA7-B1D3-27AE6BD52ED8}"/>
              </a:ext>
            </a:extLst>
          </p:cNvPr>
          <p:cNvSpPr>
            <a:spLocks noGrp="1" noChangeArrowheads="1"/>
          </p:cNvSpPr>
          <p:nvPr>
            <p:ph type="body" idx="1"/>
          </p:nvPr>
        </p:nvSpPr>
        <p:spPr/>
        <p:txBody>
          <a:bodyPr/>
          <a:lstStyle/>
          <a:p>
            <a:pPr>
              <a:lnSpc>
                <a:spcPct val="90000"/>
              </a:lnSpc>
            </a:pPr>
            <a:r>
              <a:rPr lang="en-US" altLang="en-US" sz="2800"/>
              <a:t>Different process models</a:t>
            </a:r>
          </a:p>
          <a:p>
            <a:pPr lvl="1">
              <a:lnSpc>
                <a:spcPct val="90000"/>
              </a:lnSpc>
            </a:pPr>
            <a:r>
              <a:rPr lang="en-US" altLang="en-US" sz="2400"/>
              <a:t>Build-and-fix model</a:t>
            </a:r>
          </a:p>
          <a:p>
            <a:pPr lvl="1">
              <a:lnSpc>
                <a:spcPct val="90000"/>
              </a:lnSpc>
            </a:pPr>
            <a:r>
              <a:rPr lang="en-US" altLang="en-US" sz="2400"/>
              <a:t>Waterfall model</a:t>
            </a:r>
          </a:p>
          <a:p>
            <a:pPr lvl="1">
              <a:lnSpc>
                <a:spcPct val="90000"/>
              </a:lnSpc>
            </a:pPr>
            <a:r>
              <a:rPr lang="en-US" altLang="en-US" sz="2400"/>
              <a:t>Incremental model</a:t>
            </a:r>
          </a:p>
          <a:p>
            <a:pPr lvl="1">
              <a:lnSpc>
                <a:spcPct val="90000"/>
              </a:lnSpc>
            </a:pPr>
            <a:r>
              <a:rPr lang="en-US" altLang="en-US" sz="2400"/>
              <a:t>Evolutionary process models</a:t>
            </a:r>
          </a:p>
          <a:p>
            <a:pPr lvl="2">
              <a:lnSpc>
                <a:spcPct val="90000"/>
              </a:lnSpc>
            </a:pPr>
            <a:r>
              <a:rPr lang="en-US" altLang="en-US" sz="2000"/>
              <a:t>Rapid prototyping model</a:t>
            </a:r>
          </a:p>
          <a:p>
            <a:pPr lvl="2">
              <a:lnSpc>
                <a:spcPct val="90000"/>
              </a:lnSpc>
            </a:pPr>
            <a:r>
              <a:rPr lang="en-US" altLang="en-US" sz="2000"/>
              <a:t>Spiral model</a:t>
            </a:r>
          </a:p>
          <a:p>
            <a:pPr lvl="1">
              <a:lnSpc>
                <a:spcPct val="90000"/>
              </a:lnSpc>
            </a:pPr>
            <a:r>
              <a:rPr lang="en-US" altLang="en-US" sz="2400"/>
              <a:t>Agile process models</a:t>
            </a:r>
          </a:p>
          <a:p>
            <a:pPr lvl="2">
              <a:lnSpc>
                <a:spcPct val="90000"/>
              </a:lnSpc>
            </a:pPr>
            <a:r>
              <a:rPr lang="en-US" altLang="en-US" sz="2000"/>
              <a:t>Extreme programming</a:t>
            </a:r>
          </a:p>
          <a:p>
            <a:pPr lvl="1">
              <a:lnSpc>
                <a:spcPct val="90000"/>
              </a:lnSpc>
            </a:pPr>
            <a:r>
              <a:rPr lang="en-US" altLang="en-US" sz="2400"/>
              <a:t>Object-oriented life-cycle models</a:t>
            </a:r>
          </a:p>
          <a:p>
            <a:pPr lvl="2">
              <a:lnSpc>
                <a:spcPct val="90000"/>
              </a:lnSpc>
            </a:pPr>
            <a:r>
              <a:rPr lang="en-US" altLang="en-US" sz="2000"/>
              <a:t>Unified Process </a:t>
            </a:r>
          </a:p>
          <a:p>
            <a:pPr>
              <a:lnSpc>
                <a:spcPct val="90000"/>
              </a:lnSpc>
            </a:pPr>
            <a:r>
              <a:rPr lang="en-US" altLang="en-US" sz="2800"/>
              <a:t>Criteria for deciding on a model</a:t>
            </a:r>
          </a:p>
          <a:p>
            <a:pPr>
              <a:lnSpc>
                <a:spcPct val="90000"/>
              </a:lnSpc>
            </a:pPr>
            <a:endParaRPr lang="en-US"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BDD3E98-F1D8-E87F-0967-CE23FF353A12}"/>
              </a:ext>
            </a:extLst>
          </p:cNvPr>
          <p:cNvSpPr>
            <a:spLocks noGrp="1" noChangeArrowheads="1"/>
          </p:cNvSpPr>
          <p:nvPr>
            <p:ph type="title"/>
          </p:nvPr>
        </p:nvSpPr>
        <p:spPr/>
        <p:txBody>
          <a:bodyPr/>
          <a:lstStyle/>
          <a:p>
            <a:pPr fontAlgn="auto">
              <a:spcAft>
                <a:spcPts val="0"/>
              </a:spcAft>
              <a:defRPr/>
            </a:pPr>
            <a:br>
              <a:rPr lang="en-US" altLang="en-US" sz="3600" dirty="0"/>
            </a:br>
            <a:r>
              <a:rPr lang="en-US" altLang="en-US" sz="4800" dirty="0"/>
              <a:t>Software Process Models</a:t>
            </a:r>
            <a:br>
              <a:rPr lang="en-US" altLang="en-US" sz="4000" dirty="0"/>
            </a:br>
            <a:endParaRPr lang="en-US" altLang="en-US" sz="4000" dirty="0"/>
          </a:p>
        </p:txBody>
      </p:sp>
      <p:sp>
        <p:nvSpPr>
          <p:cNvPr id="4099" name="Rectangle 3">
            <a:extLst>
              <a:ext uri="{FF2B5EF4-FFF2-40B4-BE49-F238E27FC236}">
                <a16:creationId xmlns:a16="http://schemas.microsoft.com/office/drawing/2014/main" id="{B4E8E13A-BC7B-4EC6-5BBE-F068912FE26C}"/>
              </a:ext>
            </a:extLst>
          </p:cNvPr>
          <p:cNvSpPr>
            <a:spLocks noGrp="1" noChangeArrowheads="1"/>
          </p:cNvSpPr>
          <p:nvPr>
            <p:ph type="body" idx="1"/>
          </p:nvPr>
        </p:nvSpPr>
        <p:spPr/>
        <p:txBody>
          <a:bodyPr/>
          <a:lstStyle/>
          <a:p>
            <a:r>
              <a:rPr lang="en-US" altLang="en-US" sz="2600"/>
              <a:t>Process model (Life-cycle model) -steps through which the product progresses </a:t>
            </a:r>
          </a:p>
          <a:p>
            <a:pPr lvl="1"/>
            <a:r>
              <a:rPr lang="en-US" altLang="en-US" sz="2200"/>
              <a:t>Requirements phase</a:t>
            </a:r>
          </a:p>
          <a:p>
            <a:pPr lvl="1"/>
            <a:r>
              <a:rPr lang="en-US" altLang="en-US" sz="2200"/>
              <a:t>Specification phase</a:t>
            </a:r>
          </a:p>
          <a:p>
            <a:pPr lvl="1"/>
            <a:r>
              <a:rPr lang="en-US" altLang="en-US" sz="2200"/>
              <a:t>Design phase</a:t>
            </a:r>
          </a:p>
          <a:p>
            <a:pPr lvl="1"/>
            <a:r>
              <a:rPr lang="en-US" altLang="en-US" sz="2200"/>
              <a:t>Implementation phase</a:t>
            </a:r>
          </a:p>
          <a:p>
            <a:pPr lvl="1"/>
            <a:r>
              <a:rPr lang="en-US" altLang="en-US" sz="2200"/>
              <a:t>Integration phase</a:t>
            </a:r>
          </a:p>
          <a:p>
            <a:pPr lvl="1"/>
            <a:r>
              <a:rPr lang="en-US" altLang="en-US" sz="2200"/>
              <a:t>Maintenance phase</a:t>
            </a:r>
          </a:p>
          <a:p>
            <a:pPr lvl="1"/>
            <a:r>
              <a:rPr lang="en-US" altLang="en-US" sz="2200"/>
              <a:t>Retirement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2BF98-D108-1B94-E4CF-A94E0529E085}"/>
              </a:ext>
            </a:extLst>
          </p:cNvPr>
          <p:cNvSpPr>
            <a:spLocks noGrp="1"/>
          </p:cNvSpPr>
          <p:nvPr>
            <p:ph type="title"/>
          </p:nvPr>
        </p:nvSpPr>
        <p:spPr/>
        <p:txBody>
          <a:bodyPr/>
          <a:lstStyle/>
          <a:p>
            <a:pPr fontAlgn="auto">
              <a:spcAft>
                <a:spcPts val="0"/>
              </a:spcAft>
              <a:defRPr/>
            </a:pPr>
            <a:r>
              <a:rPr lang="en-US" altLang="en-US" sz="4800" dirty="0"/>
              <a:t>Software Process Models</a:t>
            </a:r>
            <a:endParaRPr lang="en-GB" sz="4800" dirty="0"/>
          </a:p>
        </p:txBody>
      </p:sp>
      <p:pic>
        <p:nvPicPr>
          <p:cNvPr id="5123" name="Content Placeholder 3">
            <a:extLst>
              <a:ext uri="{FF2B5EF4-FFF2-40B4-BE49-F238E27FC236}">
                <a16:creationId xmlns:a16="http://schemas.microsoft.com/office/drawing/2014/main" id="{342D8FBC-471C-2480-5988-21264D96CB6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66800" y="968375"/>
            <a:ext cx="6400800" cy="6064250"/>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23A7F35-FEF2-2AFF-D9AE-7D73FB239A76}"/>
              </a:ext>
            </a:extLst>
          </p:cNvPr>
          <p:cNvSpPr>
            <a:spLocks noGrp="1" noChangeArrowheads="1"/>
          </p:cNvSpPr>
          <p:nvPr>
            <p:ph type="title"/>
          </p:nvPr>
        </p:nvSpPr>
        <p:spPr/>
        <p:txBody>
          <a:bodyPr/>
          <a:lstStyle/>
          <a:p>
            <a:pPr fontAlgn="auto">
              <a:spcAft>
                <a:spcPts val="0"/>
              </a:spcAft>
              <a:defRPr/>
            </a:pPr>
            <a:r>
              <a:rPr lang="en-US" altLang="en-US" sz="4800" dirty="0"/>
              <a:t>Build-and-Fix Model</a:t>
            </a:r>
          </a:p>
        </p:txBody>
      </p:sp>
      <p:sp>
        <p:nvSpPr>
          <p:cNvPr id="6147" name="Rectangle 3">
            <a:extLst>
              <a:ext uri="{FF2B5EF4-FFF2-40B4-BE49-F238E27FC236}">
                <a16:creationId xmlns:a16="http://schemas.microsoft.com/office/drawing/2014/main" id="{A6030D25-8780-13B8-D685-8CA54E702D3C}"/>
              </a:ext>
            </a:extLst>
          </p:cNvPr>
          <p:cNvSpPr>
            <a:spLocks noGrp="1" noChangeArrowheads="1"/>
          </p:cNvSpPr>
          <p:nvPr>
            <p:ph type="body" idx="1"/>
          </p:nvPr>
        </p:nvSpPr>
        <p:spPr>
          <a:xfrm>
            <a:off x="152400" y="1752600"/>
            <a:ext cx="4953000" cy="4267200"/>
          </a:xfrm>
        </p:spPr>
        <p:txBody>
          <a:bodyPr/>
          <a:lstStyle/>
          <a:p>
            <a:r>
              <a:rPr lang="en-US" altLang="en-US" sz="2600"/>
              <a:t>Problems</a:t>
            </a:r>
          </a:p>
          <a:p>
            <a:pPr lvl="1"/>
            <a:r>
              <a:rPr lang="en-US" altLang="en-US" sz="2200"/>
              <a:t>No specifications</a:t>
            </a:r>
          </a:p>
          <a:p>
            <a:pPr lvl="1"/>
            <a:r>
              <a:rPr lang="en-US" altLang="en-US" sz="2200"/>
              <a:t>No design</a:t>
            </a:r>
          </a:p>
          <a:p>
            <a:r>
              <a:rPr lang="en-US" altLang="en-US" sz="2600"/>
              <a:t>Totally unsatisfactory</a:t>
            </a:r>
          </a:p>
          <a:p>
            <a:pPr lvl="1"/>
            <a:r>
              <a:rPr lang="en-US" altLang="en-US" sz="2200"/>
              <a:t>High cost</a:t>
            </a:r>
          </a:p>
          <a:p>
            <a:pPr lvl="1"/>
            <a:r>
              <a:rPr lang="en-US" altLang="en-US" sz="2200"/>
              <a:t>Difficult maintenance</a:t>
            </a:r>
          </a:p>
          <a:p>
            <a:endParaRPr lang="en-US" altLang="en-US" sz="2600"/>
          </a:p>
        </p:txBody>
      </p:sp>
      <p:pic>
        <p:nvPicPr>
          <p:cNvPr id="6148" name="Picture 4">
            <a:extLst>
              <a:ext uri="{FF2B5EF4-FFF2-40B4-BE49-F238E27FC236}">
                <a16:creationId xmlns:a16="http://schemas.microsoft.com/office/drawing/2014/main" id="{A9174405-EADC-9F75-39C4-30B1D9FB7D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676400"/>
            <a:ext cx="4846638"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60E42-0068-2042-F94C-4C85F1CCA630}"/>
              </a:ext>
            </a:extLst>
          </p:cNvPr>
          <p:cNvSpPr>
            <a:spLocks noGrp="1"/>
          </p:cNvSpPr>
          <p:nvPr>
            <p:ph type="title"/>
          </p:nvPr>
        </p:nvSpPr>
        <p:spPr/>
        <p:txBody>
          <a:bodyPr/>
          <a:lstStyle/>
          <a:p>
            <a:pPr fontAlgn="auto">
              <a:spcAft>
                <a:spcPts val="0"/>
              </a:spcAft>
              <a:defRPr/>
            </a:pPr>
            <a:r>
              <a:rPr lang="en-US" sz="4800" dirty="0"/>
              <a:t>Waterfall Model</a:t>
            </a:r>
            <a:endParaRPr lang="en-GB" sz="4800" dirty="0"/>
          </a:p>
        </p:txBody>
      </p:sp>
      <p:sp>
        <p:nvSpPr>
          <p:cNvPr id="7171" name="Content Placeholder 2">
            <a:extLst>
              <a:ext uri="{FF2B5EF4-FFF2-40B4-BE49-F238E27FC236}">
                <a16:creationId xmlns:a16="http://schemas.microsoft.com/office/drawing/2014/main" id="{B9C5A90E-D7B1-C7D2-F8A5-F69C053493FA}"/>
              </a:ext>
            </a:extLst>
          </p:cNvPr>
          <p:cNvSpPr>
            <a:spLocks noGrp="1"/>
          </p:cNvSpPr>
          <p:nvPr>
            <p:ph idx="1"/>
          </p:nvPr>
        </p:nvSpPr>
        <p:spPr/>
        <p:txBody>
          <a:bodyPr/>
          <a:lstStyle/>
          <a:p>
            <a:r>
              <a:rPr lang="en-US" altLang="en-US" sz="2400"/>
              <a:t>The </a:t>
            </a:r>
            <a:r>
              <a:rPr lang="en-US" altLang="en-US" sz="2400" b="1"/>
              <a:t>waterfall model</a:t>
            </a:r>
            <a:r>
              <a:rPr lang="en-US" altLang="en-US" sz="2400"/>
              <a:t> is a sequential design </a:t>
            </a:r>
            <a:r>
              <a:rPr lang="en-US" altLang="en-US" sz="2400" b="1"/>
              <a:t>process</a:t>
            </a:r>
            <a:r>
              <a:rPr lang="en-US" altLang="en-US" sz="2400"/>
              <a:t> in which progress is seen as flowing steadily downwards (like a </a:t>
            </a:r>
            <a:r>
              <a:rPr lang="en-US" altLang="en-US" sz="2400" b="1"/>
              <a:t>waterfall</a:t>
            </a:r>
            <a:r>
              <a:rPr lang="en-US" altLang="en-US" sz="2400"/>
              <a:t>) through the phases of SDLC.</a:t>
            </a:r>
          </a:p>
          <a:p>
            <a:r>
              <a:rPr lang="en-US" altLang="en-US" sz="2400" b="1"/>
              <a:t>Waterfall model</a:t>
            </a:r>
            <a:r>
              <a:rPr lang="en-US" altLang="en-US" sz="2400"/>
              <a:t> is an </a:t>
            </a:r>
            <a:r>
              <a:rPr lang="en-US" altLang="en-US" sz="2400" b="1"/>
              <a:t>example</a:t>
            </a:r>
            <a:r>
              <a:rPr lang="en-US" altLang="en-US" sz="2400"/>
              <a:t> of a Sequential </a:t>
            </a:r>
            <a:r>
              <a:rPr lang="en-US" altLang="en-US" sz="2400" b="1"/>
              <a:t>model</a:t>
            </a:r>
            <a:r>
              <a:rPr lang="en-US" altLang="en-US" sz="2400"/>
              <a:t>. In this </a:t>
            </a:r>
            <a:r>
              <a:rPr lang="en-US" altLang="en-US" sz="2400" b="1"/>
              <a:t>model</a:t>
            </a:r>
            <a:r>
              <a:rPr lang="en-US" altLang="en-US" sz="2400"/>
              <a:t>, the software </a:t>
            </a:r>
            <a:r>
              <a:rPr lang="en-US" altLang="en-US" sz="2400" b="1"/>
              <a:t>development</a:t>
            </a:r>
            <a:r>
              <a:rPr lang="en-US" altLang="en-US" sz="2400"/>
              <a:t> activity is divided into different phases and each phase consists of a series of tasks and has different objectives. (Refer to Lecture 2)</a:t>
            </a:r>
          </a:p>
          <a:p>
            <a:r>
              <a:rPr lang="en-US" altLang="en-US" sz="2400" b="1"/>
              <a:t>Waterfall model</a:t>
            </a:r>
            <a:r>
              <a:rPr lang="en-US" altLang="en-US" sz="2400"/>
              <a:t> is the pioneer of the SDLC processes.</a:t>
            </a:r>
          </a:p>
          <a:p>
            <a:r>
              <a:rPr lang="en-US" altLang="en-US" sz="2400" b="1"/>
              <a:t>Characterized by:</a:t>
            </a:r>
          </a:p>
          <a:p>
            <a:pPr lvl="1"/>
            <a:r>
              <a:rPr lang="en-US" altLang="en-US" sz="2400"/>
              <a:t>Feedback loops</a:t>
            </a:r>
          </a:p>
          <a:p>
            <a:pPr lvl="1"/>
            <a:r>
              <a:rPr lang="en-US" altLang="en-US" sz="2400"/>
              <a:t>Documentation-driven</a:t>
            </a:r>
          </a:p>
          <a:p>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Content Placeholder 7">
            <a:extLst>
              <a:ext uri="{FF2B5EF4-FFF2-40B4-BE49-F238E27FC236}">
                <a16:creationId xmlns:a16="http://schemas.microsoft.com/office/drawing/2014/main" id="{A34DF84F-7252-AB97-8243-AF9C7BEFD1A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295400" y="-20638"/>
            <a:ext cx="6248400" cy="7370763"/>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B31271A-DEFB-611B-A5DF-0CA72B268013}"/>
              </a:ext>
            </a:extLst>
          </p:cNvPr>
          <p:cNvSpPr>
            <a:spLocks noGrp="1" noChangeArrowheads="1"/>
          </p:cNvSpPr>
          <p:nvPr>
            <p:ph type="title"/>
          </p:nvPr>
        </p:nvSpPr>
        <p:spPr/>
        <p:txBody>
          <a:bodyPr/>
          <a:lstStyle/>
          <a:p>
            <a:pPr fontAlgn="auto">
              <a:spcAft>
                <a:spcPts val="0"/>
              </a:spcAft>
              <a:defRPr/>
            </a:pPr>
            <a:r>
              <a:rPr lang="en-US" altLang="en-US" sz="4800" dirty="0"/>
              <a:t>Waterfall Model (contd.)</a:t>
            </a:r>
          </a:p>
        </p:txBody>
      </p:sp>
      <p:sp>
        <p:nvSpPr>
          <p:cNvPr id="9219" name="Rectangle 3">
            <a:extLst>
              <a:ext uri="{FF2B5EF4-FFF2-40B4-BE49-F238E27FC236}">
                <a16:creationId xmlns:a16="http://schemas.microsoft.com/office/drawing/2014/main" id="{A094E4E6-8165-C9AB-14ED-B475C55CAC3E}"/>
              </a:ext>
            </a:extLst>
          </p:cNvPr>
          <p:cNvSpPr>
            <a:spLocks noGrp="1" noChangeArrowheads="1"/>
          </p:cNvSpPr>
          <p:nvPr>
            <p:ph type="body" idx="1"/>
          </p:nvPr>
        </p:nvSpPr>
        <p:spPr/>
        <p:txBody>
          <a:bodyPr/>
          <a:lstStyle/>
          <a:p>
            <a:pPr>
              <a:lnSpc>
                <a:spcPct val="80000"/>
              </a:lnSpc>
            </a:pPr>
            <a:r>
              <a:rPr lang="en-US" altLang="en-US" sz="2800"/>
              <a:t>Advantages </a:t>
            </a:r>
          </a:p>
          <a:p>
            <a:pPr lvl="1">
              <a:lnSpc>
                <a:spcPct val="80000"/>
              </a:lnSpc>
            </a:pPr>
            <a:r>
              <a:rPr lang="en-US" altLang="en-US" sz="2400"/>
              <a:t>Enforces disciplined approach</a:t>
            </a:r>
          </a:p>
          <a:p>
            <a:pPr lvl="2">
              <a:lnSpc>
                <a:spcPct val="80000"/>
              </a:lnSpc>
            </a:pPr>
            <a:r>
              <a:rPr lang="en-US" altLang="en-US" sz="2000"/>
              <a:t>Documentation for each phase</a:t>
            </a:r>
          </a:p>
          <a:p>
            <a:pPr lvl="2">
              <a:lnSpc>
                <a:spcPct val="80000"/>
              </a:lnSpc>
            </a:pPr>
            <a:r>
              <a:rPr lang="en-US" altLang="en-US" sz="2000"/>
              <a:t>Products of each phase checked by SQA group</a:t>
            </a:r>
          </a:p>
          <a:p>
            <a:pPr lvl="1">
              <a:lnSpc>
                <a:spcPct val="80000"/>
              </a:lnSpc>
            </a:pPr>
            <a:r>
              <a:rPr lang="en-US" altLang="en-US" sz="2400"/>
              <a:t>Maintenance is easier </a:t>
            </a:r>
          </a:p>
          <a:p>
            <a:pPr lvl="2">
              <a:lnSpc>
                <a:spcPct val="80000"/>
              </a:lnSpc>
            </a:pPr>
            <a:r>
              <a:rPr lang="en-US" altLang="en-US" sz="2000"/>
              <a:t>Every change reflected in the relevant documentation</a:t>
            </a:r>
          </a:p>
          <a:p>
            <a:pPr>
              <a:lnSpc>
                <a:spcPct val="80000"/>
              </a:lnSpc>
            </a:pPr>
            <a:r>
              <a:rPr lang="en-US" altLang="en-US" sz="2800"/>
              <a:t>Disadvantages</a:t>
            </a:r>
          </a:p>
          <a:p>
            <a:pPr lvl="1">
              <a:lnSpc>
                <a:spcPct val="80000"/>
              </a:lnSpc>
            </a:pPr>
            <a:r>
              <a:rPr lang="en-US" altLang="en-US" sz="2400"/>
              <a:t>Working version of the software will not be available until late in the project time-span </a:t>
            </a:r>
          </a:p>
          <a:p>
            <a:pPr lvl="1">
              <a:lnSpc>
                <a:spcPct val="80000"/>
              </a:lnSpc>
            </a:pPr>
            <a:r>
              <a:rPr lang="en-US" altLang="en-US" sz="2400"/>
              <a:t>Specifications are long, detailed, written in a style unfamiliar to the client </a:t>
            </a:r>
          </a:p>
          <a:p>
            <a:pPr lvl="1">
              <a:lnSpc>
                <a:spcPct val="80000"/>
              </a:lnSpc>
            </a:pPr>
            <a:r>
              <a:rPr lang="en-US" altLang="en-US" sz="2400"/>
              <a:t>“Blocking states” –some project team members must wait for other team members to complete dependent tasks</a:t>
            </a:r>
          </a:p>
          <a:p>
            <a:pPr>
              <a:lnSpc>
                <a:spcPct val="80000"/>
              </a:lnSpc>
            </a:pPr>
            <a:endParaRPr lang="en-US"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849A-3E54-B664-B2D0-E46F8974A836}"/>
              </a:ext>
            </a:extLst>
          </p:cNvPr>
          <p:cNvSpPr>
            <a:spLocks noGrp="1"/>
          </p:cNvSpPr>
          <p:nvPr>
            <p:ph type="title"/>
          </p:nvPr>
        </p:nvSpPr>
        <p:spPr/>
        <p:txBody>
          <a:bodyPr/>
          <a:lstStyle/>
          <a:p>
            <a:pPr fontAlgn="auto">
              <a:spcAft>
                <a:spcPts val="0"/>
              </a:spcAft>
              <a:defRPr/>
            </a:pPr>
            <a:r>
              <a:rPr lang="en-US" altLang="en-US" dirty="0"/>
              <a:t>Rapid Prototyping Model</a:t>
            </a:r>
            <a:endParaRPr lang="en-GB" dirty="0"/>
          </a:p>
        </p:txBody>
      </p:sp>
      <p:sp>
        <p:nvSpPr>
          <p:cNvPr id="10243" name="Content Placeholder 2">
            <a:extLst>
              <a:ext uri="{FF2B5EF4-FFF2-40B4-BE49-F238E27FC236}">
                <a16:creationId xmlns:a16="http://schemas.microsoft.com/office/drawing/2014/main" id="{3EEF4229-F5BB-F509-679D-610B1E333919}"/>
              </a:ext>
            </a:extLst>
          </p:cNvPr>
          <p:cNvSpPr>
            <a:spLocks noGrp="1"/>
          </p:cNvSpPr>
          <p:nvPr>
            <p:ph idx="1"/>
          </p:nvPr>
        </p:nvSpPr>
        <p:spPr>
          <a:xfrm>
            <a:off x="457200" y="1447800"/>
            <a:ext cx="7620000" cy="4800600"/>
          </a:xfrm>
        </p:spPr>
        <p:txBody>
          <a:bodyPr/>
          <a:lstStyle/>
          <a:p>
            <a:r>
              <a:rPr lang="en-US" altLang="en-US" sz="2400"/>
              <a:t>Prototyping is defined as the process of developing a working replication of a product or system that has to be engineered.</a:t>
            </a:r>
          </a:p>
          <a:p>
            <a:r>
              <a:rPr lang="en-US" altLang="en-US" sz="2400"/>
              <a:t>It offers a small scale replica of the end product and is used for obtaining customer feedback as described below:</a:t>
            </a:r>
            <a:endParaRPr lang="en-GB" altLang="en-US" sz="2400"/>
          </a:p>
        </p:txBody>
      </p:sp>
      <p:pic>
        <p:nvPicPr>
          <p:cNvPr id="10244" name="Picture 4">
            <a:extLst>
              <a:ext uri="{FF2B5EF4-FFF2-40B4-BE49-F238E27FC236}">
                <a16:creationId xmlns:a16="http://schemas.microsoft.com/office/drawing/2014/main" id="{DABE4F6C-97C1-AF6D-B12E-9ABB05E61A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82700" y="3886200"/>
            <a:ext cx="6261100" cy="292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73B4F-8A6E-A068-01E7-B03285433B12}"/>
              </a:ext>
            </a:extLst>
          </p:cNvPr>
          <p:cNvSpPr>
            <a:spLocks noGrp="1"/>
          </p:cNvSpPr>
          <p:nvPr>
            <p:ph type="title"/>
          </p:nvPr>
        </p:nvSpPr>
        <p:spPr/>
        <p:txBody>
          <a:bodyPr/>
          <a:lstStyle/>
          <a:p>
            <a:pPr fontAlgn="auto">
              <a:spcAft>
                <a:spcPts val="0"/>
              </a:spcAft>
              <a:defRPr/>
            </a:pPr>
            <a:r>
              <a:rPr lang="en-US" altLang="en-US" dirty="0"/>
              <a:t>Rapid Prototyping Model (contd.)</a:t>
            </a:r>
            <a:endParaRPr lang="en-GB" dirty="0"/>
          </a:p>
        </p:txBody>
      </p:sp>
      <p:pic>
        <p:nvPicPr>
          <p:cNvPr id="11267" name="Content Placeholder 3">
            <a:extLst>
              <a:ext uri="{FF2B5EF4-FFF2-40B4-BE49-F238E27FC236}">
                <a16:creationId xmlns:a16="http://schemas.microsoft.com/office/drawing/2014/main" id="{E6C5E686-2864-1E18-58B5-63555CC0F75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0" y="2222500"/>
            <a:ext cx="8534400" cy="355600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EB82ECB-5B3F-DF85-8D84-8DF0C4A8336A}"/>
              </a:ext>
            </a:extLst>
          </p:cNvPr>
          <p:cNvSpPr>
            <a:spLocks noGrp="1" noChangeArrowheads="1"/>
          </p:cNvSpPr>
          <p:nvPr>
            <p:ph type="title"/>
          </p:nvPr>
        </p:nvSpPr>
        <p:spPr/>
        <p:txBody>
          <a:bodyPr/>
          <a:lstStyle/>
          <a:p>
            <a:pPr fontAlgn="auto">
              <a:spcAft>
                <a:spcPts val="0"/>
              </a:spcAft>
              <a:defRPr/>
            </a:pPr>
            <a:r>
              <a:rPr lang="en-US" altLang="en-US" sz="4800" dirty="0"/>
              <a:t>Rapid Prototyping Model (contd.)</a:t>
            </a:r>
          </a:p>
        </p:txBody>
      </p:sp>
      <p:sp>
        <p:nvSpPr>
          <p:cNvPr id="12291" name="Rectangle 3">
            <a:extLst>
              <a:ext uri="{FF2B5EF4-FFF2-40B4-BE49-F238E27FC236}">
                <a16:creationId xmlns:a16="http://schemas.microsoft.com/office/drawing/2014/main" id="{367B7D7A-CC77-999D-97AC-EBD6F910154F}"/>
              </a:ext>
            </a:extLst>
          </p:cNvPr>
          <p:cNvSpPr>
            <a:spLocks noGrp="1" noChangeArrowheads="1"/>
          </p:cNvSpPr>
          <p:nvPr>
            <p:ph type="body" idx="1"/>
          </p:nvPr>
        </p:nvSpPr>
        <p:spPr>
          <a:xfrm>
            <a:off x="457200" y="1676400"/>
            <a:ext cx="7620000" cy="4800600"/>
          </a:xfrm>
        </p:spPr>
        <p:txBody>
          <a:bodyPr/>
          <a:lstStyle/>
          <a:p>
            <a:r>
              <a:rPr lang="en-US" altLang="en-US" sz="2800"/>
              <a:t>Rapid prototype characteristics:</a:t>
            </a:r>
          </a:p>
          <a:p>
            <a:pPr lvl="1"/>
            <a:r>
              <a:rPr lang="en-US" altLang="en-US" sz="2400"/>
              <a:t>Used in the requirements phase</a:t>
            </a:r>
          </a:p>
          <a:p>
            <a:pPr lvl="1"/>
            <a:r>
              <a:rPr lang="en-US" altLang="en-US" sz="2400"/>
              <a:t>Evaluated by the customer/user</a:t>
            </a:r>
          </a:p>
          <a:p>
            <a:pPr lvl="1"/>
            <a:r>
              <a:rPr lang="en-US" altLang="en-US" sz="2400"/>
              <a:t>Then, it is discarded -do not turn into product</a:t>
            </a:r>
          </a:p>
          <a:p>
            <a:r>
              <a:rPr lang="en-US" altLang="en-US" sz="2800"/>
              <a:t>Rapid prototyping model is not proven and has its own problems</a:t>
            </a:r>
          </a:p>
          <a:p>
            <a:pPr lvl="1"/>
            <a:r>
              <a:rPr lang="en-US" altLang="en-US" sz="2400"/>
              <a:t>Possible solution</a:t>
            </a:r>
          </a:p>
          <a:p>
            <a:pPr lvl="2"/>
            <a:r>
              <a:rPr lang="en-US" altLang="en-US" sz="2400"/>
              <a:t>Rapid prototyping for defining requirements</a:t>
            </a:r>
          </a:p>
          <a:p>
            <a:pPr lvl="2"/>
            <a:r>
              <a:rPr lang="en-US" altLang="en-US" sz="2400"/>
              <a:t>Waterfall model for rest of life cycle</a:t>
            </a:r>
          </a:p>
          <a:p>
            <a:endParaRPr lang="en-US" alt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B2E59-2B36-5E65-06C9-68367642035E}"/>
              </a:ext>
            </a:extLst>
          </p:cNvPr>
          <p:cNvSpPr>
            <a:spLocks noGrp="1"/>
          </p:cNvSpPr>
          <p:nvPr>
            <p:ph type="title"/>
          </p:nvPr>
        </p:nvSpPr>
        <p:spPr/>
        <p:txBody>
          <a:bodyPr/>
          <a:lstStyle/>
          <a:p>
            <a:pPr fontAlgn="auto">
              <a:spcAft>
                <a:spcPts val="0"/>
              </a:spcAft>
              <a:defRPr/>
            </a:pPr>
            <a:r>
              <a:rPr lang="en-US" altLang="en-US" sz="4800" dirty="0"/>
              <a:t>Incremental Model</a:t>
            </a:r>
            <a:endParaRPr lang="en-GB" sz="4800" dirty="0"/>
          </a:p>
        </p:txBody>
      </p:sp>
      <p:sp>
        <p:nvSpPr>
          <p:cNvPr id="13315" name="Content Placeholder 2">
            <a:extLst>
              <a:ext uri="{FF2B5EF4-FFF2-40B4-BE49-F238E27FC236}">
                <a16:creationId xmlns:a16="http://schemas.microsoft.com/office/drawing/2014/main" id="{A1BA7654-9125-2BB4-BEBF-0221DE1A0E45}"/>
              </a:ext>
            </a:extLst>
          </p:cNvPr>
          <p:cNvSpPr>
            <a:spLocks noGrp="1"/>
          </p:cNvSpPr>
          <p:nvPr>
            <p:ph idx="1"/>
          </p:nvPr>
        </p:nvSpPr>
        <p:spPr/>
        <p:txBody>
          <a:bodyPr/>
          <a:lstStyle/>
          <a:p>
            <a:r>
              <a:rPr lang="en-US" altLang="en-US" b="1"/>
              <a:t>Incremental Model</a:t>
            </a:r>
            <a:r>
              <a:rPr lang="en-US" altLang="en-US"/>
              <a:t> is a process of </a:t>
            </a:r>
            <a:r>
              <a:rPr lang="en-US" altLang="en-US" b="1"/>
              <a:t>software development</a:t>
            </a:r>
            <a:r>
              <a:rPr lang="en-US" altLang="en-US"/>
              <a:t> where requirements are broken down into multiple standalone modules of </a:t>
            </a:r>
            <a:r>
              <a:rPr lang="en-US" altLang="en-US" b="1"/>
              <a:t>software development</a:t>
            </a:r>
            <a:r>
              <a:rPr lang="en-US" altLang="en-US"/>
              <a:t> cycle.</a:t>
            </a:r>
          </a:p>
          <a:p>
            <a:r>
              <a:rPr lang="en-US" altLang="en-US"/>
              <a:t>Each iteration passes through the requirements, design, coding and </a:t>
            </a:r>
            <a:r>
              <a:rPr lang="en-US" altLang="en-US" b="1"/>
              <a:t>testing</a:t>
            </a:r>
            <a:r>
              <a:rPr lang="en-US" altLang="en-US"/>
              <a:t> phases.</a:t>
            </a:r>
          </a:p>
          <a:p>
            <a:r>
              <a:rPr lang="en-US" altLang="en-US"/>
              <a:t>Typical product takes from 5 to 25 builds (iterations).</a:t>
            </a:r>
          </a:p>
          <a:p>
            <a:endParaRPr lang="en-GB"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8862C-282A-E771-A957-C3E87B7EE138}"/>
              </a:ext>
            </a:extLst>
          </p:cNvPr>
          <p:cNvSpPr>
            <a:spLocks noGrp="1"/>
          </p:cNvSpPr>
          <p:nvPr>
            <p:ph type="title"/>
          </p:nvPr>
        </p:nvSpPr>
        <p:spPr/>
        <p:txBody>
          <a:bodyPr/>
          <a:lstStyle/>
          <a:p>
            <a:pPr fontAlgn="auto">
              <a:spcAft>
                <a:spcPts val="0"/>
              </a:spcAft>
              <a:defRPr/>
            </a:pPr>
            <a:r>
              <a:rPr lang="en-US" altLang="en-US" sz="4800" dirty="0"/>
              <a:t>Incremental Model (contd.)</a:t>
            </a:r>
            <a:endParaRPr lang="en-GB" sz="4800" dirty="0"/>
          </a:p>
        </p:txBody>
      </p:sp>
      <p:pic>
        <p:nvPicPr>
          <p:cNvPr id="14339" name="Content Placeholder 7">
            <a:extLst>
              <a:ext uri="{FF2B5EF4-FFF2-40B4-BE49-F238E27FC236}">
                <a16:creationId xmlns:a16="http://schemas.microsoft.com/office/drawing/2014/main" id="{AFBCEF19-4B03-189E-E6EB-A13A2480502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0" y="1206500"/>
            <a:ext cx="8534400" cy="5651500"/>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43BDDBA-E5E9-C2CF-2293-932F28DDCDC6}"/>
              </a:ext>
            </a:extLst>
          </p:cNvPr>
          <p:cNvSpPr>
            <a:spLocks noGrp="1" noChangeArrowheads="1"/>
          </p:cNvSpPr>
          <p:nvPr>
            <p:ph type="title"/>
          </p:nvPr>
        </p:nvSpPr>
        <p:spPr/>
        <p:txBody>
          <a:bodyPr/>
          <a:lstStyle/>
          <a:p>
            <a:pPr fontAlgn="auto">
              <a:spcAft>
                <a:spcPts val="0"/>
              </a:spcAft>
              <a:defRPr/>
            </a:pPr>
            <a:r>
              <a:rPr lang="en-US" altLang="en-US" sz="4800" dirty="0"/>
              <a:t>Incremental Model (contd.)</a:t>
            </a:r>
          </a:p>
        </p:txBody>
      </p:sp>
      <p:sp>
        <p:nvSpPr>
          <p:cNvPr id="15363" name="Rectangle 3">
            <a:extLst>
              <a:ext uri="{FF2B5EF4-FFF2-40B4-BE49-F238E27FC236}">
                <a16:creationId xmlns:a16="http://schemas.microsoft.com/office/drawing/2014/main" id="{9AA0D533-4886-1110-8610-92DA90AD7821}"/>
              </a:ext>
            </a:extLst>
          </p:cNvPr>
          <p:cNvSpPr>
            <a:spLocks noGrp="1" noChangeArrowheads="1"/>
          </p:cNvSpPr>
          <p:nvPr>
            <p:ph type="body" idx="1"/>
          </p:nvPr>
        </p:nvSpPr>
        <p:spPr/>
        <p:txBody>
          <a:bodyPr/>
          <a:lstStyle/>
          <a:p>
            <a:pPr>
              <a:lnSpc>
                <a:spcPct val="80000"/>
              </a:lnSpc>
            </a:pPr>
            <a:r>
              <a:rPr lang="en-US" altLang="en-US" sz="2600"/>
              <a:t>Waterfall and rapid prototyping models</a:t>
            </a:r>
          </a:p>
          <a:p>
            <a:pPr lvl="1">
              <a:lnSpc>
                <a:spcPct val="80000"/>
              </a:lnSpc>
            </a:pPr>
            <a:r>
              <a:rPr lang="en-US" altLang="en-US" sz="2200"/>
              <a:t>Deliver complete product at the end</a:t>
            </a:r>
          </a:p>
          <a:p>
            <a:pPr>
              <a:lnSpc>
                <a:spcPct val="80000"/>
              </a:lnSpc>
            </a:pPr>
            <a:r>
              <a:rPr lang="en-US" altLang="en-US" sz="2600"/>
              <a:t>Incremental model</a:t>
            </a:r>
          </a:p>
          <a:p>
            <a:pPr lvl="1">
              <a:lnSpc>
                <a:spcPct val="80000"/>
              </a:lnSpc>
            </a:pPr>
            <a:r>
              <a:rPr lang="en-US" altLang="en-US" sz="2200"/>
              <a:t>Deliver portion of the product at each stage </a:t>
            </a:r>
          </a:p>
          <a:p>
            <a:pPr>
              <a:lnSpc>
                <a:spcPct val="80000"/>
              </a:lnSpc>
            </a:pPr>
            <a:r>
              <a:rPr lang="en-US" altLang="en-US" sz="2600"/>
              <a:t>Advantages</a:t>
            </a:r>
          </a:p>
          <a:p>
            <a:pPr lvl="1">
              <a:lnSpc>
                <a:spcPct val="80000"/>
              </a:lnSpc>
            </a:pPr>
            <a:r>
              <a:rPr lang="en-US" altLang="en-US" sz="2200"/>
              <a:t>The software will be generated quickly during the software life cycle</a:t>
            </a:r>
          </a:p>
          <a:p>
            <a:pPr lvl="1">
              <a:lnSpc>
                <a:spcPct val="80000"/>
              </a:lnSpc>
            </a:pPr>
            <a:r>
              <a:rPr lang="en-US" altLang="en-US" sz="2200"/>
              <a:t>It is flexible and less expensive to change requirements and scope</a:t>
            </a:r>
          </a:p>
          <a:p>
            <a:pPr lvl="1">
              <a:lnSpc>
                <a:spcPct val="80000"/>
              </a:lnSpc>
            </a:pPr>
            <a:r>
              <a:rPr lang="en-US" altLang="en-US" sz="2200"/>
              <a:t>Throughout the development stages changes can be done</a:t>
            </a:r>
          </a:p>
          <a:p>
            <a:pPr lvl="1">
              <a:lnSpc>
                <a:spcPct val="80000"/>
              </a:lnSpc>
            </a:pPr>
            <a:r>
              <a:rPr lang="en-US" altLang="en-US" sz="2200"/>
              <a:t>This model is less costly compared to others</a:t>
            </a:r>
          </a:p>
          <a:p>
            <a:pPr lvl="1">
              <a:lnSpc>
                <a:spcPct val="80000"/>
              </a:lnSpc>
            </a:pPr>
            <a:r>
              <a:rPr lang="en-US" altLang="en-US" sz="2200"/>
              <a:t>A customer can respond to each building</a:t>
            </a:r>
          </a:p>
          <a:p>
            <a:pPr lvl="1">
              <a:lnSpc>
                <a:spcPct val="80000"/>
              </a:lnSpc>
            </a:pPr>
            <a:r>
              <a:rPr lang="en-US" altLang="en-US" sz="2200"/>
              <a:t>Errors are easy to be identified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211A4-BB0C-2F11-0B0F-177CA74535A5}"/>
              </a:ext>
            </a:extLst>
          </p:cNvPr>
          <p:cNvSpPr>
            <a:spLocks noGrp="1"/>
          </p:cNvSpPr>
          <p:nvPr>
            <p:ph type="title"/>
          </p:nvPr>
        </p:nvSpPr>
        <p:spPr/>
        <p:txBody>
          <a:bodyPr/>
          <a:lstStyle/>
          <a:p>
            <a:pPr fontAlgn="auto">
              <a:spcAft>
                <a:spcPts val="0"/>
              </a:spcAft>
              <a:defRPr/>
            </a:pPr>
            <a:r>
              <a:rPr lang="en-US" altLang="en-US" dirty="0"/>
              <a:t>Incremental Model (contd.)</a:t>
            </a:r>
            <a:endParaRPr lang="en-GB" dirty="0"/>
          </a:p>
        </p:txBody>
      </p:sp>
      <p:sp>
        <p:nvSpPr>
          <p:cNvPr id="16387" name="Content Placeholder 2">
            <a:extLst>
              <a:ext uri="{FF2B5EF4-FFF2-40B4-BE49-F238E27FC236}">
                <a16:creationId xmlns:a16="http://schemas.microsoft.com/office/drawing/2014/main" id="{44F56EB2-1B9A-C612-8C1A-2A0451495BB1}"/>
              </a:ext>
            </a:extLst>
          </p:cNvPr>
          <p:cNvSpPr>
            <a:spLocks noGrp="1"/>
          </p:cNvSpPr>
          <p:nvPr>
            <p:ph idx="1"/>
          </p:nvPr>
        </p:nvSpPr>
        <p:spPr/>
        <p:txBody>
          <a:bodyPr/>
          <a:lstStyle/>
          <a:p>
            <a:pPr>
              <a:lnSpc>
                <a:spcPct val="80000"/>
              </a:lnSpc>
            </a:pPr>
            <a:r>
              <a:rPr lang="en-US" altLang="en-US" sz="2600"/>
              <a:t>Disadvantages:</a:t>
            </a:r>
          </a:p>
          <a:p>
            <a:pPr lvl="1">
              <a:lnSpc>
                <a:spcPct val="80000"/>
              </a:lnSpc>
            </a:pPr>
            <a:r>
              <a:rPr lang="en-US" altLang="en-US" sz="2200"/>
              <a:t>It requires a good planning designing</a:t>
            </a:r>
          </a:p>
          <a:p>
            <a:pPr lvl="1">
              <a:lnSpc>
                <a:spcPct val="80000"/>
              </a:lnSpc>
            </a:pPr>
            <a:r>
              <a:rPr lang="en-US" altLang="en-US" sz="2200"/>
              <a:t>Problems might arise due to system architecture as not all requirements collected up front for the entire software lifecycle</a:t>
            </a:r>
          </a:p>
          <a:p>
            <a:pPr lvl="1">
              <a:lnSpc>
                <a:spcPct val="80000"/>
              </a:lnSpc>
            </a:pPr>
            <a:r>
              <a:rPr lang="en-US" altLang="en-US" sz="2200"/>
              <a:t>Each iteration phase is rigid and does not overlap each other</a:t>
            </a:r>
          </a:p>
          <a:p>
            <a:pPr lvl="1">
              <a:lnSpc>
                <a:spcPct val="80000"/>
              </a:lnSpc>
            </a:pPr>
            <a:r>
              <a:rPr lang="en-US" altLang="en-US" sz="2200"/>
              <a:t>Correcting a problem in one unit requires correction in all the units and consumes a lot of time</a:t>
            </a:r>
            <a:endParaRPr lang="en-GB" altLang="en-US" sz="22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EEDA5-0E04-0878-6C02-390D820EA3BE}"/>
              </a:ext>
            </a:extLst>
          </p:cNvPr>
          <p:cNvSpPr>
            <a:spLocks noGrp="1"/>
          </p:cNvSpPr>
          <p:nvPr>
            <p:ph type="title"/>
          </p:nvPr>
        </p:nvSpPr>
        <p:spPr/>
        <p:txBody>
          <a:bodyPr/>
          <a:lstStyle/>
          <a:p>
            <a:pPr fontAlgn="auto">
              <a:spcAft>
                <a:spcPts val="0"/>
              </a:spcAft>
              <a:defRPr/>
            </a:pPr>
            <a:r>
              <a:rPr lang="en-US" sz="4800" dirty="0"/>
              <a:t>When to use Incremental models?</a:t>
            </a:r>
            <a:endParaRPr lang="en-GB" sz="4800" dirty="0"/>
          </a:p>
        </p:txBody>
      </p:sp>
      <p:sp>
        <p:nvSpPr>
          <p:cNvPr id="17411" name="Content Placeholder 2">
            <a:extLst>
              <a:ext uri="{FF2B5EF4-FFF2-40B4-BE49-F238E27FC236}">
                <a16:creationId xmlns:a16="http://schemas.microsoft.com/office/drawing/2014/main" id="{0F669991-3D6B-202B-8E9E-B4BA05B0FED7}"/>
              </a:ext>
            </a:extLst>
          </p:cNvPr>
          <p:cNvSpPr>
            <a:spLocks noGrp="1"/>
          </p:cNvSpPr>
          <p:nvPr>
            <p:ph idx="1"/>
          </p:nvPr>
        </p:nvSpPr>
        <p:spPr/>
        <p:txBody>
          <a:bodyPr/>
          <a:lstStyle/>
          <a:p>
            <a:r>
              <a:rPr lang="en-US" altLang="en-US"/>
              <a:t>Requirements of the system are clearly understood</a:t>
            </a:r>
          </a:p>
          <a:p>
            <a:r>
              <a:rPr lang="en-US" altLang="en-US"/>
              <a:t>When </a:t>
            </a:r>
            <a:r>
              <a:rPr lang="en-US" altLang="en-US" b="1">
                <a:solidFill>
                  <a:srgbClr val="FF0000"/>
                </a:solidFill>
              </a:rPr>
              <a:t>demand for an early release </a:t>
            </a:r>
            <a:r>
              <a:rPr lang="en-US" altLang="en-US"/>
              <a:t>of a product arises</a:t>
            </a:r>
          </a:p>
          <a:p>
            <a:r>
              <a:rPr lang="en-US" altLang="en-US"/>
              <a:t>When software engineering </a:t>
            </a:r>
            <a:r>
              <a:rPr lang="en-US" altLang="en-US" b="1">
                <a:solidFill>
                  <a:srgbClr val="FF0000"/>
                </a:solidFill>
              </a:rPr>
              <a:t>team are not very well skilled </a:t>
            </a:r>
            <a:r>
              <a:rPr lang="en-US" altLang="en-US"/>
              <a:t>or trained</a:t>
            </a:r>
          </a:p>
          <a:p>
            <a:r>
              <a:rPr lang="en-US" altLang="en-US"/>
              <a:t>When high-risk features and goals are involved</a:t>
            </a:r>
          </a:p>
          <a:p>
            <a:r>
              <a:rPr lang="en-US" altLang="en-US" b="1"/>
              <a:t>Such methodology is more in use for web application and product based companies</a:t>
            </a:r>
          </a:p>
          <a:p>
            <a:endParaRPr lang="en-GB"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7B31B-EFC7-E184-74CB-2DFF918588BB}"/>
              </a:ext>
            </a:extLst>
          </p:cNvPr>
          <p:cNvSpPr>
            <a:spLocks noGrp="1"/>
          </p:cNvSpPr>
          <p:nvPr>
            <p:ph type="title"/>
          </p:nvPr>
        </p:nvSpPr>
        <p:spPr/>
        <p:txBody>
          <a:bodyPr/>
          <a:lstStyle/>
          <a:p>
            <a:pPr fontAlgn="auto">
              <a:spcAft>
                <a:spcPts val="0"/>
              </a:spcAft>
              <a:defRPr/>
            </a:pPr>
            <a:r>
              <a:rPr lang="en-US" altLang="en-US" sz="4800" dirty="0"/>
              <a:t>Spiral Model</a:t>
            </a:r>
            <a:endParaRPr lang="en-GB" sz="4800" dirty="0"/>
          </a:p>
        </p:txBody>
      </p:sp>
      <p:sp>
        <p:nvSpPr>
          <p:cNvPr id="3" name="Content Placeholder 2">
            <a:extLst>
              <a:ext uri="{FF2B5EF4-FFF2-40B4-BE49-F238E27FC236}">
                <a16:creationId xmlns:a16="http://schemas.microsoft.com/office/drawing/2014/main" id="{7977C912-EE13-8C87-B7C9-2E6AB867FB61}"/>
              </a:ext>
            </a:extLst>
          </p:cNvPr>
          <p:cNvSpPr>
            <a:spLocks noGrp="1"/>
          </p:cNvSpPr>
          <p:nvPr>
            <p:ph idx="1"/>
          </p:nvPr>
        </p:nvSpPr>
        <p:spPr/>
        <p:txBody>
          <a:bodyPr rtlCol="0">
            <a:normAutofit lnSpcReduction="10000"/>
          </a:bodyPr>
          <a:lstStyle/>
          <a:p>
            <a:pPr fontAlgn="auto">
              <a:spcAft>
                <a:spcPts val="0"/>
              </a:spcAft>
              <a:defRPr/>
            </a:pPr>
            <a:r>
              <a:rPr lang="en-US" dirty="0"/>
              <a:t>The </a:t>
            </a:r>
            <a:r>
              <a:rPr lang="en-US" b="1" dirty="0"/>
              <a:t>spiral model</a:t>
            </a:r>
            <a:r>
              <a:rPr lang="en-US" dirty="0"/>
              <a:t> is a risk-driven </a:t>
            </a:r>
            <a:r>
              <a:rPr lang="en-US" b="1" dirty="0"/>
              <a:t>software development</a:t>
            </a:r>
            <a:r>
              <a:rPr lang="en-US" dirty="0"/>
              <a:t> process </a:t>
            </a:r>
            <a:r>
              <a:rPr lang="en-US" b="1" dirty="0"/>
              <a:t>model</a:t>
            </a:r>
            <a:r>
              <a:rPr lang="en-US" dirty="0"/>
              <a:t>. </a:t>
            </a:r>
          </a:p>
          <a:p>
            <a:pPr fontAlgn="auto">
              <a:spcAft>
                <a:spcPts val="0"/>
              </a:spcAft>
              <a:defRPr/>
            </a:pPr>
            <a:r>
              <a:rPr lang="en-US" dirty="0"/>
              <a:t>Based on the unique risk patterns of a given project, the </a:t>
            </a:r>
            <a:r>
              <a:rPr lang="en-US" b="1" dirty="0"/>
              <a:t>spiral model</a:t>
            </a:r>
            <a:r>
              <a:rPr lang="en-US" dirty="0"/>
              <a:t> guides a team to adopt elements of one or more process </a:t>
            </a:r>
            <a:r>
              <a:rPr lang="en-US" b="1" dirty="0"/>
              <a:t>models</a:t>
            </a:r>
            <a:r>
              <a:rPr lang="en-US" dirty="0"/>
              <a:t>, such as incremental, waterfall, or evolutionary prototyping.</a:t>
            </a:r>
          </a:p>
          <a:p>
            <a:pPr fontAlgn="auto">
              <a:spcAft>
                <a:spcPts val="0"/>
              </a:spcAft>
              <a:defRPr/>
            </a:pPr>
            <a:r>
              <a:rPr lang="en-US" b="1" dirty="0"/>
              <a:t>Risk Analysis: </a:t>
            </a:r>
            <a:r>
              <a:rPr lang="en-US" dirty="0"/>
              <a:t>Identification of potential risk is done while risk mitigation strategy is planned and finalized</a:t>
            </a:r>
          </a:p>
          <a:p>
            <a:pPr fontAlgn="auto">
              <a:lnSpc>
                <a:spcPct val="80000"/>
              </a:lnSpc>
              <a:spcAft>
                <a:spcPts val="0"/>
              </a:spcAft>
              <a:defRPr/>
            </a:pPr>
            <a:r>
              <a:rPr lang="en-US" altLang="en-US" sz="2400" dirty="0"/>
              <a:t>Precede each phase by</a:t>
            </a:r>
          </a:p>
          <a:p>
            <a:pPr marL="640080" lvl="1" fontAlgn="auto">
              <a:lnSpc>
                <a:spcPct val="80000"/>
              </a:lnSpc>
              <a:spcAft>
                <a:spcPts val="0"/>
              </a:spcAft>
              <a:defRPr/>
            </a:pPr>
            <a:r>
              <a:rPr lang="en-US" altLang="en-US" sz="2200" dirty="0"/>
              <a:t>Alternatives</a:t>
            </a:r>
          </a:p>
          <a:p>
            <a:pPr marL="640080" lvl="1" fontAlgn="auto">
              <a:lnSpc>
                <a:spcPct val="80000"/>
              </a:lnSpc>
              <a:spcAft>
                <a:spcPts val="0"/>
              </a:spcAft>
              <a:defRPr/>
            </a:pPr>
            <a:r>
              <a:rPr lang="en-US" altLang="en-US" sz="2200" dirty="0"/>
              <a:t>Risk analysis</a:t>
            </a:r>
          </a:p>
          <a:p>
            <a:pPr fontAlgn="auto">
              <a:lnSpc>
                <a:spcPct val="80000"/>
              </a:lnSpc>
              <a:spcAft>
                <a:spcPts val="0"/>
              </a:spcAft>
              <a:defRPr/>
            </a:pPr>
            <a:r>
              <a:rPr lang="en-US" altLang="en-US" sz="2400" dirty="0"/>
              <a:t>Follow each phase by</a:t>
            </a:r>
          </a:p>
          <a:p>
            <a:pPr marL="640080" lvl="1" fontAlgn="auto">
              <a:lnSpc>
                <a:spcPct val="80000"/>
              </a:lnSpc>
              <a:spcAft>
                <a:spcPts val="0"/>
              </a:spcAft>
              <a:defRPr/>
            </a:pPr>
            <a:r>
              <a:rPr lang="en-US" altLang="en-US" sz="2200" dirty="0"/>
              <a:t>Evaluation</a:t>
            </a:r>
          </a:p>
          <a:p>
            <a:pPr marL="640080" lvl="1" fontAlgn="auto">
              <a:lnSpc>
                <a:spcPct val="80000"/>
              </a:lnSpc>
              <a:spcAft>
                <a:spcPts val="0"/>
              </a:spcAft>
              <a:defRPr/>
            </a:pPr>
            <a:r>
              <a:rPr lang="en-US" altLang="en-US" sz="2200" dirty="0"/>
              <a:t>Planning of next phase</a:t>
            </a:r>
          </a:p>
          <a:p>
            <a:pPr fontAlgn="auto">
              <a:spcAft>
                <a:spcPts val="0"/>
              </a:spcAft>
              <a:defRPr/>
            </a:pPr>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81379-5C55-4306-8812-1463575AC9D0}"/>
              </a:ext>
            </a:extLst>
          </p:cNvPr>
          <p:cNvSpPr>
            <a:spLocks noGrp="1"/>
          </p:cNvSpPr>
          <p:nvPr>
            <p:ph type="title"/>
          </p:nvPr>
        </p:nvSpPr>
        <p:spPr>
          <a:xfrm>
            <a:off x="457200" y="0"/>
            <a:ext cx="7620000" cy="1143000"/>
          </a:xfrm>
        </p:spPr>
        <p:txBody>
          <a:bodyPr/>
          <a:lstStyle/>
          <a:p>
            <a:pPr fontAlgn="auto">
              <a:spcAft>
                <a:spcPts val="0"/>
              </a:spcAft>
              <a:defRPr/>
            </a:pPr>
            <a:r>
              <a:rPr lang="en-US" altLang="en-US" sz="4800" dirty="0"/>
              <a:t>Simplified Spiral Model </a:t>
            </a:r>
            <a:endParaRPr lang="en-GB" sz="4800" dirty="0"/>
          </a:p>
        </p:txBody>
      </p:sp>
      <p:pic>
        <p:nvPicPr>
          <p:cNvPr id="19459" name="Content Placeholder 3">
            <a:extLst>
              <a:ext uri="{FF2B5EF4-FFF2-40B4-BE49-F238E27FC236}">
                <a16:creationId xmlns:a16="http://schemas.microsoft.com/office/drawing/2014/main" id="{D1E17BC1-78B4-530B-1B18-55F43FAED97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447800" y="1117600"/>
            <a:ext cx="6248400" cy="5765800"/>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58F05A9-F331-BBB8-2DD4-F1FB5FC78688}"/>
              </a:ext>
            </a:extLst>
          </p:cNvPr>
          <p:cNvSpPr>
            <a:spLocks noGrp="1" noChangeArrowheads="1"/>
          </p:cNvSpPr>
          <p:nvPr>
            <p:ph type="title"/>
          </p:nvPr>
        </p:nvSpPr>
        <p:spPr/>
        <p:txBody>
          <a:bodyPr/>
          <a:lstStyle/>
          <a:p>
            <a:pPr fontAlgn="auto">
              <a:spcAft>
                <a:spcPts val="0"/>
              </a:spcAft>
              <a:defRPr/>
            </a:pPr>
            <a:r>
              <a:rPr lang="en-US" altLang="en-US" sz="4800" dirty="0"/>
              <a:t>Full Spiral Model</a:t>
            </a:r>
          </a:p>
        </p:txBody>
      </p:sp>
      <p:pic>
        <p:nvPicPr>
          <p:cNvPr id="20483" name="Picture 4">
            <a:extLst>
              <a:ext uri="{FF2B5EF4-FFF2-40B4-BE49-F238E27FC236}">
                <a16:creationId xmlns:a16="http://schemas.microsoft.com/office/drawing/2014/main" id="{96569F0C-DE69-135D-FBCA-ABF9A8F8FD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46238"/>
            <a:ext cx="8823325" cy="507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BDD0D2C-A5F4-F44D-6C1D-97B0DC4FC4D1}"/>
              </a:ext>
            </a:extLst>
          </p:cNvPr>
          <p:cNvSpPr>
            <a:spLocks noGrp="1" noChangeArrowheads="1"/>
          </p:cNvSpPr>
          <p:nvPr>
            <p:ph type="title"/>
          </p:nvPr>
        </p:nvSpPr>
        <p:spPr/>
        <p:txBody>
          <a:bodyPr/>
          <a:lstStyle/>
          <a:p>
            <a:pPr fontAlgn="auto">
              <a:spcAft>
                <a:spcPts val="0"/>
              </a:spcAft>
              <a:defRPr/>
            </a:pPr>
            <a:r>
              <a:rPr lang="en-US" sz="4800" dirty="0"/>
              <a:t>When to use Spiral Methodology?</a:t>
            </a:r>
            <a:endParaRPr lang="en-US" altLang="en-US" sz="4800" dirty="0"/>
          </a:p>
        </p:txBody>
      </p:sp>
      <p:sp>
        <p:nvSpPr>
          <p:cNvPr id="21507" name="Rectangle 3">
            <a:extLst>
              <a:ext uri="{FF2B5EF4-FFF2-40B4-BE49-F238E27FC236}">
                <a16:creationId xmlns:a16="http://schemas.microsoft.com/office/drawing/2014/main" id="{E184285B-5831-2BE7-D53D-ED16E4B1E1DA}"/>
              </a:ext>
            </a:extLst>
          </p:cNvPr>
          <p:cNvSpPr>
            <a:spLocks noGrp="1" noChangeArrowheads="1"/>
          </p:cNvSpPr>
          <p:nvPr>
            <p:ph type="body" idx="1"/>
          </p:nvPr>
        </p:nvSpPr>
        <p:spPr/>
        <p:txBody>
          <a:bodyPr/>
          <a:lstStyle/>
          <a:p>
            <a:r>
              <a:rPr lang="en-US" altLang="en-US" sz="2800"/>
              <a:t>When project is large</a:t>
            </a:r>
          </a:p>
          <a:p>
            <a:r>
              <a:rPr lang="en-US" altLang="en-US" sz="2800"/>
              <a:t>When releases are required to be frequent</a:t>
            </a:r>
          </a:p>
          <a:p>
            <a:r>
              <a:rPr lang="en-US" altLang="en-US" sz="2800"/>
              <a:t>When creation of a prototype is applicable</a:t>
            </a:r>
          </a:p>
          <a:p>
            <a:r>
              <a:rPr lang="en-US" altLang="en-US" sz="2800"/>
              <a:t>When risk and costs evaluation is important</a:t>
            </a:r>
          </a:p>
          <a:p>
            <a:r>
              <a:rPr lang="en-US" altLang="en-US" sz="2800"/>
              <a:t>For medium to high-risk projects</a:t>
            </a:r>
          </a:p>
          <a:p>
            <a:r>
              <a:rPr lang="en-US" altLang="en-US" sz="2800"/>
              <a:t>When </a:t>
            </a:r>
            <a:r>
              <a:rPr lang="en-US" altLang="en-US" sz="2800" b="1">
                <a:solidFill>
                  <a:srgbClr val="FF0000"/>
                </a:solidFill>
              </a:rPr>
              <a:t>requirements are unclear </a:t>
            </a:r>
            <a:r>
              <a:rPr lang="en-US" altLang="en-US" sz="2800"/>
              <a:t>and complex</a:t>
            </a:r>
          </a:p>
          <a:p>
            <a:r>
              <a:rPr lang="en-US" altLang="en-US" sz="2800"/>
              <a:t>When </a:t>
            </a:r>
            <a:r>
              <a:rPr lang="en-US" altLang="en-US" sz="2800" b="1">
                <a:solidFill>
                  <a:srgbClr val="FF0000"/>
                </a:solidFill>
              </a:rPr>
              <a:t>changes may require at any time</a:t>
            </a:r>
          </a:p>
          <a:p>
            <a:r>
              <a:rPr lang="en-US" altLang="en-US" sz="2800"/>
              <a:t>When long term project commitment is not feasible due to changes in economic priorities</a:t>
            </a:r>
          </a:p>
          <a:p>
            <a:pPr>
              <a:lnSpc>
                <a:spcPct val="80000"/>
              </a:lnSpc>
            </a:pPr>
            <a:endParaRPr lang="en-US" altLang="en-US" sz="2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B2CAD-8873-1968-AFF6-67AEC1F90A91}"/>
              </a:ext>
            </a:extLst>
          </p:cNvPr>
          <p:cNvSpPr>
            <a:spLocks noGrp="1"/>
          </p:cNvSpPr>
          <p:nvPr>
            <p:ph type="title"/>
          </p:nvPr>
        </p:nvSpPr>
        <p:spPr/>
        <p:txBody>
          <a:bodyPr/>
          <a:lstStyle/>
          <a:p>
            <a:pPr fontAlgn="auto">
              <a:spcAft>
                <a:spcPts val="0"/>
              </a:spcAft>
              <a:defRPr/>
            </a:pPr>
            <a:r>
              <a:rPr lang="en-US" sz="4800" dirty="0"/>
              <a:t>Advantages of Spiral Model</a:t>
            </a:r>
            <a:endParaRPr lang="en-GB" sz="4800" dirty="0"/>
          </a:p>
        </p:txBody>
      </p:sp>
      <p:sp>
        <p:nvSpPr>
          <p:cNvPr id="22531" name="Content Placeholder 2">
            <a:extLst>
              <a:ext uri="{FF2B5EF4-FFF2-40B4-BE49-F238E27FC236}">
                <a16:creationId xmlns:a16="http://schemas.microsoft.com/office/drawing/2014/main" id="{D4A56446-BEB7-D619-48AB-A9F9C5347AB0}"/>
              </a:ext>
            </a:extLst>
          </p:cNvPr>
          <p:cNvSpPr>
            <a:spLocks noGrp="1"/>
          </p:cNvSpPr>
          <p:nvPr>
            <p:ph idx="1"/>
          </p:nvPr>
        </p:nvSpPr>
        <p:spPr/>
        <p:txBody>
          <a:bodyPr/>
          <a:lstStyle/>
          <a:p>
            <a:r>
              <a:rPr lang="en-US" altLang="en-US"/>
              <a:t>Additional functionality or changes can be done at a later stage</a:t>
            </a:r>
          </a:p>
          <a:p>
            <a:r>
              <a:rPr lang="en-US" altLang="en-US"/>
              <a:t>Cost estimation becomes easy as the prototype building is done in small fragments</a:t>
            </a:r>
          </a:p>
          <a:p>
            <a:r>
              <a:rPr lang="en-US" altLang="en-US"/>
              <a:t>Continuous or repeated development helps in risk management</a:t>
            </a:r>
          </a:p>
          <a:p>
            <a:r>
              <a:rPr lang="en-US" altLang="en-US"/>
              <a:t>Development is fast and features are added in a systematic way</a:t>
            </a:r>
          </a:p>
          <a:p>
            <a:r>
              <a:rPr lang="en-US" altLang="en-US"/>
              <a:t>There is always a space for customer feedback</a:t>
            </a:r>
            <a:endParaRPr lang="en-GB"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FDA8C-45BA-B0FD-F973-2101442AF34E}"/>
              </a:ext>
            </a:extLst>
          </p:cNvPr>
          <p:cNvSpPr>
            <a:spLocks noGrp="1"/>
          </p:cNvSpPr>
          <p:nvPr>
            <p:ph type="title"/>
          </p:nvPr>
        </p:nvSpPr>
        <p:spPr/>
        <p:txBody>
          <a:bodyPr/>
          <a:lstStyle/>
          <a:p>
            <a:pPr fontAlgn="auto">
              <a:spcAft>
                <a:spcPts val="0"/>
              </a:spcAft>
              <a:defRPr/>
            </a:pPr>
            <a:r>
              <a:rPr lang="en-US" dirty="0"/>
              <a:t>Disadvantages of Spiral Model</a:t>
            </a:r>
            <a:endParaRPr lang="en-GB" dirty="0"/>
          </a:p>
        </p:txBody>
      </p:sp>
      <p:sp>
        <p:nvSpPr>
          <p:cNvPr id="23555" name="Content Placeholder 2">
            <a:extLst>
              <a:ext uri="{FF2B5EF4-FFF2-40B4-BE49-F238E27FC236}">
                <a16:creationId xmlns:a16="http://schemas.microsoft.com/office/drawing/2014/main" id="{FA110DD5-2467-CBE6-C683-0507421FAF93}"/>
              </a:ext>
            </a:extLst>
          </p:cNvPr>
          <p:cNvSpPr>
            <a:spLocks noGrp="1"/>
          </p:cNvSpPr>
          <p:nvPr>
            <p:ph idx="1"/>
          </p:nvPr>
        </p:nvSpPr>
        <p:spPr/>
        <p:txBody>
          <a:bodyPr/>
          <a:lstStyle/>
          <a:p>
            <a:r>
              <a:rPr lang="en-US" altLang="en-US"/>
              <a:t>Risk of not meeting the schedule or budget</a:t>
            </a:r>
          </a:p>
          <a:p>
            <a:r>
              <a:rPr lang="en-US" altLang="en-US"/>
              <a:t>It works best for large projects only also demands risk assessment expertise</a:t>
            </a:r>
          </a:p>
          <a:p>
            <a:r>
              <a:rPr lang="en-US" altLang="en-US"/>
              <a:t>For its smooth operation spiral model protocol needs to be followed strictly</a:t>
            </a:r>
          </a:p>
          <a:p>
            <a:r>
              <a:rPr lang="en-US" altLang="en-US"/>
              <a:t>Documentation is more as it has intermediate phases</a:t>
            </a:r>
          </a:p>
          <a:p>
            <a:r>
              <a:rPr lang="en-US" altLang="en-US"/>
              <a:t>It is not advisable for smaller project, it might cost them a lot</a:t>
            </a:r>
            <a:endParaRPr lang="en-GB"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22AEDF5-8F2A-4C74-10E1-187D3CF5ADDC}"/>
              </a:ext>
            </a:extLst>
          </p:cNvPr>
          <p:cNvSpPr>
            <a:spLocks noGrp="1" noChangeArrowheads="1"/>
          </p:cNvSpPr>
          <p:nvPr>
            <p:ph type="title"/>
          </p:nvPr>
        </p:nvSpPr>
        <p:spPr/>
        <p:txBody>
          <a:bodyPr/>
          <a:lstStyle/>
          <a:p>
            <a:pPr fontAlgn="auto">
              <a:spcAft>
                <a:spcPts val="0"/>
              </a:spcAft>
              <a:defRPr/>
            </a:pPr>
            <a:r>
              <a:rPr lang="en-US" altLang="en-US" sz="4800" dirty="0"/>
              <a:t>Agile Process Models </a:t>
            </a:r>
          </a:p>
        </p:txBody>
      </p:sp>
      <p:sp>
        <p:nvSpPr>
          <p:cNvPr id="24579" name="Rectangle 3">
            <a:extLst>
              <a:ext uri="{FF2B5EF4-FFF2-40B4-BE49-F238E27FC236}">
                <a16:creationId xmlns:a16="http://schemas.microsoft.com/office/drawing/2014/main" id="{AE80FA09-1ED1-4091-C60B-0D8CE80EA737}"/>
              </a:ext>
            </a:extLst>
          </p:cNvPr>
          <p:cNvSpPr>
            <a:spLocks noGrp="1" noChangeArrowheads="1"/>
          </p:cNvSpPr>
          <p:nvPr>
            <p:ph type="body" idx="1"/>
          </p:nvPr>
        </p:nvSpPr>
        <p:spPr/>
        <p:txBody>
          <a:bodyPr/>
          <a:lstStyle/>
          <a:p>
            <a:pPr>
              <a:lnSpc>
                <a:spcPct val="80000"/>
              </a:lnSpc>
            </a:pPr>
            <a:r>
              <a:rPr lang="en-US" altLang="en-US" sz="2400"/>
              <a:t>Agile software engineering combines a philosophy and a set of development guidelines</a:t>
            </a:r>
          </a:p>
          <a:p>
            <a:pPr>
              <a:lnSpc>
                <a:spcPct val="80000"/>
              </a:lnSpc>
            </a:pPr>
            <a:r>
              <a:rPr lang="en-US" altLang="en-US" sz="2400" b="1"/>
              <a:t>Philosophy</a:t>
            </a:r>
          </a:p>
          <a:p>
            <a:pPr lvl="1">
              <a:lnSpc>
                <a:spcPct val="80000"/>
              </a:lnSpc>
            </a:pPr>
            <a:r>
              <a:rPr lang="en-US" altLang="en-US" sz="2400"/>
              <a:t>Encourages customer satisfaction and early incremental delivery of the software</a:t>
            </a:r>
          </a:p>
          <a:p>
            <a:pPr lvl="1">
              <a:lnSpc>
                <a:spcPct val="80000"/>
              </a:lnSpc>
            </a:pPr>
            <a:r>
              <a:rPr lang="en-US" altLang="en-US" sz="2400"/>
              <a:t>Small highly motivated project teams</a:t>
            </a:r>
          </a:p>
          <a:p>
            <a:pPr lvl="1">
              <a:lnSpc>
                <a:spcPct val="80000"/>
              </a:lnSpc>
            </a:pPr>
            <a:r>
              <a:rPr lang="en-US" altLang="en-US" sz="2400"/>
              <a:t>Informal methods</a:t>
            </a:r>
          </a:p>
          <a:p>
            <a:pPr lvl="1">
              <a:lnSpc>
                <a:spcPct val="80000"/>
              </a:lnSpc>
            </a:pPr>
            <a:r>
              <a:rPr lang="en-US" altLang="en-US" sz="2400"/>
              <a:t>Minimal software engineering work products</a:t>
            </a:r>
          </a:p>
          <a:p>
            <a:pPr lvl="1">
              <a:lnSpc>
                <a:spcPct val="80000"/>
              </a:lnSpc>
            </a:pPr>
            <a:r>
              <a:rPr lang="en-US" altLang="en-US" sz="2400"/>
              <a:t>Overall development simplicity</a:t>
            </a:r>
          </a:p>
          <a:p>
            <a:pPr>
              <a:lnSpc>
                <a:spcPct val="80000"/>
              </a:lnSpc>
            </a:pPr>
            <a:r>
              <a:rPr lang="en-US" altLang="en-US" sz="2400" b="1"/>
              <a:t>Development guidelines</a:t>
            </a:r>
          </a:p>
          <a:p>
            <a:pPr lvl="1">
              <a:lnSpc>
                <a:spcPct val="80000"/>
              </a:lnSpc>
            </a:pPr>
            <a:r>
              <a:rPr lang="en-US" altLang="en-US" sz="2400"/>
              <a:t>Stress delivery over analysis and design</a:t>
            </a:r>
          </a:p>
          <a:p>
            <a:pPr lvl="1">
              <a:lnSpc>
                <a:spcPct val="80000"/>
              </a:lnSpc>
            </a:pPr>
            <a:r>
              <a:rPr lang="en-US" altLang="en-US" sz="2400"/>
              <a:t>Active and continuous communication between developers and customers</a:t>
            </a:r>
          </a:p>
          <a:p>
            <a:pPr>
              <a:lnSpc>
                <a:spcPct val="80000"/>
              </a:lnSpc>
            </a:pPr>
            <a:endParaRPr lang="en-US"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1012F-AD71-EBEF-244A-21F82EFA1BF0}"/>
              </a:ext>
            </a:extLst>
          </p:cNvPr>
          <p:cNvSpPr>
            <a:spLocks noGrp="1"/>
          </p:cNvSpPr>
          <p:nvPr>
            <p:ph type="title"/>
          </p:nvPr>
        </p:nvSpPr>
        <p:spPr/>
        <p:txBody>
          <a:bodyPr/>
          <a:lstStyle/>
          <a:p>
            <a:pPr fontAlgn="auto">
              <a:spcAft>
                <a:spcPts val="0"/>
              </a:spcAft>
              <a:defRPr/>
            </a:pPr>
            <a:r>
              <a:rPr lang="en-US" altLang="en-US" dirty="0"/>
              <a:t>Agile Process Models (contd.)</a:t>
            </a:r>
            <a:endParaRPr lang="en-GB" dirty="0"/>
          </a:p>
        </p:txBody>
      </p:sp>
      <p:pic>
        <p:nvPicPr>
          <p:cNvPr id="25603" name="Content Placeholder 3">
            <a:extLst>
              <a:ext uri="{FF2B5EF4-FFF2-40B4-BE49-F238E27FC236}">
                <a16:creationId xmlns:a16="http://schemas.microsoft.com/office/drawing/2014/main" id="{F6812D0B-EC9A-0F06-3BC9-8DB8E74AC1D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0" y="1798638"/>
            <a:ext cx="8759825" cy="4221162"/>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F0B9C-B02B-203A-6E78-F8F7363055EE}"/>
              </a:ext>
            </a:extLst>
          </p:cNvPr>
          <p:cNvSpPr>
            <a:spLocks noGrp="1"/>
          </p:cNvSpPr>
          <p:nvPr>
            <p:ph type="title"/>
          </p:nvPr>
        </p:nvSpPr>
        <p:spPr/>
        <p:txBody>
          <a:bodyPr/>
          <a:lstStyle/>
          <a:p>
            <a:pPr fontAlgn="auto">
              <a:spcAft>
                <a:spcPts val="0"/>
              </a:spcAft>
              <a:defRPr/>
            </a:pPr>
            <a:r>
              <a:rPr lang="en-US" altLang="en-US" dirty="0"/>
              <a:t>Agile Process Models (contd.)</a:t>
            </a:r>
            <a:endParaRPr lang="en-GB" dirty="0"/>
          </a:p>
        </p:txBody>
      </p:sp>
      <p:pic>
        <p:nvPicPr>
          <p:cNvPr id="26627" name="Content Placeholder 3">
            <a:extLst>
              <a:ext uri="{FF2B5EF4-FFF2-40B4-BE49-F238E27FC236}">
                <a16:creationId xmlns:a16="http://schemas.microsoft.com/office/drawing/2014/main" id="{676A355E-2146-D8B0-EBB0-F93C5FCB844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28588" y="1600200"/>
            <a:ext cx="8277225" cy="480060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D043-D828-E7F7-6A57-311BD64106A3}"/>
              </a:ext>
            </a:extLst>
          </p:cNvPr>
          <p:cNvSpPr>
            <a:spLocks noGrp="1"/>
          </p:cNvSpPr>
          <p:nvPr>
            <p:ph type="title"/>
          </p:nvPr>
        </p:nvSpPr>
        <p:spPr/>
        <p:txBody>
          <a:bodyPr/>
          <a:lstStyle/>
          <a:p>
            <a:pPr fontAlgn="auto">
              <a:spcAft>
                <a:spcPts val="0"/>
              </a:spcAft>
              <a:defRPr/>
            </a:pPr>
            <a:r>
              <a:rPr lang="en-US" sz="4800" dirty="0"/>
              <a:t>Agile vs. Waterfall Method</a:t>
            </a:r>
            <a:endParaRPr lang="en-GB" sz="4800" dirty="0"/>
          </a:p>
        </p:txBody>
      </p:sp>
      <p:graphicFrame>
        <p:nvGraphicFramePr>
          <p:cNvPr id="4" name="Content Placeholder 3">
            <a:extLst>
              <a:ext uri="{FF2B5EF4-FFF2-40B4-BE49-F238E27FC236}">
                <a16:creationId xmlns:a16="http://schemas.microsoft.com/office/drawing/2014/main" id="{9F9EF538-A8F9-DC96-948E-616C8CBD7518}"/>
              </a:ext>
            </a:extLst>
          </p:cNvPr>
          <p:cNvGraphicFramePr>
            <a:graphicFrameLocks noGrp="1"/>
          </p:cNvGraphicFramePr>
          <p:nvPr>
            <p:ph idx="1"/>
          </p:nvPr>
        </p:nvGraphicFramePr>
        <p:xfrm>
          <a:off x="457200" y="1600200"/>
          <a:ext cx="7620000" cy="4302649"/>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370785">
                <a:tc>
                  <a:txBody>
                    <a:bodyPr/>
                    <a:lstStyle/>
                    <a:p>
                      <a:r>
                        <a:rPr lang="en-US" sz="1800" dirty="0"/>
                        <a:t>Agile Model</a:t>
                      </a:r>
                      <a:endParaRPr lang="en-GB" sz="1800" dirty="0"/>
                    </a:p>
                  </a:txBody>
                  <a:tcPr marT="45713" marB="45713"/>
                </a:tc>
                <a:tc>
                  <a:txBody>
                    <a:bodyPr/>
                    <a:lstStyle/>
                    <a:p>
                      <a:r>
                        <a:rPr lang="en-US" sz="1800" dirty="0"/>
                        <a:t>Waterfall Model</a:t>
                      </a:r>
                      <a:endParaRPr lang="en-GB" sz="1800" dirty="0"/>
                    </a:p>
                  </a:txBody>
                  <a:tcPr marT="45713" marB="45713"/>
                </a:tc>
                <a:extLst>
                  <a:ext uri="{0D108BD9-81ED-4DB2-BD59-A6C34878D82A}">
                    <a16:rowId xmlns:a16="http://schemas.microsoft.com/office/drawing/2014/main" val="10000"/>
                  </a:ext>
                </a:extLst>
              </a:tr>
              <a:tr h="914265">
                <a:tc>
                  <a:txBody>
                    <a:bodyPr/>
                    <a:lstStyle/>
                    <a:p>
                      <a:r>
                        <a:rPr lang="en-US" sz="1800" b="0" i="0" kern="1200" dirty="0">
                          <a:solidFill>
                            <a:schemeClr val="dk1"/>
                          </a:solidFill>
                          <a:effectLst/>
                          <a:latin typeface="+mn-lt"/>
                          <a:ea typeface="+mn-ea"/>
                          <a:cs typeface="+mn-cs"/>
                        </a:rPr>
                        <a:t>Agile method proposes incremental and iterative approach to software design</a:t>
                      </a:r>
                      <a:endParaRPr lang="en-GB" sz="1800" dirty="0"/>
                    </a:p>
                  </a:txBody>
                  <a:tcPr marT="45713" marB="45713"/>
                </a:tc>
                <a:tc>
                  <a:txBody>
                    <a:bodyPr/>
                    <a:lstStyle/>
                    <a:p>
                      <a:r>
                        <a:rPr lang="en-US" sz="1800" b="0" i="0" kern="1200" dirty="0">
                          <a:solidFill>
                            <a:schemeClr val="dk1"/>
                          </a:solidFill>
                          <a:effectLst/>
                          <a:latin typeface="+mn-lt"/>
                          <a:ea typeface="+mn-ea"/>
                          <a:cs typeface="+mn-cs"/>
                        </a:rPr>
                        <a:t>Development of the software flows sequentially from start point to end point.</a:t>
                      </a:r>
                      <a:endParaRPr lang="en-GB" sz="1800" dirty="0"/>
                    </a:p>
                  </a:txBody>
                  <a:tcPr marT="45713" marB="45713"/>
                </a:tc>
                <a:extLst>
                  <a:ext uri="{0D108BD9-81ED-4DB2-BD59-A6C34878D82A}">
                    <a16:rowId xmlns:a16="http://schemas.microsoft.com/office/drawing/2014/main" val="10001"/>
                  </a:ext>
                </a:extLst>
              </a:tr>
              <a:tr h="914265">
                <a:tc>
                  <a:txBody>
                    <a:bodyPr/>
                    <a:lstStyle/>
                    <a:p>
                      <a:r>
                        <a:rPr lang="en-US" sz="1800" b="0" i="0" kern="1200" dirty="0">
                          <a:solidFill>
                            <a:schemeClr val="dk1"/>
                          </a:solidFill>
                          <a:effectLst/>
                          <a:latin typeface="+mn-lt"/>
                          <a:ea typeface="+mn-ea"/>
                          <a:cs typeface="+mn-cs"/>
                        </a:rPr>
                        <a:t>The </a:t>
                      </a:r>
                      <a:r>
                        <a:rPr lang="en-US" sz="1800" b="1" i="0" kern="1200" dirty="0">
                          <a:solidFill>
                            <a:schemeClr val="dk1"/>
                          </a:solidFill>
                          <a:effectLst/>
                          <a:latin typeface="+mn-lt"/>
                          <a:ea typeface="+mn-ea"/>
                          <a:cs typeface="+mn-cs"/>
                        </a:rPr>
                        <a:t>agile process</a:t>
                      </a:r>
                      <a:r>
                        <a:rPr lang="en-US" sz="1800" b="0" i="0" kern="1200" dirty="0">
                          <a:solidFill>
                            <a:schemeClr val="dk1"/>
                          </a:solidFill>
                          <a:effectLst/>
                          <a:latin typeface="+mn-lt"/>
                          <a:ea typeface="+mn-ea"/>
                          <a:cs typeface="+mn-cs"/>
                        </a:rPr>
                        <a:t> is broken into individual models that designers work on</a:t>
                      </a:r>
                      <a:endParaRPr lang="en-GB" sz="1800" dirty="0"/>
                    </a:p>
                  </a:txBody>
                  <a:tcPr marT="45713" marB="45713"/>
                </a:tc>
                <a:tc>
                  <a:txBody>
                    <a:bodyPr/>
                    <a:lstStyle/>
                    <a:p>
                      <a:r>
                        <a:rPr lang="en-US" sz="1800" b="0" i="0" kern="1200" dirty="0">
                          <a:solidFill>
                            <a:schemeClr val="dk1"/>
                          </a:solidFill>
                          <a:effectLst/>
                          <a:latin typeface="+mn-lt"/>
                          <a:ea typeface="+mn-ea"/>
                          <a:cs typeface="+mn-cs"/>
                        </a:rPr>
                        <a:t>The design process is not broken into an individual models</a:t>
                      </a:r>
                      <a:endParaRPr lang="en-GB" sz="1800" dirty="0"/>
                    </a:p>
                  </a:txBody>
                  <a:tcPr marT="45713" marB="45713"/>
                </a:tc>
                <a:extLst>
                  <a:ext uri="{0D108BD9-81ED-4DB2-BD59-A6C34878D82A}">
                    <a16:rowId xmlns:a16="http://schemas.microsoft.com/office/drawing/2014/main" val="10002"/>
                  </a:ext>
                </a:extLst>
              </a:tr>
              <a:tr h="1188545">
                <a:tc>
                  <a:txBody>
                    <a:bodyPr/>
                    <a:lstStyle/>
                    <a:p>
                      <a:r>
                        <a:rPr lang="en-US" sz="1800" b="0" i="0" kern="1200" dirty="0">
                          <a:solidFill>
                            <a:schemeClr val="dk1"/>
                          </a:solidFill>
                          <a:effectLst/>
                          <a:latin typeface="+mn-lt"/>
                          <a:ea typeface="+mn-ea"/>
                          <a:cs typeface="+mn-cs"/>
                        </a:rPr>
                        <a:t>The customer has early and frequent opportunities to look at the product and make decision and changes to the project</a:t>
                      </a:r>
                      <a:endParaRPr lang="en-GB" sz="1800" dirty="0"/>
                    </a:p>
                  </a:txBody>
                  <a:tcPr marT="45713" marB="45713"/>
                </a:tc>
                <a:tc>
                  <a:txBody>
                    <a:bodyPr/>
                    <a:lstStyle/>
                    <a:p>
                      <a:r>
                        <a:rPr lang="en-US" sz="1800" b="0" i="0" kern="1200" dirty="0">
                          <a:solidFill>
                            <a:schemeClr val="dk1"/>
                          </a:solidFill>
                          <a:effectLst/>
                          <a:latin typeface="+mn-lt"/>
                          <a:ea typeface="+mn-ea"/>
                          <a:cs typeface="+mn-cs"/>
                        </a:rPr>
                        <a:t>The customer can only see the product at the end of the project</a:t>
                      </a:r>
                      <a:endParaRPr lang="en-GB" sz="1800" dirty="0"/>
                    </a:p>
                  </a:txBody>
                  <a:tcPr marT="45713" marB="45713"/>
                </a:tc>
                <a:extLst>
                  <a:ext uri="{0D108BD9-81ED-4DB2-BD59-A6C34878D82A}">
                    <a16:rowId xmlns:a16="http://schemas.microsoft.com/office/drawing/2014/main" val="10003"/>
                  </a:ext>
                </a:extLst>
              </a:tr>
              <a:tr h="914265">
                <a:tc>
                  <a:txBody>
                    <a:bodyPr/>
                    <a:lstStyle/>
                    <a:p>
                      <a:r>
                        <a:rPr lang="en-US" sz="1800" b="0" i="0" kern="1200" dirty="0">
                          <a:solidFill>
                            <a:schemeClr val="dk1"/>
                          </a:solidFill>
                          <a:effectLst/>
                          <a:latin typeface="+mn-lt"/>
                          <a:ea typeface="+mn-ea"/>
                          <a:cs typeface="+mn-cs"/>
                        </a:rPr>
                        <a:t>Agile model is considered unstructured compared to the waterfall model</a:t>
                      </a:r>
                      <a:endParaRPr lang="en-GB" sz="1800" dirty="0"/>
                    </a:p>
                  </a:txBody>
                  <a:tcPr marT="45713" marB="45713"/>
                </a:tc>
                <a:tc>
                  <a:txBody>
                    <a:bodyPr/>
                    <a:lstStyle/>
                    <a:p>
                      <a:r>
                        <a:rPr lang="en-US" sz="1800" b="0" i="0" kern="1200" dirty="0">
                          <a:solidFill>
                            <a:schemeClr val="dk1"/>
                          </a:solidFill>
                          <a:effectLst/>
                          <a:latin typeface="+mn-lt"/>
                          <a:ea typeface="+mn-ea"/>
                          <a:cs typeface="+mn-cs"/>
                        </a:rPr>
                        <a:t>Waterfall model are more secure because they are so plan oriented</a:t>
                      </a:r>
                      <a:endParaRPr lang="en-GB" sz="1800" dirty="0"/>
                    </a:p>
                  </a:txBody>
                  <a:tcPr marT="45713" marB="45713"/>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DC6E0-60DE-FEA2-3FE9-E9DAEB35D4D5}"/>
              </a:ext>
            </a:extLst>
          </p:cNvPr>
          <p:cNvSpPr>
            <a:spLocks noGrp="1"/>
          </p:cNvSpPr>
          <p:nvPr>
            <p:ph type="title"/>
          </p:nvPr>
        </p:nvSpPr>
        <p:spPr>
          <a:xfrm>
            <a:off x="457200" y="152400"/>
            <a:ext cx="7620000" cy="1143000"/>
          </a:xfrm>
        </p:spPr>
        <p:txBody>
          <a:bodyPr/>
          <a:lstStyle/>
          <a:p>
            <a:pPr fontAlgn="auto">
              <a:spcAft>
                <a:spcPts val="0"/>
              </a:spcAft>
              <a:defRPr/>
            </a:pPr>
            <a:r>
              <a:rPr lang="en-US" sz="4800" dirty="0"/>
              <a:t>Agile vs. Waterfall Method (contd.)</a:t>
            </a:r>
            <a:endParaRPr lang="en-GB" sz="4800" dirty="0"/>
          </a:p>
        </p:txBody>
      </p:sp>
      <p:graphicFrame>
        <p:nvGraphicFramePr>
          <p:cNvPr id="4" name="Content Placeholder 3">
            <a:extLst>
              <a:ext uri="{FF2B5EF4-FFF2-40B4-BE49-F238E27FC236}">
                <a16:creationId xmlns:a16="http://schemas.microsoft.com/office/drawing/2014/main" id="{495E2378-D6DD-C4E6-D0D6-DB2C1D12F3A3}"/>
              </a:ext>
            </a:extLst>
          </p:cNvPr>
          <p:cNvGraphicFramePr>
            <a:graphicFrameLocks noGrp="1"/>
          </p:cNvGraphicFramePr>
          <p:nvPr>
            <p:ph idx="1"/>
          </p:nvPr>
        </p:nvGraphicFramePr>
        <p:xfrm>
          <a:off x="457200" y="1447800"/>
          <a:ext cx="7620000" cy="5400676"/>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37088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Agile Model</a:t>
                      </a:r>
                      <a:endParaRPr lang="en-GB" sz="1800" dirty="0"/>
                    </a:p>
                  </a:txBody>
                  <a:tcPr marT="45725" marB="4572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Waterfall Model</a:t>
                      </a:r>
                      <a:endParaRPr lang="en-GB" sz="1800" dirty="0"/>
                    </a:p>
                  </a:txBody>
                  <a:tcPr marT="45725" marB="45725"/>
                </a:tc>
                <a:extLst>
                  <a:ext uri="{0D108BD9-81ED-4DB2-BD59-A6C34878D82A}">
                    <a16:rowId xmlns:a16="http://schemas.microsoft.com/office/drawing/2014/main" val="10000"/>
                  </a:ext>
                </a:extLst>
              </a:tr>
              <a:tr h="1188860">
                <a:tc>
                  <a:txBody>
                    <a:bodyPr/>
                    <a:lstStyle/>
                    <a:p>
                      <a:r>
                        <a:rPr lang="en-US" sz="1800" b="0" i="0" kern="1200" dirty="0">
                          <a:solidFill>
                            <a:schemeClr val="dk1"/>
                          </a:solidFill>
                          <a:effectLst/>
                          <a:latin typeface="+mn-lt"/>
                          <a:ea typeface="+mn-ea"/>
                          <a:cs typeface="+mn-cs"/>
                        </a:rPr>
                        <a:t>Small projects can be implemented very quickly. For large projects, it is difficult to estimate the development time.</a:t>
                      </a:r>
                      <a:endParaRPr lang="en-GB" sz="1800" dirty="0"/>
                    </a:p>
                  </a:txBody>
                  <a:tcPr marT="45725" marB="45725"/>
                </a:tc>
                <a:tc>
                  <a:txBody>
                    <a:bodyPr/>
                    <a:lstStyle/>
                    <a:p>
                      <a:r>
                        <a:rPr lang="en-US" sz="1800" b="0" i="0" kern="1200" dirty="0">
                          <a:solidFill>
                            <a:schemeClr val="dk1"/>
                          </a:solidFill>
                          <a:effectLst/>
                          <a:latin typeface="+mn-lt"/>
                          <a:ea typeface="+mn-ea"/>
                          <a:cs typeface="+mn-cs"/>
                        </a:rPr>
                        <a:t>All sorts of project can be estimated and completed.</a:t>
                      </a:r>
                      <a:endParaRPr lang="en-GB" sz="1800" dirty="0"/>
                    </a:p>
                  </a:txBody>
                  <a:tcPr marT="45725" marB="45725"/>
                </a:tc>
                <a:extLst>
                  <a:ext uri="{0D108BD9-81ED-4DB2-BD59-A6C34878D82A}">
                    <a16:rowId xmlns:a16="http://schemas.microsoft.com/office/drawing/2014/main" val="10001"/>
                  </a:ext>
                </a:extLst>
              </a:tr>
              <a:tr h="1463212">
                <a:tc>
                  <a:txBody>
                    <a:bodyPr/>
                    <a:lstStyle/>
                    <a:p>
                      <a:r>
                        <a:rPr lang="en-US" sz="1800" b="0" i="0" kern="1200" dirty="0">
                          <a:solidFill>
                            <a:schemeClr val="dk1"/>
                          </a:solidFill>
                          <a:effectLst/>
                          <a:latin typeface="+mn-lt"/>
                          <a:ea typeface="+mn-ea"/>
                          <a:cs typeface="+mn-cs"/>
                        </a:rPr>
                        <a:t>Error can be fixed in the middle of the project.</a:t>
                      </a:r>
                      <a:endParaRPr lang="en-GB" sz="1800" dirty="0"/>
                    </a:p>
                  </a:txBody>
                  <a:tcPr marT="45725" marB="45725"/>
                </a:tc>
                <a:tc>
                  <a:txBody>
                    <a:bodyPr/>
                    <a:lstStyle/>
                    <a:p>
                      <a:r>
                        <a:rPr lang="en-US" sz="1800" b="0" i="0" kern="1200" dirty="0">
                          <a:solidFill>
                            <a:schemeClr val="dk1"/>
                          </a:solidFill>
                          <a:effectLst/>
                          <a:latin typeface="+mn-lt"/>
                          <a:ea typeface="+mn-ea"/>
                          <a:cs typeface="+mn-cs"/>
                        </a:rPr>
                        <a:t>Only at the end, the whole product is tested. If the requirement error is found or any changes have to be made, the project has to start from the beginning</a:t>
                      </a:r>
                      <a:endParaRPr lang="en-GB" sz="1800" dirty="0"/>
                    </a:p>
                  </a:txBody>
                  <a:tcPr marT="45725" marB="45725"/>
                </a:tc>
                <a:extLst>
                  <a:ext uri="{0D108BD9-81ED-4DB2-BD59-A6C34878D82A}">
                    <a16:rowId xmlns:a16="http://schemas.microsoft.com/office/drawing/2014/main" val="10002"/>
                  </a:ext>
                </a:extLst>
              </a:tr>
              <a:tr h="1188860">
                <a:tc>
                  <a:txBody>
                    <a:bodyPr/>
                    <a:lstStyle/>
                    <a:p>
                      <a:r>
                        <a:rPr lang="en-US" sz="1800" b="0" i="0" kern="1200" dirty="0">
                          <a:solidFill>
                            <a:schemeClr val="dk1"/>
                          </a:solidFill>
                          <a:effectLst/>
                          <a:latin typeface="+mn-lt"/>
                          <a:ea typeface="+mn-ea"/>
                          <a:cs typeface="+mn-cs"/>
                        </a:rPr>
                        <a:t>Development process is iterative, and the project is executed in short (2-4) weeks iterations. Planning is very less.</a:t>
                      </a:r>
                      <a:endParaRPr lang="en-GB" sz="1800" dirty="0"/>
                    </a:p>
                  </a:txBody>
                  <a:tcPr marT="45725" marB="45725"/>
                </a:tc>
                <a:tc>
                  <a:txBody>
                    <a:bodyPr/>
                    <a:lstStyle/>
                    <a:p>
                      <a:r>
                        <a:rPr lang="en-US" sz="1800" b="0" i="0" kern="1200" dirty="0">
                          <a:solidFill>
                            <a:schemeClr val="dk1"/>
                          </a:solidFill>
                          <a:effectLst/>
                          <a:latin typeface="+mn-lt"/>
                          <a:ea typeface="+mn-ea"/>
                          <a:cs typeface="+mn-cs"/>
                        </a:rPr>
                        <a:t>The development process is phased, and the phase is much bigger than iteration. Every phase ends with the detailed description of the next phase.</a:t>
                      </a:r>
                      <a:endParaRPr lang="en-GB" sz="1800" dirty="0"/>
                    </a:p>
                  </a:txBody>
                  <a:tcPr marT="45725" marB="45725"/>
                </a:tc>
                <a:extLst>
                  <a:ext uri="{0D108BD9-81ED-4DB2-BD59-A6C34878D82A}">
                    <a16:rowId xmlns:a16="http://schemas.microsoft.com/office/drawing/2014/main" val="10003"/>
                  </a:ext>
                </a:extLst>
              </a:tr>
              <a:tr h="1188860">
                <a:tc>
                  <a:txBody>
                    <a:bodyPr/>
                    <a:lstStyle/>
                    <a:p>
                      <a:r>
                        <a:rPr lang="en-US" sz="1800" b="0" i="0" kern="1200" dirty="0">
                          <a:solidFill>
                            <a:schemeClr val="dk1"/>
                          </a:solidFill>
                          <a:effectLst/>
                          <a:latin typeface="+mn-lt"/>
                          <a:ea typeface="+mn-ea"/>
                          <a:cs typeface="+mn-cs"/>
                        </a:rPr>
                        <a:t>Documentation attends less priority than software development</a:t>
                      </a:r>
                      <a:endParaRPr lang="en-GB" sz="1800" dirty="0"/>
                    </a:p>
                  </a:txBody>
                  <a:tcPr marT="45725" marB="45725"/>
                </a:tc>
                <a:tc>
                  <a:txBody>
                    <a:bodyPr/>
                    <a:lstStyle/>
                    <a:p>
                      <a:r>
                        <a:rPr lang="en-US" sz="1800" b="0" i="0" kern="1200" dirty="0">
                          <a:solidFill>
                            <a:schemeClr val="dk1"/>
                          </a:solidFill>
                          <a:effectLst/>
                          <a:latin typeface="+mn-lt"/>
                          <a:ea typeface="+mn-ea"/>
                          <a:cs typeface="+mn-cs"/>
                        </a:rPr>
                        <a:t>Documentation is a top priority and can even use for training staff and upgrade the software with another team</a:t>
                      </a:r>
                      <a:endParaRPr lang="en-GB" sz="1800" dirty="0"/>
                    </a:p>
                  </a:txBody>
                  <a:tcPr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7A1FB-0C53-8AD7-EE1C-DC375B9F1AC7}"/>
              </a:ext>
            </a:extLst>
          </p:cNvPr>
          <p:cNvSpPr>
            <a:spLocks noGrp="1"/>
          </p:cNvSpPr>
          <p:nvPr>
            <p:ph type="title"/>
          </p:nvPr>
        </p:nvSpPr>
        <p:spPr/>
        <p:txBody>
          <a:bodyPr/>
          <a:lstStyle/>
          <a:p>
            <a:pPr fontAlgn="auto">
              <a:spcAft>
                <a:spcPts val="0"/>
              </a:spcAft>
              <a:defRPr/>
            </a:pPr>
            <a:r>
              <a:rPr lang="en-US" sz="4800" dirty="0"/>
              <a:t>Agile vs. Waterfall Method (contd.)</a:t>
            </a:r>
            <a:endParaRPr lang="en-GB" sz="4800" dirty="0"/>
          </a:p>
        </p:txBody>
      </p:sp>
      <p:graphicFrame>
        <p:nvGraphicFramePr>
          <p:cNvPr id="4" name="Content Placeholder 3">
            <a:extLst>
              <a:ext uri="{FF2B5EF4-FFF2-40B4-BE49-F238E27FC236}">
                <a16:creationId xmlns:a16="http://schemas.microsoft.com/office/drawing/2014/main" id="{05056897-E2CE-179A-A44B-8A0CCEFB42AA}"/>
              </a:ext>
            </a:extLst>
          </p:cNvPr>
          <p:cNvGraphicFramePr>
            <a:graphicFrameLocks noGrp="1"/>
          </p:cNvGraphicFramePr>
          <p:nvPr>
            <p:ph idx="1"/>
          </p:nvPr>
        </p:nvGraphicFramePr>
        <p:xfrm>
          <a:off x="457200" y="1600200"/>
          <a:ext cx="7620000" cy="457703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37081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Agile Model</a:t>
                      </a:r>
                      <a:endParaRPr lang="en-GB" sz="1800" dirty="0"/>
                    </a:p>
                  </a:txBody>
                  <a:tcPr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Waterfall Model</a:t>
                      </a:r>
                      <a:endParaRPr lang="en-GB" sz="1800" dirty="0"/>
                    </a:p>
                  </a:txBody>
                  <a:tcPr marT="45717" marB="45717"/>
                </a:tc>
                <a:extLst>
                  <a:ext uri="{0D108BD9-81ED-4DB2-BD59-A6C34878D82A}">
                    <a16:rowId xmlns:a16="http://schemas.microsoft.com/office/drawing/2014/main" val="10000"/>
                  </a:ext>
                </a:extLst>
              </a:tr>
              <a:tr h="1737240">
                <a:tc>
                  <a:txBody>
                    <a:bodyPr/>
                    <a:lstStyle/>
                    <a:p>
                      <a:r>
                        <a:rPr lang="en-US" sz="1800" b="0" i="0" kern="1200" dirty="0">
                          <a:solidFill>
                            <a:schemeClr val="dk1"/>
                          </a:solidFill>
                          <a:effectLst/>
                          <a:latin typeface="+mn-lt"/>
                          <a:ea typeface="+mn-ea"/>
                          <a:cs typeface="+mn-cs"/>
                        </a:rPr>
                        <a:t>In agile testing when an iteration end, shippable features of the product is delivered to the customer. New features are usable right after shipment. It is useful when you have good contact with customers.</a:t>
                      </a:r>
                      <a:endParaRPr lang="en-GB" sz="1800" dirty="0"/>
                    </a:p>
                  </a:txBody>
                  <a:tcPr marT="45717" marB="45717"/>
                </a:tc>
                <a:tc>
                  <a:txBody>
                    <a:bodyPr/>
                    <a:lstStyle/>
                    <a:p>
                      <a:r>
                        <a:rPr lang="en-US" sz="1800" b="0" i="0" kern="1200" dirty="0">
                          <a:solidFill>
                            <a:schemeClr val="dk1"/>
                          </a:solidFill>
                          <a:effectLst/>
                          <a:latin typeface="+mn-lt"/>
                          <a:ea typeface="+mn-ea"/>
                          <a:cs typeface="+mn-cs"/>
                        </a:rPr>
                        <a:t>All features developed are delivered at once after the long implementation phase.</a:t>
                      </a:r>
                      <a:endParaRPr lang="en-GB" sz="1800" dirty="0"/>
                    </a:p>
                  </a:txBody>
                  <a:tcPr marT="45717" marB="45717"/>
                </a:tc>
                <a:extLst>
                  <a:ext uri="{0D108BD9-81ED-4DB2-BD59-A6C34878D82A}">
                    <a16:rowId xmlns:a16="http://schemas.microsoft.com/office/drawing/2014/main" val="10001"/>
                  </a:ext>
                </a:extLst>
              </a:tr>
              <a:tr h="640036">
                <a:tc>
                  <a:txBody>
                    <a:bodyPr/>
                    <a:lstStyle/>
                    <a:p>
                      <a:r>
                        <a:rPr lang="en-US" sz="1800" b="0" i="0" kern="1200" dirty="0">
                          <a:solidFill>
                            <a:schemeClr val="dk1"/>
                          </a:solidFill>
                          <a:effectLst/>
                          <a:latin typeface="+mn-lt"/>
                          <a:ea typeface="+mn-ea"/>
                          <a:cs typeface="+mn-cs"/>
                        </a:rPr>
                        <a:t>Testers and developers work together</a:t>
                      </a:r>
                      <a:endParaRPr lang="en-GB" sz="1800" dirty="0"/>
                    </a:p>
                  </a:txBody>
                  <a:tcPr marT="45717" marB="45717"/>
                </a:tc>
                <a:tc>
                  <a:txBody>
                    <a:bodyPr/>
                    <a:lstStyle/>
                    <a:p>
                      <a:r>
                        <a:rPr lang="en-US" sz="1800" b="0" i="0" kern="1200" dirty="0">
                          <a:solidFill>
                            <a:schemeClr val="dk1"/>
                          </a:solidFill>
                          <a:effectLst/>
                          <a:latin typeface="+mn-lt"/>
                          <a:ea typeface="+mn-ea"/>
                          <a:cs typeface="+mn-cs"/>
                        </a:rPr>
                        <a:t>Testers work separately from developers</a:t>
                      </a:r>
                      <a:endParaRPr lang="en-GB" sz="1800" dirty="0"/>
                    </a:p>
                  </a:txBody>
                  <a:tcPr marT="45717" marB="45717"/>
                </a:tc>
                <a:extLst>
                  <a:ext uri="{0D108BD9-81ED-4DB2-BD59-A6C34878D82A}">
                    <a16:rowId xmlns:a16="http://schemas.microsoft.com/office/drawing/2014/main" val="10002"/>
                  </a:ext>
                </a:extLst>
              </a:tr>
              <a:tr h="640036">
                <a:tc>
                  <a:txBody>
                    <a:bodyPr/>
                    <a:lstStyle/>
                    <a:p>
                      <a:r>
                        <a:rPr lang="en-US" sz="1800" b="0" i="0" kern="1200" dirty="0">
                          <a:solidFill>
                            <a:schemeClr val="dk1"/>
                          </a:solidFill>
                          <a:effectLst/>
                          <a:latin typeface="+mn-lt"/>
                          <a:ea typeface="+mn-ea"/>
                          <a:cs typeface="+mn-cs"/>
                        </a:rPr>
                        <a:t>At the end of every sprint, user acceptance is performed</a:t>
                      </a:r>
                      <a:endParaRPr lang="en-GB" sz="1800" dirty="0"/>
                    </a:p>
                  </a:txBody>
                  <a:tcPr marT="45717" marB="45717"/>
                </a:tc>
                <a:tc>
                  <a:txBody>
                    <a:bodyPr/>
                    <a:lstStyle/>
                    <a:p>
                      <a:r>
                        <a:rPr lang="en-US" sz="1800" b="0" i="0" kern="1200" dirty="0">
                          <a:solidFill>
                            <a:schemeClr val="dk1"/>
                          </a:solidFill>
                          <a:effectLst/>
                          <a:latin typeface="+mn-lt"/>
                          <a:ea typeface="+mn-ea"/>
                          <a:cs typeface="+mn-cs"/>
                        </a:rPr>
                        <a:t>User acceptance is </a:t>
                      </a:r>
                      <a:r>
                        <a:rPr lang="en-US" sz="1800" b="1" i="0" kern="1200" dirty="0">
                          <a:solidFill>
                            <a:schemeClr val="dk1"/>
                          </a:solidFill>
                          <a:effectLst/>
                          <a:latin typeface="+mn-lt"/>
                          <a:ea typeface="+mn-ea"/>
                          <a:cs typeface="+mn-cs"/>
                        </a:rPr>
                        <a:t>performed</a:t>
                      </a:r>
                      <a:r>
                        <a:rPr lang="en-US" sz="1800" b="0" i="0" kern="1200" dirty="0">
                          <a:solidFill>
                            <a:schemeClr val="dk1"/>
                          </a:solidFill>
                          <a:effectLst/>
                          <a:latin typeface="+mn-lt"/>
                          <a:ea typeface="+mn-ea"/>
                          <a:cs typeface="+mn-cs"/>
                        </a:rPr>
                        <a:t> at the end of the project.</a:t>
                      </a:r>
                      <a:endParaRPr lang="en-GB" sz="1800" dirty="0"/>
                    </a:p>
                  </a:txBody>
                  <a:tcPr marT="45717" marB="45717"/>
                </a:tc>
                <a:extLst>
                  <a:ext uri="{0D108BD9-81ED-4DB2-BD59-A6C34878D82A}">
                    <a16:rowId xmlns:a16="http://schemas.microsoft.com/office/drawing/2014/main" val="10003"/>
                  </a:ext>
                </a:extLst>
              </a:tr>
              <a:tr h="1188638">
                <a:tc>
                  <a:txBody>
                    <a:bodyPr/>
                    <a:lstStyle/>
                    <a:p>
                      <a:r>
                        <a:rPr lang="en-US" sz="1800" b="0" i="0" kern="1200" dirty="0">
                          <a:solidFill>
                            <a:schemeClr val="dk1"/>
                          </a:solidFill>
                          <a:effectLst/>
                          <a:latin typeface="+mn-lt"/>
                          <a:ea typeface="+mn-ea"/>
                          <a:cs typeface="+mn-cs"/>
                        </a:rPr>
                        <a:t>It requires close communication with developers and together analyze requirements and planning</a:t>
                      </a:r>
                      <a:endParaRPr lang="en-GB" sz="1800" dirty="0"/>
                    </a:p>
                  </a:txBody>
                  <a:tcPr marT="45717" marB="45717"/>
                </a:tc>
                <a:tc>
                  <a:txBody>
                    <a:bodyPr/>
                    <a:lstStyle/>
                    <a:p>
                      <a:r>
                        <a:rPr lang="en-US" sz="1800" b="0" i="0" kern="1200" dirty="0">
                          <a:solidFill>
                            <a:schemeClr val="dk1"/>
                          </a:solidFill>
                          <a:effectLst/>
                          <a:latin typeface="+mn-lt"/>
                          <a:ea typeface="+mn-ea"/>
                          <a:cs typeface="+mn-cs"/>
                        </a:rPr>
                        <a:t>Developer does not involve in requirement and planning process. Usually, time delays between tests and coding</a:t>
                      </a:r>
                      <a:endParaRPr lang="en-GB" sz="1800" dirty="0"/>
                    </a:p>
                  </a:txBody>
                  <a:tcPr marT="45717" marB="45717"/>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D32E7F0-403C-F657-6EB8-81BCB862AA53}"/>
              </a:ext>
            </a:extLst>
          </p:cNvPr>
          <p:cNvSpPr>
            <a:spLocks noGrp="1" noChangeArrowheads="1"/>
          </p:cNvSpPr>
          <p:nvPr>
            <p:ph type="title"/>
          </p:nvPr>
        </p:nvSpPr>
        <p:spPr/>
        <p:txBody>
          <a:bodyPr/>
          <a:lstStyle/>
          <a:p>
            <a:pPr fontAlgn="auto">
              <a:spcAft>
                <a:spcPts val="0"/>
              </a:spcAft>
              <a:defRPr/>
            </a:pPr>
            <a:r>
              <a:rPr lang="en-US" altLang="en-US" sz="4800" dirty="0"/>
              <a:t>Extreme Programming (XP)</a:t>
            </a:r>
          </a:p>
        </p:txBody>
      </p:sp>
      <p:sp>
        <p:nvSpPr>
          <p:cNvPr id="30723" name="Rectangle 3">
            <a:extLst>
              <a:ext uri="{FF2B5EF4-FFF2-40B4-BE49-F238E27FC236}">
                <a16:creationId xmlns:a16="http://schemas.microsoft.com/office/drawing/2014/main" id="{DA16EFB2-D377-2A37-32C4-9296F194345A}"/>
              </a:ext>
            </a:extLst>
          </p:cNvPr>
          <p:cNvSpPr>
            <a:spLocks noGrp="1" noChangeArrowheads="1"/>
          </p:cNvSpPr>
          <p:nvPr>
            <p:ph type="body" idx="1"/>
          </p:nvPr>
        </p:nvSpPr>
        <p:spPr>
          <a:xfrm>
            <a:off x="566738" y="1752600"/>
            <a:ext cx="7983537" cy="4556125"/>
          </a:xfrm>
        </p:spPr>
        <p:txBody>
          <a:bodyPr/>
          <a:lstStyle/>
          <a:p>
            <a:pPr>
              <a:lnSpc>
                <a:spcPct val="90000"/>
              </a:lnSpc>
            </a:pPr>
            <a:r>
              <a:rPr lang="en-US" altLang="en-US" sz="2400"/>
              <a:t>Somewhat controversial new approach; variation of the incremental model </a:t>
            </a:r>
          </a:p>
          <a:p>
            <a:pPr>
              <a:lnSpc>
                <a:spcPct val="90000"/>
              </a:lnSpc>
            </a:pPr>
            <a:r>
              <a:rPr lang="en-US" altLang="en-US" sz="2400"/>
              <a:t>First step </a:t>
            </a:r>
          </a:p>
          <a:p>
            <a:pPr lvl="1">
              <a:lnSpc>
                <a:spcPct val="90000"/>
              </a:lnSpc>
            </a:pPr>
            <a:r>
              <a:rPr lang="en-US" altLang="en-US" sz="2400"/>
              <a:t>Determine features that client wants (stories)</a:t>
            </a:r>
          </a:p>
          <a:p>
            <a:pPr lvl="1">
              <a:lnSpc>
                <a:spcPct val="90000"/>
              </a:lnSpc>
            </a:pPr>
            <a:r>
              <a:rPr lang="en-US" altLang="en-US" sz="2400"/>
              <a:t>Estimate duration and cost of each feature </a:t>
            </a:r>
          </a:p>
          <a:p>
            <a:pPr>
              <a:lnSpc>
                <a:spcPct val="90000"/>
              </a:lnSpc>
            </a:pPr>
            <a:r>
              <a:rPr lang="en-US" altLang="en-US" sz="2400"/>
              <a:t>Client selects stories for each successive build</a:t>
            </a:r>
          </a:p>
          <a:p>
            <a:pPr>
              <a:lnSpc>
                <a:spcPct val="90000"/>
              </a:lnSpc>
            </a:pPr>
            <a:r>
              <a:rPr lang="en-US" altLang="en-US" sz="2400"/>
              <a:t>Each build is divided into tasks</a:t>
            </a:r>
          </a:p>
          <a:p>
            <a:pPr>
              <a:lnSpc>
                <a:spcPct val="90000"/>
              </a:lnSpc>
            </a:pPr>
            <a:r>
              <a:rPr lang="en-US" altLang="en-US" sz="2400"/>
              <a:t>Test cases for a task are drawn up </a:t>
            </a:r>
          </a:p>
          <a:p>
            <a:pPr>
              <a:lnSpc>
                <a:spcPct val="90000"/>
              </a:lnSpc>
            </a:pPr>
            <a:r>
              <a:rPr lang="en-US" altLang="en-US" sz="2400"/>
              <a:t>Pair programming –working with a partner on one screen </a:t>
            </a:r>
          </a:p>
          <a:p>
            <a:pPr>
              <a:lnSpc>
                <a:spcPct val="90000"/>
              </a:lnSpc>
            </a:pPr>
            <a:r>
              <a:rPr lang="en-US" altLang="en-US" sz="2400"/>
              <a:t>Continuous integration of tasks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47CD7963-D50D-9EC1-0D75-585B4A6723AF}"/>
              </a:ext>
            </a:extLst>
          </p:cNvPr>
          <p:cNvSpPr>
            <a:spLocks noGrp="1" noChangeArrowheads="1"/>
          </p:cNvSpPr>
          <p:nvPr>
            <p:ph type="title"/>
          </p:nvPr>
        </p:nvSpPr>
        <p:spPr/>
        <p:txBody>
          <a:bodyPr/>
          <a:lstStyle/>
          <a:p>
            <a:pPr fontAlgn="auto">
              <a:spcAft>
                <a:spcPts val="0"/>
              </a:spcAft>
              <a:defRPr/>
            </a:pPr>
            <a:r>
              <a:rPr lang="en-US" altLang="en-US" sz="4800" dirty="0"/>
              <a:t>Extreme Programming (contd.)</a:t>
            </a:r>
          </a:p>
        </p:txBody>
      </p:sp>
      <p:pic>
        <p:nvPicPr>
          <p:cNvPr id="31747" name="Content Placeholder 2">
            <a:extLst>
              <a:ext uri="{FF2B5EF4-FFF2-40B4-BE49-F238E27FC236}">
                <a16:creationId xmlns:a16="http://schemas.microsoft.com/office/drawing/2014/main" id="{F87C3CC6-9745-9A24-D8E6-E729D39FBC3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76200" y="1833563"/>
            <a:ext cx="8353425" cy="4643437"/>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C9E7B63-6CE7-2A0D-3C35-93E282E7BDD5}"/>
              </a:ext>
            </a:extLst>
          </p:cNvPr>
          <p:cNvSpPr>
            <a:spLocks noGrp="1" noChangeArrowheads="1"/>
          </p:cNvSpPr>
          <p:nvPr>
            <p:ph type="title"/>
          </p:nvPr>
        </p:nvSpPr>
        <p:spPr/>
        <p:txBody>
          <a:bodyPr/>
          <a:lstStyle/>
          <a:p>
            <a:pPr fontAlgn="auto">
              <a:spcAft>
                <a:spcPts val="0"/>
              </a:spcAft>
              <a:defRPr/>
            </a:pPr>
            <a:r>
              <a:rPr lang="en-US" altLang="en-US" sz="4800" dirty="0"/>
              <a:t>Features of XP</a:t>
            </a:r>
          </a:p>
        </p:txBody>
      </p:sp>
      <p:sp>
        <p:nvSpPr>
          <p:cNvPr id="32771" name="Rectangle 3">
            <a:extLst>
              <a:ext uri="{FF2B5EF4-FFF2-40B4-BE49-F238E27FC236}">
                <a16:creationId xmlns:a16="http://schemas.microsoft.com/office/drawing/2014/main" id="{53B1AEAF-57A0-76FA-36A2-5F869553DE1B}"/>
              </a:ext>
            </a:extLst>
          </p:cNvPr>
          <p:cNvSpPr>
            <a:spLocks noGrp="1" noChangeArrowheads="1"/>
          </p:cNvSpPr>
          <p:nvPr>
            <p:ph type="body" idx="1"/>
          </p:nvPr>
        </p:nvSpPr>
        <p:spPr/>
        <p:txBody>
          <a:bodyPr/>
          <a:lstStyle/>
          <a:p>
            <a:pPr>
              <a:lnSpc>
                <a:spcPct val="80000"/>
              </a:lnSpc>
            </a:pPr>
            <a:r>
              <a:rPr lang="en-US" altLang="en-US" sz="2600"/>
              <a:t>Computers are put in center of large room lined with cubicles</a:t>
            </a:r>
          </a:p>
          <a:p>
            <a:pPr>
              <a:lnSpc>
                <a:spcPct val="80000"/>
              </a:lnSpc>
            </a:pPr>
            <a:r>
              <a:rPr lang="en-US" altLang="en-US" sz="2600"/>
              <a:t>Client representative works with the XP team at all the times</a:t>
            </a:r>
          </a:p>
          <a:p>
            <a:pPr>
              <a:lnSpc>
                <a:spcPct val="80000"/>
              </a:lnSpc>
            </a:pPr>
            <a:r>
              <a:rPr lang="en-US" altLang="en-US" sz="2600"/>
              <a:t>Individual cannot work overtime for 2 successive weeks</a:t>
            </a:r>
          </a:p>
          <a:p>
            <a:pPr>
              <a:lnSpc>
                <a:spcPct val="80000"/>
              </a:lnSpc>
            </a:pPr>
            <a:r>
              <a:rPr lang="en-US" altLang="en-US" sz="2600"/>
              <a:t>There is no specialization </a:t>
            </a:r>
          </a:p>
          <a:p>
            <a:pPr lvl="1">
              <a:lnSpc>
                <a:spcPct val="80000"/>
              </a:lnSpc>
            </a:pPr>
            <a:r>
              <a:rPr lang="en-US" altLang="en-US" sz="2200"/>
              <a:t>all members of the XP team work on specification, design, code, and testing</a:t>
            </a:r>
          </a:p>
          <a:p>
            <a:pPr>
              <a:lnSpc>
                <a:spcPct val="80000"/>
              </a:lnSpc>
            </a:pPr>
            <a:r>
              <a:rPr lang="en-US" altLang="en-US" sz="2600"/>
              <a:t>There is no overall design phase before various builds are constructed –  Refactoring</a:t>
            </a:r>
          </a:p>
          <a:p>
            <a:pPr>
              <a:lnSpc>
                <a:spcPct val="80000"/>
              </a:lnSpc>
            </a:pPr>
            <a:endParaRPr lang="en-US" altLang="en-US" sz="2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A58D604-524F-4912-EDA3-AB9B6AB12FEA}"/>
              </a:ext>
            </a:extLst>
          </p:cNvPr>
          <p:cNvSpPr>
            <a:spLocks noGrp="1" noChangeArrowheads="1"/>
          </p:cNvSpPr>
          <p:nvPr>
            <p:ph type="title"/>
          </p:nvPr>
        </p:nvSpPr>
        <p:spPr/>
        <p:txBody>
          <a:bodyPr/>
          <a:lstStyle/>
          <a:p>
            <a:pPr fontAlgn="auto">
              <a:spcAft>
                <a:spcPts val="0"/>
              </a:spcAft>
              <a:defRPr/>
            </a:pPr>
            <a:r>
              <a:rPr lang="en-US" altLang="en-US" sz="4800" dirty="0"/>
              <a:t>Advantages of Agile Model</a:t>
            </a:r>
          </a:p>
        </p:txBody>
      </p:sp>
      <p:sp>
        <p:nvSpPr>
          <p:cNvPr id="33795" name="Rectangle 3">
            <a:extLst>
              <a:ext uri="{FF2B5EF4-FFF2-40B4-BE49-F238E27FC236}">
                <a16:creationId xmlns:a16="http://schemas.microsoft.com/office/drawing/2014/main" id="{79B244C9-3B32-0D9B-6FCE-F4E979A9BC66}"/>
              </a:ext>
            </a:extLst>
          </p:cNvPr>
          <p:cNvSpPr>
            <a:spLocks noGrp="1" noChangeArrowheads="1"/>
          </p:cNvSpPr>
          <p:nvPr>
            <p:ph type="body" idx="1"/>
          </p:nvPr>
        </p:nvSpPr>
        <p:spPr/>
        <p:txBody>
          <a:bodyPr/>
          <a:lstStyle/>
          <a:p>
            <a:r>
              <a:rPr lang="en-US" altLang="en-US"/>
              <a:t>Customer satisfaction by rapid, continuous delivery of useful software.</a:t>
            </a:r>
          </a:p>
          <a:p>
            <a:r>
              <a:rPr lang="en-US" altLang="en-US"/>
              <a:t>People and interactions are emphasized rather than process and tools. Customers, developers and testers constantly interact with each other.</a:t>
            </a:r>
          </a:p>
          <a:p>
            <a:r>
              <a:rPr lang="en-US" altLang="en-US"/>
              <a:t>Working software is delivered frequently (weeks rather than months).</a:t>
            </a:r>
          </a:p>
          <a:p>
            <a:r>
              <a:rPr lang="en-US" altLang="en-US"/>
              <a:t>Face-to-face conversation is the best form of communication.</a:t>
            </a:r>
          </a:p>
          <a:p>
            <a:r>
              <a:rPr lang="en-US" altLang="en-US"/>
              <a:t>Close, daily cooperation between business people and developers.</a:t>
            </a:r>
          </a:p>
          <a:p>
            <a:r>
              <a:rPr lang="en-US" altLang="en-US"/>
              <a:t>Regular adaptation to changing circumstances.</a:t>
            </a:r>
          </a:p>
          <a:p>
            <a:r>
              <a:rPr lang="en-US" altLang="en-US"/>
              <a:t>Even late changes in requirements are welcomed</a:t>
            </a:r>
          </a:p>
          <a:p>
            <a:pPr>
              <a:lnSpc>
                <a:spcPct val="80000"/>
              </a:lnSpc>
            </a:pP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F2956-42FE-3290-F729-6E2A3444BD66}"/>
              </a:ext>
            </a:extLst>
          </p:cNvPr>
          <p:cNvSpPr>
            <a:spLocks noGrp="1"/>
          </p:cNvSpPr>
          <p:nvPr>
            <p:ph type="title"/>
          </p:nvPr>
        </p:nvSpPr>
        <p:spPr/>
        <p:txBody>
          <a:bodyPr/>
          <a:lstStyle/>
          <a:p>
            <a:pPr fontAlgn="auto">
              <a:spcAft>
                <a:spcPts val="0"/>
              </a:spcAft>
              <a:defRPr/>
            </a:pPr>
            <a:r>
              <a:rPr lang="en-GB" sz="4800" dirty="0"/>
              <a:t>Disadvantages of Agile model</a:t>
            </a:r>
          </a:p>
        </p:txBody>
      </p:sp>
      <p:sp>
        <p:nvSpPr>
          <p:cNvPr id="34819" name="Content Placeholder 2">
            <a:extLst>
              <a:ext uri="{FF2B5EF4-FFF2-40B4-BE49-F238E27FC236}">
                <a16:creationId xmlns:a16="http://schemas.microsoft.com/office/drawing/2014/main" id="{0EC1B319-EB68-108D-B0E2-3DC4F70A568A}"/>
              </a:ext>
            </a:extLst>
          </p:cNvPr>
          <p:cNvSpPr>
            <a:spLocks noGrp="1"/>
          </p:cNvSpPr>
          <p:nvPr>
            <p:ph idx="1"/>
          </p:nvPr>
        </p:nvSpPr>
        <p:spPr/>
        <p:txBody>
          <a:bodyPr/>
          <a:lstStyle/>
          <a:p>
            <a:r>
              <a:rPr lang="en-US" altLang="en-US"/>
              <a:t>In case of some software deliverables, especially the large ones, it is difficult to assess the effort required at the beginning of the software development life cycle.</a:t>
            </a:r>
          </a:p>
          <a:p>
            <a:r>
              <a:rPr lang="en-US" altLang="en-US"/>
              <a:t>There is lack of emphasis on necessary designing and documentation.</a:t>
            </a:r>
          </a:p>
          <a:p>
            <a:r>
              <a:rPr lang="en-US" altLang="en-US"/>
              <a:t>The project can easily get taken off track if the customer representative is not clear what final outcome that they want.</a:t>
            </a:r>
          </a:p>
          <a:p>
            <a:r>
              <a:rPr lang="en-US" altLang="en-US"/>
              <a:t>Only senior programmers are capable of taking the kind of decisions required during the development process. Hence it has no place for newbie programmers, unless combined with experienced resources.</a:t>
            </a:r>
          </a:p>
          <a:p>
            <a:endParaRPr lang="en-GB"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8539E-3617-4E6D-1E81-E5ABA35DB9C8}"/>
              </a:ext>
            </a:extLst>
          </p:cNvPr>
          <p:cNvSpPr>
            <a:spLocks noGrp="1"/>
          </p:cNvSpPr>
          <p:nvPr>
            <p:ph type="title"/>
          </p:nvPr>
        </p:nvSpPr>
        <p:spPr/>
        <p:txBody>
          <a:bodyPr/>
          <a:lstStyle/>
          <a:p>
            <a:pPr fontAlgn="auto">
              <a:spcAft>
                <a:spcPts val="0"/>
              </a:spcAft>
              <a:defRPr/>
            </a:pPr>
            <a:r>
              <a:rPr lang="en-US" sz="4800" dirty="0"/>
              <a:t>When to use Agile model</a:t>
            </a:r>
            <a:endParaRPr lang="en-GB" sz="4800" dirty="0"/>
          </a:p>
        </p:txBody>
      </p:sp>
      <p:sp>
        <p:nvSpPr>
          <p:cNvPr id="3" name="Content Placeholder 2">
            <a:extLst>
              <a:ext uri="{FF2B5EF4-FFF2-40B4-BE49-F238E27FC236}">
                <a16:creationId xmlns:a16="http://schemas.microsoft.com/office/drawing/2014/main" id="{E75C4DD7-412D-9EF0-445F-33629B60F174}"/>
              </a:ext>
            </a:extLst>
          </p:cNvPr>
          <p:cNvSpPr>
            <a:spLocks noGrp="1"/>
          </p:cNvSpPr>
          <p:nvPr>
            <p:ph idx="1"/>
          </p:nvPr>
        </p:nvSpPr>
        <p:spPr/>
        <p:txBody>
          <a:bodyPr rtlCol="0">
            <a:normAutofit lnSpcReduction="10000"/>
          </a:bodyPr>
          <a:lstStyle/>
          <a:p>
            <a:pPr fontAlgn="auto">
              <a:spcAft>
                <a:spcPts val="0"/>
              </a:spcAft>
              <a:defRPr/>
            </a:pPr>
            <a:r>
              <a:rPr lang="en-US" dirty="0"/>
              <a:t>When </a:t>
            </a:r>
            <a:r>
              <a:rPr lang="en-US" b="1" dirty="0">
                <a:solidFill>
                  <a:srgbClr val="FF0000"/>
                </a:solidFill>
              </a:rPr>
              <a:t>new changes need to be implemented</a:t>
            </a:r>
            <a:r>
              <a:rPr lang="en-US" dirty="0"/>
              <a:t>. The freedom agile gives to change is very important. New changes can be implemented at very little cost because of the frequency of new increments that are produced.</a:t>
            </a:r>
          </a:p>
          <a:p>
            <a:pPr fontAlgn="auto">
              <a:spcAft>
                <a:spcPts val="0"/>
              </a:spcAft>
              <a:defRPr/>
            </a:pPr>
            <a:r>
              <a:rPr lang="en-US" dirty="0"/>
              <a:t>To implement a new feature the developers, need to lose only the work of a few days, or even only hours, to roll back and implement it.</a:t>
            </a:r>
          </a:p>
          <a:p>
            <a:pPr fontAlgn="auto">
              <a:spcAft>
                <a:spcPts val="0"/>
              </a:spcAft>
              <a:defRPr/>
            </a:pPr>
            <a:r>
              <a:rPr lang="en-US" dirty="0"/>
              <a:t>Both system developers and stakeholders alike, find they also get more freedom of time and options than if the software was developed in a more rigid sequential way. </a:t>
            </a:r>
          </a:p>
          <a:p>
            <a:pPr fontAlgn="auto">
              <a:spcAft>
                <a:spcPts val="0"/>
              </a:spcAft>
              <a:defRPr/>
            </a:pPr>
            <a:r>
              <a:rPr lang="en-US" dirty="0"/>
              <a:t>Having options gives them the ability to leave important decisions until more or better data or even entire hosting programs are available; meaning the project can continue to move forward without fear of reaching a sudden standstill.</a:t>
            </a:r>
          </a:p>
          <a:p>
            <a:pPr fontAlgn="auto">
              <a:spcAft>
                <a:spcPts val="0"/>
              </a:spcAft>
              <a:defRPr/>
            </a:pPr>
            <a:endParaRPr lang="en-US" dirty="0"/>
          </a:p>
          <a:p>
            <a:pPr fontAlgn="auto">
              <a:spcAft>
                <a:spcPts val="0"/>
              </a:spcAft>
              <a:defRPr/>
            </a:pPr>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DCD9F2F-FF06-578B-6111-F600FF9F1B46}"/>
              </a:ext>
            </a:extLst>
          </p:cNvPr>
          <p:cNvSpPr>
            <a:spLocks noGrp="1" noChangeArrowheads="1"/>
          </p:cNvSpPr>
          <p:nvPr>
            <p:ph type="title"/>
          </p:nvPr>
        </p:nvSpPr>
        <p:spPr/>
        <p:txBody>
          <a:bodyPr/>
          <a:lstStyle/>
          <a:p>
            <a:pPr fontAlgn="auto">
              <a:spcAft>
                <a:spcPts val="0"/>
              </a:spcAft>
              <a:defRPr/>
            </a:pPr>
            <a:r>
              <a:rPr lang="en-US" altLang="en-US" sz="4800" dirty="0"/>
              <a:t>Unified Process </a:t>
            </a:r>
          </a:p>
        </p:txBody>
      </p:sp>
      <p:sp>
        <p:nvSpPr>
          <p:cNvPr id="36867" name="Rectangle 3">
            <a:extLst>
              <a:ext uri="{FF2B5EF4-FFF2-40B4-BE49-F238E27FC236}">
                <a16:creationId xmlns:a16="http://schemas.microsoft.com/office/drawing/2014/main" id="{72FC68BF-7309-D470-D350-CD8525A84AA4}"/>
              </a:ext>
            </a:extLst>
          </p:cNvPr>
          <p:cNvSpPr>
            <a:spLocks noGrp="1" noChangeArrowheads="1"/>
          </p:cNvSpPr>
          <p:nvPr>
            <p:ph type="body" idx="1"/>
          </p:nvPr>
        </p:nvSpPr>
        <p:spPr>
          <a:xfrm>
            <a:off x="457200" y="1752600"/>
            <a:ext cx="7696200" cy="4267200"/>
          </a:xfrm>
        </p:spPr>
        <p:txBody>
          <a:bodyPr/>
          <a:lstStyle/>
          <a:p>
            <a:pPr>
              <a:lnSpc>
                <a:spcPct val="90000"/>
              </a:lnSpc>
            </a:pPr>
            <a:r>
              <a:rPr lang="en-US" altLang="en-US" sz="2600"/>
              <a:t>Unified process is a framework for OO software engineering using UML (Unified Modeling Language)</a:t>
            </a:r>
          </a:p>
          <a:p>
            <a:pPr>
              <a:lnSpc>
                <a:spcPct val="90000"/>
              </a:lnSpc>
            </a:pPr>
            <a:r>
              <a:rPr lang="en-US" altLang="en-US" sz="2600"/>
              <a:t>Unified process (UP) is an attempt to draw on the</a:t>
            </a:r>
            <a:r>
              <a:rPr lang="en-US" altLang="en-US" sz="2600" b="1"/>
              <a:t> best features and characteristics of conventional software process models</a:t>
            </a:r>
            <a:r>
              <a:rPr lang="en-US" altLang="en-US" sz="2600"/>
              <a:t>, but characterize them in a way that implements </a:t>
            </a:r>
            <a:r>
              <a:rPr lang="en-US" altLang="en-US" sz="2600" b="1"/>
              <a:t>many of the best principles of agile software development.</a:t>
            </a:r>
          </a:p>
          <a:p>
            <a:pPr>
              <a:lnSpc>
                <a:spcPct val="90000"/>
              </a:lnSpc>
            </a:pPr>
            <a:endParaRPr lang="en-US" altLang="en-US" sz="2600" b="1"/>
          </a:p>
          <a:p>
            <a:pPr>
              <a:lnSpc>
                <a:spcPct val="90000"/>
              </a:lnSpc>
            </a:pPr>
            <a:endParaRPr lang="en-US" altLang="en-US" sz="2600"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8C8B-6FF0-D090-3E72-86E09016C915}"/>
              </a:ext>
            </a:extLst>
          </p:cNvPr>
          <p:cNvSpPr>
            <a:spLocks noGrp="1"/>
          </p:cNvSpPr>
          <p:nvPr>
            <p:ph type="title"/>
          </p:nvPr>
        </p:nvSpPr>
        <p:spPr/>
        <p:txBody>
          <a:bodyPr/>
          <a:lstStyle/>
          <a:p>
            <a:pPr fontAlgn="auto">
              <a:spcAft>
                <a:spcPts val="0"/>
              </a:spcAft>
              <a:defRPr/>
            </a:pPr>
            <a:r>
              <a:rPr lang="en-GB" sz="4800" dirty="0"/>
              <a:t>Unified Process Characteristics</a:t>
            </a:r>
          </a:p>
        </p:txBody>
      </p:sp>
      <p:sp>
        <p:nvSpPr>
          <p:cNvPr id="3" name="Content Placeholder 2">
            <a:extLst>
              <a:ext uri="{FF2B5EF4-FFF2-40B4-BE49-F238E27FC236}">
                <a16:creationId xmlns:a16="http://schemas.microsoft.com/office/drawing/2014/main" id="{BD9B7BC0-F7E8-DD97-4A2C-786F1617547A}"/>
              </a:ext>
            </a:extLst>
          </p:cNvPr>
          <p:cNvSpPr>
            <a:spLocks noGrp="1"/>
          </p:cNvSpPr>
          <p:nvPr>
            <p:ph idx="1"/>
          </p:nvPr>
        </p:nvSpPr>
        <p:spPr/>
        <p:txBody>
          <a:bodyPr rtlCol="0">
            <a:normAutofit/>
          </a:bodyPr>
          <a:lstStyle/>
          <a:p>
            <a:pPr fontAlgn="auto">
              <a:spcAft>
                <a:spcPts val="0"/>
              </a:spcAft>
              <a:defRPr/>
            </a:pPr>
            <a:r>
              <a:rPr lang="en-US" dirty="0"/>
              <a:t>It is an iterative and incremental development framework</a:t>
            </a:r>
          </a:p>
          <a:p>
            <a:pPr fontAlgn="auto">
              <a:spcAft>
                <a:spcPts val="0"/>
              </a:spcAft>
              <a:defRPr/>
            </a:pPr>
            <a:r>
              <a:rPr lang="en-US" dirty="0"/>
              <a:t>It is architecture-centric with major work being done to define and validate an architectural design for most coding is done</a:t>
            </a:r>
          </a:p>
          <a:p>
            <a:pPr fontAlgn="auto">
              <a:spcAft>
                <a:spcPts val="0"/>
              </a:spcAft>
              <a:defRPr/>
            </a:pPr>
            <a:r>
              <a:rPr lang="en-US" dirty="0"/>
              <a:t>It is risk-focused and emphasizes that highest-risk factors be addressed in the earliest deliverables possible</a:t>
            </a:r>
          </a:p>
          <a:p>
            <a:pPr fontAlgn="auto">
              <a:spcAft>
                <a:spcPts val="0"/>
              </a:spcAft>
              <a:defRPr/>
            </a:pPr>
            <a:r>
              <a:rPr lang="en-US" dirty="0"/>
              <a:t>It is use-case and UML model driven with nearly all requirements being documented in one of those forms</a:t>
            </a:r>
          </a:p>
          <a:p>
            <a:pPr marL="114300" indent="0" fontAlgn="auto">
              <a:spcAft>
                <a:spcPts val="0"/>
              </a:spcAft>
              <a:buFont typeface="Arial" panose="020B0604020202020204" pitchFamily="34" charset="0"/>
              <a:buNone/>
              <a:defRPr/>
            </a:pPr>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F53ECCF-8EDB-61F7-8E1A-0DBCDFB97EF0}"/>
              </a:ext>
            </a:extLst>
          </p:cNvPr>
          <p:cNvSpPr>
            <a:spLocks noGrp="1" noChangeArrowheads="1"/>
          </p:cNvSpPr>
          <p:nvPr>
            <p:ph type="title"/>
          </p:nvPr>
        </p:nvSpPr>
        <p:spPr/>
        <p:txBody>
          <a:bodyPr/>
          <a:lstStyle/>
          <a:p>
            <a:pPr fontAlgn="auto">
              <a:spcAft>
                <a:spcPts val="0"/>
              </a:spcAft>
              <a:defRPr/>
            </a:pPr>
            <a:r>
              <a:rPr lang="en-US" altLang="en-US" sz="4800" dirty="0"/>
              <a:t>Unified Process: Phases</a:t>
            </a:r>
          </a:p>
        </p:txBody>
      </p:sp>
      <p:sp>
        <p:nvSpPr>
          <p:cNvPr id="38915" name="Rectangle 3">
            <a:extLst>
              <a:ext uri="{FF2B5EF4-FFF2-40B4-BE49-F238E27FC236}">
                <a16:creationId xmlns:a16="http://schemas.microsoft.com/office/drawing/2014/main" id="{E8796388-25A8-45F4-D098-C5B3747B675C}"/>
              </a:ext>
            </a:extLst>
          </p:cNvPr>
          <p:cNvSpPr>
            <a:spLocks noGrp="1" noChangeArrowheads="1"/>
          </p:cNvSpPr>
          <p:nvPr>
            <p:ph type="body" idx="1"/>
          </p:nvPr>
        </p:nvSpPr>
        <p:spPr/>
        <p:txBody>
          <a:bodyPr/>
          <a:lstStyle/>
          <a:p>
            <a:pPr>
              <a:lnSpc>
                <a:spcPct val="80000"/>
              </a:lnSpc>
            </a:pPr>
            <a:r>
              <a:rPr lang="en-US" altLang="en-US" sz="2500" b="1"/>
              <a:t>Inception phase</a:t>
            </a:r>
          </a:p>
          <a:p>
            <a:pPr lvl="1">
              <a:lnSpc>
                <a:spcPct val="80000"/>
              </a:lnSpc>
            </a:pPr>
            <a:r>
              <a:rPr lang="en-US" altLang="en-US" sz="2100"/>
              <a:t>Encompasses the customer communication and planning activities</a:t>
            </a:r>
          </a:p>
          <a:p>
            <a:pPr lvl="1">
              <a:lnSpc>
                <a:spcPct val="80000"/>
              </a:lnSpc>
            </a:pPr>
            <a:r>
              <a:rPr lang="en-US" altLang="en-US" sz="2100"/>
              <a:t>Rough architecture, plan, preliminary use-cases</a:t>
            </a:r>
          </a:p>
          <a:p>
            <a:pPr lvl="1">
              <a:lnSpc>
                <a:spcPct val="80000"/>
              </a:lnSpc>
            </a:pPr>
            <a:endParaRPr lang="en-US" altLang="en-US" sz="2100"/>
          </a:p>
          <a:p>
            <a:pPr>
              <a:lnSpc>
                <a:spcPct val="80000"/>
              </a:lnSpc>
            </a:pPr>
            <a:r>
              <a:rPr lang="en-US" altLang="en-US" sz="2500" b="1"/>
              <a:t>Elaboration phase</a:t>
            </a:r>
          </a:p>
          <a:p>
            <a:pPr lvl="1">
              <a:lnSpc>
                <a:spcPct val="80000"/>
              </a:lnSpc>
            </a:pPr>
            <a:r>
              <a:rPr lang="en-US" altLang="en-US" sz="2100"/>
              <a:t>Encompasses the customer communication and modeling activities</a:t>
            </a:r>
          </a:p>
          <a:p>
            <a:pPr lvl="1">
              <a:lnSpc>
                <a:spcPct val="80000"/>
              </a:lnSpc>
            </a:pPr>
            <a:r>
              <a:rPr lang="en-US" altLang="en-US" sz="2100"/>
              <a:t>Refines and expands preliminary use-cases</a:t>
            </a:r>
          </a:p>
          <a:p>
            <a:pPr lvl="1">
              <a:lnSpc>
                <a:spcPct val="80000"/>
              </a:lnSpc>
            </a:pPr>
            <a:r>
              <a:rPr lang="en-US" altLang="en-US" sz="2100"/>
              <a:t>Expands architectural representation to include: use-case model, analysis model, design model, implementation model, and deployment model </a:t>
            </a:r>
          </a:p>
          <a:p>
            <a:pPr lvl="1">
              <a:lnSpc>
                <a:spcPct val="80000"/>
              </a:lnSpc>
            </a:pPr>
            <a:r>
              <a:rPr lang="en-US" altLang="en-US" sz="2100"/>
              <a:t>The plan is carefully reviewed and modified if needed</a:t>
            </a:r>
          </a:p>
          <a:p>
            <a:pPr>
              <a:lnSpc>
                <a:spcPct val="80000"/>
              </a:lnSpc>
              <a:buFont typeface="Wingdings" panose="05000000000000000000" pitchFamily="2" charset="2"/>
              <a:buNone/>
            </a:pPr>
            <a:endParaRPr lang="en-US" altLang="en-US" sz="25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026CD1A-965D-613E-67F8-EDE3E981841D}"/>
              </a:ext>
            </a:extLst>
          </p:cNvPr>
          <p:cNvSpPr>
            <a:spLocks noGrp="1" noChangeArrowheads="1"/>
          </p:cNvSpPr>
          <p:nvPr>
            <p:ph type="title"/>
          </p:nvPr>
        </p:nvSpPr>
        <p:spPr/>
        <p:txBody>
          <a:bodyPr/>
          <a:lstStyle/>
          <a:p>
            <a:pPr fontAlgn="auto">
              <a:spcAft>
                <a:spcPts val="0"/>
              </a:spcAft>
              <a:defRPr/>
            </a:pPr>
            <a:r>
              <a:rPr lang="en-US" altLang="en-US" sz="4800" dirty="0"/>
              <a:t>Unified Process: Phases</a:t>
            </a:r>
          </a:p>
        </p:txBody>
      </p:sp>
      <p:sp>
        <p:nvSpPr>
          <p:cNvPr id="39939" name="Rectangle 3">
            <a:extLst>
              <a:ext uri="{FF2B5EF4-FFF2-40B4-BE49-F238E27FC236}">
                <a16:creationId xmlns:a16="http://schemas.microsoft.com/office/drawing/2014/main" id="{F1F91AA9-B4BA-D1F8-6A3A-18B00C9799DB}"/>
              </a:ext>
            </a:extLst>
          </p:cNvPr>
          <p:cNvSpPr>
            <a:spLocks noGrp="1" noChangeArrowheads="1"/>
          </p:cNvSpPr>
          <p:nvPr>
            <p:ph type="body" idx="1"/>
          </p:nvPr>
        </p:nvSpPr>
        <p:spPr/>
        <p:txBody>
          <a:bodyPr/>
          <a:lstStyle/>
          <a:p>
            <a:pPr>
              <a:lnSpc>
                <a:spcPct val="80000"/>
              </a:lnSpc>
            </a:pPr>
            <a:r>
              <a:rPr lang="en-US" altLang="en-US" sz="2500" b="1"/>
              <a:t>Construction phase</a:t>
            </a:r>
          </a:p>
          <a:p>
            <a:pPr lvl="1">
              <a:lnSpc>
                <a:spcPct val="80000"/>
              </a:lnSpc>
            </a:pPr>
            <a:r>
              <a:rPr lang="en-US" altLang="en-US" sz="2100"/>
              <a:t>Analysis and design models are completed to reflect the final version of the software increment</a:t>
            </a:r>
          </a:p>
          <a:p>
            <a:pPr lvl="1">
              <a:lnSpc>
                <a:spcPct val="80000"/>
              </a:lnSpc>
            </a:pPr>
            <a:r>
              <a:rPr lang="en-US" altLang="en-US" sz="2100"/>
              <a:t>Using the architectural model as an input develop or acquire the software components, unit tests are designed and executed, integration activities are conducted</a:t>
            </a:r>
          </a:p>
          <a:p>
            <a:pPr lvl="1">
              <a:lnSpc>
                <a:spcPct val="80000"/>
              </a:lnSpc>
            </a:pPr>
            <a:r>
              <a:rPr lang="en-US" altLang="en-US" sz="2100"/>
              <a:t>Use-cases are used to derive acceptance tests</a:t>
            </a:r>
          </a:p>
          <a:p>
            <a:pPr>
              <a:lnSpc>
                <a:spcPct val="80000"/>
              </a:lnSpc>
            </a:pPr>
            <a:r>
              <a:rPr lang="en-US" altLang="en-US" sz="2600" b="1"/>
              <a:t>Transition phase</a:t>
            </a:r>
          </a:p>
          <a:p>
            <a:pPr lvl="1">
              <a:lnSpc>
                <a:spcPct val="80000"/>
              </a:lnSpc>
            </a:pPr>
            <a:r>
              <a:rPr lang="en-US" altLang="en-US" sz="2200"/>
              <a:t>Software is given to end-users for beta testing</a:t>
            </a:r>
          </a:p>
          <a:p>
            <a:pPr lvl="1">
              <a:lnSpc>
                <a:spcPct val="80000"/>
              </a:lnSpc>
            </a:pPr>
            <a:r>
              <a:rPr lang="en-US" altLang="en-US" sz="2200"/>
              <a:t>User report both defects and necessary changes</a:t>
            </a:r>
          </a:p>
          <a:p>
            <a:pPr lvl="1">
              <a:lnSpc>
                <a:spcPct val="80000"/>
              </a:lnSpc>
            </a:pPr>
            <a:r>
              <a:rPr lang="en-US" altLang="en-US" sz="2200"/>
              <a:t>Support information is created (e.g., user manuals, installation procedures)</a:t>
            </a:r>
          </a:p>
          <a:p>
            <a:pPr lvl="1">
              <a:lnSpc>
                <a:spcPct val="80000"/>
              </a:lnSpc>
            </a:pPr>
            <a:r>
              <a:rPr lang="en-US" altLang="en-US" sz="2200"/>
              <a:t>Software increment becomes usable software release</a:t>
            </a:r>
          </a:p>
          <a:p>
            <a:pPr lvl="1">
              <a:lnSpc>
                <a:spcPct val="80000"/>
              </a:lnSpc>
            </a:pPr>
            <a:endParaRPr lang="en-US" altLang="en-US" sz="2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a:extLst>
              <a:ext uri="{FF2B5EF4-FFF2-40B4-BE49-F238E27FC236}">
                <a16:creationId xmlns:a16="http://schemas.microsoft.com/office/drawing/2014/main" id="{D7E96DFB-7550-B3A6-3081-CF9A0F0CDCC3}"/>
              </a:ext>
            </a:extLst>
          </p:cNvPr>
          <p:cNvSpPr>
            <a:spLocks noGrp="1" noChangeArrowheads="1"/>
          </p:cNvSpPr>
          <p:nvPr>
            <p:ph type="title"/>
          </p:nvPr>
        </p:nvSpPr>
        <p:spPr/>
        <p:txBody>
          <a:bodyPr/>
          <a:lstStyle/>
          <a:p>
            <a:pPr fontAlgn="auto">
              <a:spcAft>
                <a:spcPts val="0"/>
              </a:spcAft>
              <a:defRPr/>
            </a:pPr>
            <a:r>
              <a:rPr lang="en-US" altLang="en-US" sz="4800" dirty="0"/>
              <a:t>Unified Process Phases</a:t>
            </a:r>
          </a:p>
        </p:txBody>
      </p:sp>
      <p:pic>
        <p:nvPicPr>
          <p:cNvPr id="40963" name="Picture 5">
            <a:extLst>
              <a:ext uri="{FF2B5EF4-FFF2-40B4-BE49-F238E27FC236}">
                <a16:creationId xmlns:a16="http://schemas.microsoft.com/office/drawing/2014/main" id="{117689BA-57D2-2713-E3A5-59071F80A1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00200"/>
            <a:ext cx="8161338" cy="476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a:extLst>
              <a:ext uri="{FF2B5EF4-FFF2-40B4-BE49-F238E27FC236}">
                <a16:creationId xmlns:a16="http://schemas.microsoft.com/office/drawing/2014/main" id="{AFF877ED-280B-96A7-4FB1-DAD6CD7320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EF8BA-6798-A237-C8FE-AC7AFF4DD58F}"/>
              </a:ext>
            </a:extLst>
          </p:cNvPr>
          <p:cNvSpPr>
            <a:spLocks noGrp="1"/>
          </p:cNvSpPr>
          <p:nvPr>
            <p:ph type="title"/>
          </p:nvPr>
        </p:nvSpPr>
        <p:spPr/>
        <p:txBody>
          <a:bodyPr/>
          <a:lstStyle/>
          <a:p>
            <a:pPr fontAlgn="auto">
              <a:spcAft>
                <a:spcPts val="0"/>
              </a:spcAft>
              <a:defRPr/>
            </a:pPr>
            <a:r>
              <a:rPr lang="en-US" sz="4800" dirty="0"/>
              <a:t>How to Choose between SDLC Methods?</a:t>
            </a:r>
            <a:endParaRPr lang="en-GB" sz="4800" dirty="0"/>
          </a:p>
        </p:txBody>
      </p:sp>
      <p:pic>
        <p:nvPicPr>
          <p:cNvPr id="43011" name="Picture 2">
            <a:extLst>
              <a:ext uri="{FF2B5EF4-FFF2-40B4-BE49-F238E27FC236}">
                <a16:creationId xmlns:a16="http://schemas.microsoft.com/office/drawing/2014/main" id="{B3FF4B47-B354-3AB8-EC0B-9E6E756823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725" y="1600200"/>
            <a:ext cx="8335963"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91DC1BA8-C1BA-5BB9-FEB9-5A14FA7D0D19}"/>
              </a:ext>
            </a:extLst>
          </p:cNvPr>
          <p:cNvSpPr>
            <a:spLocks noGrp="1" noChangeArrowheads="1"/>
          </p:cNvSpPr>
          <p:nvPr>
            <p:ph type="title"/>
          </p:nvPr>
        </p:nvSpPr>
        <p:spPr/>
        <p:txBody>
          <a:bodyPr/>
          <a:lstStyle/>
          <a:p>
            <a:pPr fontAlgn="auto">
              <a:spcAft>
                <a:spcPts val="0"/>
              </a:spcAft>
              <a:defRPr/>
            </a:pPr>
            <a:r>
              <a:rPr lang="en-US" sz="4800" dirty="0"/>
              <a:t>How to Choose between SDLC Methods?</a:t>
            </a:r>
            <a:endParaRPr lang="en-US" altLang="en-US" sz="4800" dirty="0"/>
          </a:p>
        </p:txBody>
      </p:sp>
      <p:sp>
        <p:nvSpPr>
          <p:cNvPr id="44035" name="Rectangle 3">
            <a:extLst>
              <a:ext uri="{FF2B5EF4-FFF2-40B4-BE49-F238E27FC236}">
                <a16:creationId xmlns:a16="http://schemas.microsoft.com/office/drawing/2014/main" id="{DC0D2FB1-8386-1CE8-B812-F11985F08A5C}"/>
              </a:ext>
            </a:extLst>
          </p:cNvPr>
          <p:cNvSpPr>
            <a:spLocks noGrp="1" noChangeArrowheads="1"/>
          </p:cNvSpPr>
          <p:nvPr>
            <p:ph type="body" idx="1"/>
          </p:nvPr>
        </p:nvSpPr>
        <p:spPr/>
        <p:txBody>
          <a:bodyPr/>
          <a:lstStyle/>
          <a:p>
            <a:r>
              <a:rPr lang="en-US" altLang="en-US"/>
              <a:t>To know which is the best model out of all the different types of SDLC models, it </a:t>
            </a:r>
            <a:r>
              <a:rPr lang="en-US" altLang="en-US" b="1"/>
              <a:t>is important to understand that each of these approaches</a:t>
            </a:r>
            <a:r>
              <a:rPr lang="en-US" altLang="en-US"/>
              <a:t> are suitable for different projects, environments, and requirements.</a:t>
            </a:r>
          </a:p>
          <a:p>
            <a:r>
              <a:rPr lang="en-US" altLang="en-US"/>
              <a:t>For example, if your project is simple and straightforward with set requirements that do not need to be changed, then Waterfall is best suited for it. </a:t>
            </a:r>
          </a:p>
          <a:p>
            <a:r>
              <a:rPr lang="en-US" altLang="en-US"/>
              <a:t>However, if your project is large-scale and consists of multiple components and segments, then choosing Iterative or Spiral methodology would suit your project better.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95FBC-B41F-C2AA-97BC-3C8BCF423936}"/>
              </a:ext>
            </a:extLst>
          </p:cNvPr>
          <p:cNvSpPr>
            <a:spLocks noGrp="1"/>
          </p:cNvSpPr>
          <p:nvPr>
            <p:ph type="title"/>
          </p:nvPr>
        </p:nvSpPr>
        <p:spPr/>
        <p:txBody>
          <a:bodyPr/>
          <a:lstStyle/>
          <a:p>
            <a:pPr fontAlgn="auto">
              <a:spcAft>
                <a:spcPts val="0"/>
              </a:spcAft>
              <a:defRPr/>
            </a:pPr>
            <a:r>
              <a:rPr lang="en-US" dirty="0"/>
              <a:t>How to Choose between SDLC Methods?</a:t>
            </a:r>
            <a:endParaRPr lang="en-GB" dirty="0"/>
          </a:p>
        </p:txBody>
      </p:sp>
      <p:sp>
        <p:nvSpPr>
          <p:cNvPr id="45059" name="Content Placeholder 2">
            <a:extLst>
              <a:ext uri="{FF2B5EF4-FFF2-40B4-BE49-F238E27FC236}">
                <a16:creationId xmlns:a16="http://schemas.microsoft.com/office/drawing/2014/main" id="{BE5E04F9-0F1D-08A8-D540-A88F361CB7CB}"/>
              </a:ext>
            </a:extLst>
          </p:cNvPr>
          <p:cNvSpPr>
            <a:spLocks noGrp="1"/>
          </p:cNvSpPr>
          <p:nvPr>
            <p:ph idx="1"/>
          </p:nvPr>
        </p:nvSpPr>
        <p:spPr/>
        <p:txBody>
          <a:bodyPr/>
          <a:lstStyle/>
          <a:p>
            <a:r>
              <a:rPr lang="en-US" altLang="en-US"/>
              <a:t>To answer the question simply, there is </a:t>
            </a:r>
            <a:r>
              <a:rPr lang="en-US" altLang="en-US" b="1"/>
              <a:t>no ONE model is best from all the SDLC models</a:t>
            </a:r>
            <a:r>
              <a:rPr lang="en-US" altLang="en-US"/>
              <a:t> discussed.  </a:t>
            </a:r>
          </a:p>
          <a:p>
            <a:r>
              <a:rPr lang="en-US" altLang="en-US"/>
              <a:t>A preference of one method over the others cannot be determined.</a:t>
            </a:r>
          </a:p>
          <a:p>
            <a:r>
              <a:rPr lang="en-US" altLang="en-US"/>
              <a:t>However, to select the right SDLC methodologies, you should know all the types of SDLC models, assess the requirements of all the stakeholders and then decide on a method that best fits your needs.</a:t>
            </a:r>
          </a:p>
          <a:p>
            <a:pPr lvl="1">
              <a:lnSpc>
                <a:spcPct val="80000"/>
              </a:lnSpc>
            </a:pPr>
            <a:endParaRPr lang="en-US" altLang="en-US" sz="2100"/>
          </a:p>
          <a:p>
            <a:endParaRPr lang="en-GB"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0E9BEA6-A3C7-084E-622E-8AB72EB7C8F5}"/>
              </a:ext>
            </a:extLst>
          </p:cNvPr>
          <p:cNvSpPr>
            <a:spLocks noGrp="1" noChangeArrowheads="1"/>
          </p:cNvSpPr>
          <p:nvPr>
            <p:ph type="title"/>
          </p:nvPr>
        </p:nvSpPr>
        <p:spPr/>
        <p:txBody>
          <a:bodyPr/>
          <a:lstStyle/>
          <a:p>
            <a:pPr fontAlgn="auto">
              <a:spcAft>
                <a:spcPts val="0"/>
              </a:spcAft>
              <a:defRPr/>
            </a:pPr>
            <a:r>
              <a:rPr lang="en-US" altLang="en-US" sz="4800" dirty="0"/>
              <a:t>Criteria for deciding on a model include</a:t>
            </a:r>
          </a:p>
        </p:txBody>
      </p:sp>
      <p:sp>
        <p:nvSpPr>
          <p:cNvPr id="46083" name="Rectangle 3">
            <a:extLst>
              <a:ext uri="{FF2B5EF4-FFF2-40B4-BE49-F238E27FC236}">
                <a16:creationId xmlns:a16="http://schemas.microsoft.com/office/drawing/2014/main" id="{BE60E426-DA17-340C-44CD-69097C46E484}"/>
              </a:ext>
            </a:extLst>
          </p:cNvPr>
          <p:cNvSpPr>
            <a:spLocks noGrp="1" noChangeArrowheads="1"/>
          </p:cNvSpPr>
          <p:nvPr>
            <p:ph type="body" idx="1"/>
          </p:nvPr>
        </p:nvSpPr>
        <p:spPr/>
        <p:txBody>
          <a:bodyPr/>
          <a:lstStyle/>
          <a:p>
            <a:r>
              <a:rPr lang="en-US" altLang="en-US"/>
              <a:t>Criteria for deciding on a model include</a:t>
            </a:r>
          </a:p>
          <a:p>
            <a:pPr lvl="1"/>
            <a:r>
              <a:rPr lang="en-US" altLang="en-US"/>
              <a:t>Product Complexity</a:t>
            </a:r>
          </a:p>
          <a:p>
            <a:pPr lvl="1"/>
            <a:r>
              <a:rPr lang="en-US" altLang="en-US"/>
              <a:t>Product Size</a:t>
            </a:r>
          </a:p>
          <a:p>
            <a:pPr lvl="1"/>
            <a:r>
              <a:rPr lang="en-US" altLang="en-US"/>
              <a:t>Magnitude of Changes</a:t>
            </a:r>
          </a:p>
          <a:p>
            <a:pPr lvl="1"/>
            <a:r>
              <a:rPr lang="en-US" altLang="en-US"/>
              <a:t>Frequency of Changes</a:t>
            </a:r>
          </a:p>
          <a:p>
            <a:pPr lvl="1"/>
            <a:r>
              <a:rPr lang="en-US" altLang="en-US"/>
              <a:t>Skills of the Dev Team</a:t>
            </a:r>
          </a:p>
          <a:p>
            <a:pPr lvl="1"/>
            <a:r>
              <a:rPr lang="en-US" altLang="en-US"/>
              <a:t>Time constraints</a:t>
            </a:r>
          </a:p>
          <a:p>
            <a:pPr lvl="1"/>
            <a:r>
              <a:rPr lang="en-US" altLang="en-US"/>
              <a:t>Access to Users</a:t>
            </a:r>
          </a:p>
          <a:p>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4B6C1E-E8AA-70C6-11D7-B7ABC6998C5A}"/>
              </a:ext>
            </a:extLst>
          </p:cNvPr>
          <p:cNvSpPr>
            <a:spLocks noGrp="1"/>
          </p:cNvSpPr>
          <p:nvPr>
            <p:ph type="ctrTitle"/>
          </p:nvPr>
        </p:nvSpPr>
        <p:spPr/>
        <p:txBody>
          <a:bodyPr/>
          <a:lstStyle/>
          <a:p>
            <a:pPr fontAlgn="auto">
              <a:spcAft>
                <a:spcPts val="0"/>
              </a:spcAft>
              <a:defRPr/>
            </a:pPr>
            <a:r>
              <a:rPr lang="en-US" dirty="0"/>
              <a:t>Questions??</a:t>
            </a:r>
            <a:endParaRPr lang="en-GB"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Custom 1">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FFFFFF"/>
      </a:accent6>
      <a:hlink>
        <a:srgbClr val="F49100"/>
      </a:hlink>
      <a:folHlink>
        <a:srgbClr val="85DFD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1705</TotalTime>
  <Words>2353</Words>
  <Application>Microsoft Office PowerPoint</Application>
  <PresentationFormat>On-screen Show (4:3)</PresentationFormat>
  <Paragraphs>285</Paragraphs>
  <Slides>45</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Cambria</vt:lpstr>
      <vt:lpstr>Wingdings</vt:lpstr>
      <vt:lpstr>Adjacency</vt:lpstr>
      <vt:lpstr>Software Process Models</vt:lpstr>
      <vt:lpstr>Overview</vt:lpstr>
      <vt:lpstr> Software Process Models </vt:lpstr>
      <vt:lpstr>Software Process Models</vt:lpstr>
      <vt:lpstr>Build-and-Fix Model</vt:lpstr>
      <vt:lpstr>Waterfall Model</vt:lpstr>
      <vt:lpstr>PowerPoint Presentation</vt:lpstr>
      <vt:lpstr>Waterfall Model (contd.)</vt:lpstr>
      <vt:lpstr>Rapid Prototyping Model</vt:lpstr>
      <vt:lpstr>Rapid Prototyping Model (contd.)</vt:lpstr>
      <vt:lpstr>Rapid Prototyping Model (contd.)</vt:lpstr>
      <vt:lpstr>Incremental Model</vt:lpstr>
      <vt:lpstr>Incremental Model (contd.)</vt:lpstr>
      <vt:lpstr>Incremental Model (contd.)</vt:lpstr>
      <vt:lpstr>Incremental Model (contd.)</vt:lpstr>
      <vt:lpstr>When to use Incremental models?</vt:lpstr>
      <vt:lpstr>Spiral Model</vt:lpstr>
      <vt:lpstr>Simplified Spiral Model </vt:lpstr>
      <vt:lpstr>Full Spiral Model</vt:lpstr>
      <vt:lpstr>When to use Spiral Methodology?</vt:lpstr>
      <vt:lpstr>Advantages of Spiral Model</vt:lpstr>
      <vt:lpstr>Disadvantages of Spiral Model</vt:lpstr>
      <vt:lpstr>Agile Process Models </vt:lpstr>
      <vt:lpstr>Agile Process Models (contd.)</vt:lpstr>
      <vt:lpstr>Agile Process Models (contd.)</vt:lpstr>
      <vt:lpstr>Agile vs. Waterfall Method</vt:lpstr>
      <vt:lpstr>Agile vs. Waterfall Method (contd.)</vt:lpstr>
      <vt:lpstr>Agile vs. Waterfall Method (contd.)</vt:lpstr>
      <vt:lpstr>Extreme Programming (XP)</vt:lpstr>
      <vt:lpstr>Extreme Programming (contd.)</vt:lpstr>
      <vt:lpstr>Features of XP</vt:lpstr>
      <vt:lpstr>Advantages of Agile Model</vt:lpstr>
      <vt:lpstr>Disadvantages of Agile model</vt:lpstr>
      <vt:lpstr>When to use Agile model</vt:lpstr>
      <vt:lpstr>Unified Process </vt:lpstr>
      <vt:lpstr>Unified Process Characteristics</vt:lpstr>
      <vt:lpstr>Unified Process: Phases</vt:lpstr>
      <vt:lpstr>Unified Process: Phases</vt:lpstr>
      <vt:lpstr>Unified Process Phases</vt:lpstr>
      <vt:lpstr>PowerPoint Presentation</vt:lpstr>
      <vt:lpstr>How to Choose between SDLC Methods?</vt:lpstr>
      <vt:lpstr>How to Choose between SDLC Methods?</vt:lpstr>
      <vt:lpstr>How to Choose between SDLC Methods?</vt:lpstr>
      <vt:lpstr>Criteria for deciding on a model include</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dc:title>
  <dc:creator>Nada Sherief</dc:creator>
  <cp:lastModifiedBy>106263</cp:lastModifiedBy>
  <cp:revision>133</cp:revision>
  <dcterms:created xsi:type="dcterms:W3CDTF">2006-08-16T00:00:00Z</dcterms:created>
  <dcterms:modified xsi:type="dcterms:W3CDTF">2025-08-05T06:02:29Z</dcterms:modified>
</cp:coreProperties>
</file>