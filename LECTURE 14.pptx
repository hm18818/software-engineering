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1" r:id="rId2"/>
  </p:sldMasterIdLst>
  <p:notesMasterIdLst>
    <p:notesMasterId r:id="rId5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</p:sldIdLst>
  <p:sldSz cx="10080625" cy="7559675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04">
          <p15:clr>
            <a:srgbClr val="000000"/>
          </p15:clr>
        </p15:guide>
        <p15:guide id="2" pos="2004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gSoPWMcvSGH1mxK0aRYAQ7uTYw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41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504"/>
        <p:guide pos="20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customschemas.google.com/relationships/presentationmetadata" Target="meta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10400" cy="929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010400" cy="929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010400" cy="929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7113" y="307975"/>
            <a:ext cx="4954587" cy="3716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" name="Google Shape;31;p1:notes"/>
          <p:cNvSpPr txBox="1"/>
          <p:nvPr/>
        </p:nvSpPr>
        <p:spPr>
          <a:xfrm>
            <a:off x="515937" y="4387850"/>
            <a:ext cx="5986462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14325" algn="l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SzPts val="1350"/>
              <a:buChar char="–"/>
              <a:defRPr/>
            </a:lvl2pPr>
            <a:lvl3pPr marL="1371600" lvl="2" indent="-280035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SzPts val="810"/>
              <a:buChar char="●"/>
              <a:defRPr/>
            </a:lvl3pPr>
            <a:lvl4pPr marL="1828800" lvl="3" indent="-314325" algn="l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350"/>
              <a:buChar char="–"/>
              <a:defRPr/>
            </a:lvl4pPr>
            <a:lvl5pPr marL="2286000" lvl="4" indent="-280035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810"/>
              <a:buChar char="●"/>
              <a:defRPr/>
            </a:lvl5pPr>
            <a:lvl6pPr marL="2743200" lvl="5" indent="-280035"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810"/>
              <a:buChar char="●"/>
              <a:defRPr/>
            </a:lvl6pPr>
            <a:lvl7pPr marL="3200400" lvl="6" indent="-280035"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810"/>
              <a:buChar char="●"/>
              <a:defRPr/>
            </a:lvl7pPr>
            <a:lvl8pPr marL="3657600" lvl="7" indent="-280034"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810"/>
              <a:buChar char="●"/>
              <a:defRPr/>
            </a:lvl8pPr>
            <a:lvl9pPr marL="4114800" lvl="8" indent="-280034" algn="l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5" name="Google Shape;15;p5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5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5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" name="Google Shape;21;p5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59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" name="Google Shape;10;p5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  <a:defRPr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297180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2385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–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28575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28575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28575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28575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28575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1" name="Google Shape;11;p57"/>
          <p:cNvSpPr txBox="1"/>
          <p:nvPr/>
        </p:nvSpPr>
        <p:spPr>
          <a:xfrm>
            <a:off x="7224712" y="6884987"/>
            <a:ext cx="23526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0"/>
          <p:cNvSpPr txBox="1">
            <a:spLocks noGrp="1"/>
          </p:cNvSpPr>
          <p:nvPr>
            <p:ph type="title"/>
          </p:nvPr>
        </p:nvSpPr>
        <p:spPr>
          <a:xfrm>
            <a:off x="504825" y="303212"/>
            <a:ext cx="907256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60"/>
          <p:cNvSpPr txBox="1">
            <a:spLocks noGrp="1"/>
          </p:cNvSpPr>
          <p:nvPr>
            <p:ph type="body" idx="1"/>
          </p:nvPr>
        </p:nvSpPr>
        <p:spPr>
          <a:xfrm>
            <a:off x="504825" y="1763712"/>
            <a:ext cx="9072562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0"/>
          <p:cNvSpPr txBox="1">
            <a:spLocks noGrp="1"/>
          </p:cNvSpPr>
          <p:nvPr>
            <p:ph type="dt" idx="10"/>
          </p:nvPr>
        </p:nvSpPr>
        <p:spPr>
          <a:xfrm>
            <a:off x="504825" y="6884987"/>
            <a:ext cx="23510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60"/>
          <p:cNvSpPr txBox="1">
            <a:spLocks noGrp="1"/>
          </p:cNvSpPr>
          <p:nvPr>
            <p:ph type="ftr" idx="11"/>
          </p:nvPr>
        </p:nvSpPr>
        <p:spPr>
          <a:xfrm>
            <a:off x="3444875" y="6884987"/>
            <a:ext cx="31908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60"/>
          <p:cNvSpPr txBox="1">
            <a:spLocks noGrp="1"/>
          </p:cNvSpPr>
          <p:nvPr>
            <p:ph type="sldNum" idx="12"/>
          </p:nvPr>
        </p:nvSpPr>
        <p:spPr>
          <a:xfrm>
            <a:off x="7224712" y="6884987"/>
            <a:ext cx="23526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>
            <a:spLocks noGrp="1"/>
          </p:cNvSpPr>
          <p:nvPr>
            <p:ph type="title"/>
          </p:nvPr>
        </p:nvSpPr>
        <p:spPr>
          <a:xfrm>
            <a:off x="939482" y="2773997"/>
            <a:ext cx="8510587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6000"/>
              <a:buFont typeface="Comic Sans MS"/>
              <a:buNone/>
            </a:pPr>
            <a:r>
              <a:rPr lang="en-US" sz="6000" b="1" i="0" u="none" dirty="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  Testing </a:t>
            </a:r>
            <a:br>
              <a:rPr lang="en-US" sz="6000" b="1" i="0" u="none" dirty="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6000" b="1" i="0" u="none" dirty="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	</a:t>
            </a:r>
            <a:r>
              <a:rPr lang="en-US" sz="4000" b="1" i="0" u="none" dirty="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(Lecture 14)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Organization of this Lecture</a:t>
            </a:r>
            <a:endParaRPr/>
          </a:p>
        </p:txBody>
      </p:sp>
      <p:sp>
        <p:nvSpPr>
          <p:cNvPr id="41" name="Google Shape;41;p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Introduction to  Testing. 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White-box testing: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 coverage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1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path coverage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1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testing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1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coverage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1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118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Black-box Testing</a:t>
            </a:r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body" idx="1"/>
          </p:nvPr>
        </p:nvSpPr>
        <p:spPr>
          <a:xfrm>
            <a:off x="387350" y="1481137"/>
            <a:ext cx="9458325" cy="465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are designed using only </a:t>
            </a:r>
            <a:r>
              <a:rPr lang="en-US" sz="4000" b="1" i="0" u="none" strike="noStrike" cap="none">
                <a:solidFill>
                  <a:srgbClr val="003366"/>
                </a:solidFill>
                <a:latin typeface="Comic Sans MS"/>
                <a:ea typeface="Comic Sans MS"/>
                <a:cs typeface="Comic Sans MS"/>
                <a:sym typeface="Comic Sans MS"/>
              </a:rPr>
              <a:t>functional specification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the software: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Without any knowledge of the internal structure of the software.</a:t>
            </a:r>
            <a:endParaRPr/>
          </a:p>
          <a:p>
            <a:pPr marL="427037" marR="0" lvl="0" indent="-322262" algn="l" rtl="0">
              <a:lnSpc>
                <a:spcPct val="105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this reason, black-box testing is also known as  </a:t>
            </a:r>
            <a:r>
              <a:rPr lang="en-US" sz="4000" b="1" i="0" u="sng" strike="noStrike" cap="none">
                <a:solidFill>
                  <a:srgbClr val="003366"/>
                </a:solidFill>
                <a:latin typeface="Comic Sans MS"/>
                <a:ea typeface="Comic Sans MS"/>
                <a:cs typeface="Comic Sans MS"/>
                <a:sym typeface="Comic Sans MS"/>
              </a:rPr>
              <a:t>functional testing.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White-Box Testing</a:t>
            </a: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36550" y="1511300"/>
            <a:ext cx="9534525" cy="453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Designing white-box test cases: 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Requires knowledge about the internal structure of software. 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3366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White-box testing is also called </a:t>
            </a:r>
            <a:r>
              <a:rPr lang="en-US" sz="4000" b="1" i="0" u="sng" strike="noStrike" cap="none">
                <a:solidFill>
                  <a:srgbClr val="003366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structural testing</a:t>
            </a:r>
            <a:r>
              <a:rPr lang="en-US" sz="4000" b="1" i="0" u="none" strike="noStrike" cap="none">
                <a:solidFill>
                  <a:srgbClr val="003366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Black-Box Testing</a:t>
            </a:r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Two main approaches to design black box test cases: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Noto Sans Symbols"/>
              <a:buChar char="–"/>
            </a:pPr>
            <a:r>
              <a:rPr lang="en-US" sz="4400" b="1" i="0" u="none" strike="noStrike" cap="none">
                <a:solidFill>
                  <a:srgbClr val="003366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Equivalence class partitioning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Noto Sans Symbols"/>
              <a:buChar char="–"/>
            </a:pPr>
            <a:r>
              <a:rPr lang="en-US" sz="4400" b="1" i="0" u="none" strike="noStrike" cap="none">
                <a:solidFill>
                  <a:srgbClr val="003366"/>
                </a:solidFill>
                <a:latin typeface="Comic Sans MS"/>
                <a:ea typeface="Comic Sans MS"/>
                <a:cs typeface="Comic Sans MS"/>
                <a:sym typeface="Comic Sans MS"/>
              </a:rPr>
              <a:t>Boundary value analysis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White-Box Testing</a:t>
            </a:r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body" idx="1"/>
          </p:nvPr>
        </p:nvSpPr>
        <p:spPr>
          <a:xfrm>
            <a:off x="447675" y="1555750"/>
            <a:ext cx="9350375" cy="512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exist several popular white-box testing methodologies: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 coverage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coverage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Path coverage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coverage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flow-based testing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ic Sans MS"/>
              <a:buNone/>
            </a:pPr>
            <a:r>
              <a:rPr lang="en-US" sz="4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Coverage-Based Testing Versus Fault-Based Testing</a:t>
            </a:r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"/>
          </p:nvPr>
        </p:nvSpPr>
        <p:spPr>
          <a:xfrm>
            <a:off x="447675" y="1708150"/>
            <a:ext cx="93122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Idea behind coverage-based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test cases so that certain program elements are executed (or covered).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 statement coverage, path coverage, etc.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Idea behind fault-based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test cases that focus on discovering certain types of faults.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 Mutation testing.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 Coverage</a:t>
            </a:r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body" idx="1"/>
          </p:nvPr>
        </p:nvSpPr>
        <p:spPr>
          <a:xfrm>
            <a:off x="671512" y="1511300"/>
            <a:ext cx="8569325" cy="453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 coverage methodology: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2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test cases so that every statement in the program is executed at least once.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 Coverage</a:t>
            </a:r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principal idea: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Unless a statement is executed,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have no way of knowing  if an error exists in that statement.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 Coverage Criterion</a:t>
            </a:r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Observing that a statement behaves properly for one input value:</a:t>
            </a:r>
            <a:endParaRPr/>
          </a:p>
          <a:p>
            <a:pPr marL="858837" marR="0" lvl="1" indent="-285749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 guarantee that it will behave correctly for all input values.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511175" y="1517650"/>
            <a:ext cx="9096375" cy="516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 f1(int x, int y){                    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while (x != y){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if (x&gt;y) then 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x=x-y;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else y=y-x;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}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return x;        }</a:t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4548187" y="3421062"/>
            <a:ext cx="2760662" cy="44291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r>
              <a:rPr b="0" i="0"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solidFill>
                  <a:srgbClr val="3399FF"/>
                </a:solidFill>
                <a:latin typeface="Arial Black"/>
              </a:rPr>
              <a:t>Euclid's GCD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Euclid's GCD Computation Algorithm</a:t>
            </a:r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By choosing the test set {(x=3,y=3),(x=4,y=3), (x=3,y=4)}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statements are executed at least once.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Coverage</a:t>
            </a:r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are designed such that: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Noto Sans Symbols"/>
              <a:buChar char="–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Different branch conditions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true and false values in turn.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Coverage</a:t>
            </a:r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testing guarantees statement coverage: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stronger testing compared to the statement coverage-based testing.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Stronger Testing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body" idx="1"/>
          </p:nvPr>
        </p:nvSpPr>
        <p:spPr>
          <a:xfrm>
            <a:off x="671512" y="1511300"/>
            <a:ext cx="8569325" cy="453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are a superset of a weaker testing: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stronger testing covers at least all the elements of the elements covered by a weaker testing.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 f1(int x,int y){                    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 while (x != y){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    if (x&gt;y) then 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         x=x-y;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4    else y=y-x;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 }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6 return x;        }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for branch coverage can be: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{(x=3,y=3),(x=3,y=2), (x=4,y=3), (x=3,y=4)}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Coverage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are designed such that: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94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component of a composite conditional expression  </a:t>
            </a:r>
            <a:endParaRPr/>
          </a:p>
          <a:p>
            <a:pPr marL="1290637" marR="0" lvl="2" indent="-212724" algn="l" rtl="0">
              <a:lnSpc>
                <a:spcPct val="105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both true and false values.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Consider the conditional expression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((c1.and.c2).or.c3):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of c1, c2,  and  c3  are exercised at least once,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i.e. given true and false values.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Testing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body" idx="1"/>
          </p:nvPr>
        </p:nvSpPr>
        <p:spPr>
          <a:xfrm>
            <a:off x="671512" y="1511300"/>
            <a:ext cx="8569325" cy="453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testing is the simplest condition testing strategy: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Compound conditions appearing in different branch statements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Are given true and false values.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testing</a:t>
            </a: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testing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Stronger testing than branch testing.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testing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Stronger than statement coverage testing.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coverage</a:t>
            </a:r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396875" y="1530350"/>
            <a:ext cx="9490075" cy="5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Consider a boolean expression having n components: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condition coverage we require 2</a:t>
            </a:r>
            <a:r>
              <a:rPr lang="en-US" sz="3200" b="1" i="0" u="none" strike="noStrike" cap="none" baseline="30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test cases.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coverage-based testing technique: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Practical only if n (the number of component conditions) is small.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Path Coverage</a:t>
            </a:r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test cases such that: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linearly independent paths in the program are executed at least once.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Defined in terms of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Control flow graph (CFG) of a program.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>
            <a:spLocks noGrp="1"/>
          </p:cNvSpPr>
          <p:nvPr>
            <p:ph type="title"/>
          </p:nvPr>
        </p:nvSpPr>
        <p:spPr>
          <a:xfrm>
            <a:off x="447675" y="420687"/>
            <a:ext cx="9001125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Path Coverage-Based Testing</a:t>
            </a:r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body" idx="1"/>
          </p:nvPr>
        </p:nvSpPr>
        <p:spPr>
          <a:xfrm>
            <a:off x="422275" y="1885950"/>
            <a:ext cx="9299575" cy="5060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understand the path coverage-based testing: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need to learn how to draw control flow graph of a program.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control flow graph (CFG) describes: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sequence in which different instructions of a program get executed.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way control flows through the program.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title"/>
          </p:nvPr>
        </p:nvSpPr>
        <p:spPr>
          <a:xfrm>
            <a:off x="447675" y="336550"/>
            <a:ext cx="8886825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Draw Control Flow Graph?</a:t>
            </a:r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1"/>
          </p:nvPr>
        </p:nvSpPr>
        <p:spPr>
          <a:xfrm>
            <a:off x="269875" y="1708150"/>
            <a:ext cx="96551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 all the statements of a program.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Numbered statements: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Represent nodes of the control flow graph.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edge from one node to another node exists: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execution of the statement representing the first node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result in transfer of control to the other node.</a:t>
            </a: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 f1(int x,int y){                    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while (x != y){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if (x&gt;y) then 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x=x-y;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else y=y-x;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}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return x;        }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Control Flow Graph</a:t>
            </a:r>
            <a:endParaRPr/>
          </a:p>
        </p:txBody>
      </p:sp>
      <p:sp>
        <p:nvSpPr>
          <p:cNvPr id="192" name="Google Shape;192;p27"/>
          <p:cNvSpPr/>
          <p:nvPr/>
        </p:nvSpPr>
        <p:spPr>
          <a:xfrm>
            <a:off x="3695700" y="1847850"/>
            <a:ext cx="504825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93" name="Google Shape;193;p27"/>
          <p:cNvSpPr/>
          <p:nvPr/>
        </p:nvSpPr>
        <p:spPr>
          <a:xfrm>
            <a:off x="3695700" y="2603500"/>
            <a:ext cx="504825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94" name="Google Shape;194;p27"/>
          <p:cNvSpPr/>
          <p:nvPr/>
        </p:nvSpPr>
        <p:spPr>
          <a:xfrm>
            <a:off x="3024187" y="3359150"/>
            <a:ext cx="504825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95" name="Google Shape;195;p27"/>
          <p:cNvSpPr/>
          <p:nvPr/>
        </p:nvSpPr>
        <p:spPr>
          <a:xfrm>
            <a:off x="4284662" y="3359150"/>
            <a:ext cx="503237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96" name="Google Shape;196;p27"/>
          <p:cNvSpPr/>
          <p:nvPr/>
        </p:nvSpPr>
        <p:spPr>
          <a:xfrm>
            <a:off x="3695700" y="4032250"/>
            <a:ext cx="504825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97" name="Google Shape;197;p27"/>
          <p:cNvSpPr/>
          <p:nvPr/>
        </p:nvSpPr>
        <p:spPr>
          <a:xfrm>
            <a:off x="3695700" y="4787900"/>
            <a:ext cx="504825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198" name="Google Shape;198;p27"/>
          <p:cNvCxnSpPr/>
          <p:nvPr/>
        </p:nvCxnSpPr>
        <p:spPr>
          <a:xfrm>
            <a:off x="3948112" y="2268537"/>
            <a:ext cx="0" cy="3349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99" name="Google Shape;199;p27"/>
          <p:cNvCxnSpPr/>
          <p:nvPr/>
        </p:nvCxnSpPr>
        <p:spPr>
          <a:xfrm flipH="1">
            <a:off x="3444875" y="3024187"/>
            <a:ext cx="334962" cy="41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0" name="Google Shape;200;p27"/>
          <p:cNvCxnSpPr/>
          <p:nvPr/>
        </p:nvCxnSpPr>
        <p:spPr>
          <a:xfrm>
            <a:off x="4116387" y="3024187"/>
            <a:ext cx="336550" cy="3349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1" name="Google Shape;201;p27"/>
          <p:cNvCxnSpPr/>
          <p:nvPr/>
        </p:nvCxnSpPr>
        <p:spPr>
          <a:xfrm>
            <a:off x="3360737" y="3863975"/>
            <a:ext cx="334962" cy="3365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2" name="Google Shape;202;p27"/>
          <p:cNvCxnSpPr/>
          <p:nvPr/>
        </p:nvCxnSpPr>
        <p:spPr>
          <a:xfrm flipH="1">
            <a:off x="4200525" y="3863975"/>
            <a:ext cx="336550" cy="41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3" name="Google Shape;203;p27"/>
          <p:cNvCxnSpPr/>
          <p:nvPr/>
        </p:nvCxnSpPr>
        <p:spPr>
          <a:xfrm rot="10800000">
            <a:off x="2603500" y="4367212"/>
            <a:ext cx="1092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4" name="Google Shape;204;p27"/>
          <p:cNvCxnSpPr/>
          <p:nvPr/>
        </p:nvCxnSpPr>
        <p:spPr>
          <a:xfrm rot="10800000">
            <a:off x="2603500" y="2100262"/>
            <a:ext cx="0" cy="22669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2603500" y="2100262"/>
            <a:ext cx="1092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06" name="Google Shape;206;p27"/>
          <p:cNvSpPr/>
          <p:nvPr/>
        </p:nvSpPr>
        <p:spPr>
          <a:xfrm>
            <a:off x="4200525" y="1931987"/>
            <a:ext cx="1246187" cy="3024187"/>
          </a:xfrm>
          <a:custGeom>
            <a:avLst/>
            <a:gdLst/>
            <a:ahLst/>
            <a:cxnLst/>
            <a:rect l="l" t="t" r="r" b="b"/>
            <a:pathLst>
              <a:path w="712" h="1296" extrusionOk="0">
                <a:moveTo>
                  <a:pt x="0" y="96"/>
                </a:moveTo>
                <a:cubicBezTo>
                  <a:pt x="212" y="48"/>
                  <a:pt x="424" y="0"/>
                  <a:pt x="528" y="144"/>
                </a:cubicBezTo>
                <a:cubicBezTo>
                  <a:pt x="632" y="288"/>
                  <a:pt x="712" y="768"/>
                  <a:pt x="624" y="960"/>
                </a:cubicBezTo>
                <a:cubicBezTo>
                  <a:pt x="536" y="1152"/>
                  <a:pt x="268" y="1224"/>
                  <a:pt x="0" y="1296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draw Control flow graph?</a:t>
            </a:r>
            <a:endParaRPr/>
          </a:p>
        </p:txBody>
      </p:sp>
      <p:sp>
        <p:nvSpPr>
          <p:cNvPr id="212" name="Google Shape;212;p2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Sequence: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a=5;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b=a*b-1;</a:t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5376862" y="2519362"/>
            <a:ext cx="503237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14" name="Google Shape;214;p28"/>
          <p:cNvSpPr/>
          <p:nvPr/>
        </p:nvSpPr>
        <p:spPr>
          <a:xfrm>
            <a:off x="5376862" y="3527425"/>
            <a:ext cx="503237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215" name="Google Shape;215;p28"/>
          <p:cNvCxnSpPr/>
          <p:nvPr/>
        </p:nvCxnSpPr>
        <p:spPr>
          <a:xfrm>
            <a:off x="5627687" y="3024187"/>
            <a:ext cx="0" cy="50323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draw Control flow graph?</a:t>
            </a:r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Selection: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if(a&gt;b) then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c=3;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else   c=5;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c=c*c;</a:t>
            </a: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5711825" y="2603500"/>
            <a:ext cx="504825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5040312" y="3359150"/>
            <a:ext cx="504825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24" name="Google Shape;224;p29"/>
          <p:cNvSpPr/>
          <p:nvPr/>
        </p:nvSpPr>
        <p:spPr>
          <a:xfrm>
            <a:off x="6300787" y="3359150"/>
            <a:ext cx="503237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25" name="Google Shape;225;p29"/>
          <p:cNvSpPr/>
          <p:nvPr/>
        </p:nvSpPr>
        <p:spPr>
          <a:xfrm>
            <a:off x="5711825" y="4032250"/>
            <a:ext cx="504825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226" name="Google Shape;226;p29"/>
          <p:cNvCxnSpPr/>
          <p:nvPr/>
        </p:nvCxnSpPr>
        <p:spPr>
          <a:xfrm flipH="1">
            <a:off x="5461000" y="3024187"/>
            <a:ext cx="334962" cy="41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6132512" y="3024187"/>
            <a:ext cx="336550" cy="3349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5376862" y="3863975"/>
            <a:ext cx="334962" cy="3365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9" name="Google Shape;229;p29"/>
          <p:cNvCxnSpPr/>
          <p:nvPr/>
        </p:nvCxnSpPr>
        <p:spPr>
          <a:xfrm flipH="1">
            <a:off x="6216650" y="3863975"/>
            <a:ext cx="336550" cy="41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draw Control flow graph?</a:t>
            </a:r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Iteration: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while(a&gt;b){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b=b*a;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b=b-1;}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c=b+d;</a:t>
            </a:r>
            <a:endParaRPr/>
          </a:p>
        </p:txBody>
      </p:sp>
      <p:sp>
        <p:nvSpPr>
          <p:cNvPr id="236" name="Google Shape;236;p30"/>
          <p:cNvSpPr/>
          <p:nvPr/>
        </p:nvSpPr>
        <p:spPr>
          <a:xfrm>
            <a:off x="6230937" y="2016125"/>
            <a:ext cx="503237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37" name="Google Shape;237;p30"/>
          <p:cNvSpPr/>
          <p:nvPr/>
        </p:nvSpPr>
        <p:spPr>
          <a:xfrm>
            <a:off x="6230937" y="3108325"/>
            <a:ext cx="503237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38" name="Google Shape;238;p30"/>
          <p:cNvSpPr/>
          <p:nvPr/>
        </p:nvSpPr>
        <p:spPr>
          <a:xfrm>
            <a:off x="6230937" y="4200525"/>
            <a:ext cx="503237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39" name="Google Shape;239;p30"/>
          <p:cNvSpPr/>
          <p:nvPr/>
        </p:nvSpPr>
        <p:spPr>
          <a:xfrm>
            <a:off x="6230937" y="4956175"/>
            <a:ext cx="503237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cxnSp>
        <p:nvCxnSpPr>
          <p:cNvPr id="240" name="Google Shape;240;p30"/>
          <p:cNvCxnSpPr/>
          <p:nvPr/>
        </p:nvCxnSpPr>
        <p:spPr>
          <a:xfrm flipH="1">
            <a:off x="6469062" y="2435225"/>
            <a:ext cx="12700" cy="673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41" name="Google Shape;241;p30"/>
          <p:cNvCxnSpPr/>
          <p:nvPr/>
        </p:nvCxnSpPr>
        <p:spPr>
          <a:xfrm>
            <a:off x="6469062" y="3611562"/>
            <a:ext cx="0" cy="5889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42" name="Google Shape;242;p30"/>
          <p:cNvCxnSpPr/>
          <p:nvPr/>
        </p:nvCxnSpPr>
        <p:spPr>
          <a:xfrm rot="10800000">
            <a:off x="5138737" y="4535487"/>
            <a:ext cx="1092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43" name="Google Shape;243;p30"/>
          <p:cNvCxnSpPr/>
          <p:nvPr/>
        </p:nvCxnSpPr>
        <p:spPr>
          <a:xfrm rot="10800000">
            <a:off x="5138737" y="2268537"/>
            <a:ext cx="0" cy="22669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44" name="Google Shape;244;p30"/>
          <p:cNvCxnSpPr/>
          <p:nvPr/>
        </p:nvCxnSpPr>
        <p:spPr>
          <a:xfrm>
            <a:off x="5138737" y="2268537"/>
            <a:ext cx="1092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45" name="Google Shape;245;p30"/>
          <p:cNvSpPr/>
          <p:nvPr/>
        </p:nvSpPr>
        <p:spPr>
          <a:xfrm>
            <a:off x="6734175" y="2100262"/>
            <a:ext cx="1246187" cy="3024187"/>
          </a:xfrm>
          <a:custGeom>
            <a:avLst/>
            <a:gdLst/>
            <a:ahLst/>
            <a:cxnLst/>
            <a:rect l="l" t="t" r="r" b="b"/>
            <a:pathLst>
              <a:path w="712" h="1296" extrusionOk="0">
                <a:moveTo>
                  <a:pt x="0" y="96"/>
                </a:moveTo>
                <a:cubicBezTo>
                  <a:pt x="212" y="48"/>
                  <a:pt x="424" y="0"/>
                  <a:pt x="528" y="144"/>
                </a:cubicBezTo>
                <a:cubicBezTo>
                  <a:pt x="632" y="288"/>
                  <a:pt x="712" y="768"/>
                  <a:pt x="624" y="960"/>
                </a:cubicBezTo>
                <a:cubicBezTo>
                  <a:pt x="536" y="1152"/>
                  <a:pt x="268" y="1224"/>
                  <a:pt x="0" y="1296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omic Sans MS"/>
              <a:buNone/>
            </a:pPr>
            <a:r>
              <a:rPr lang="en-US" sz="8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Path</a:t>
            </a:r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1"/>
          </p:nvPr>
        </p:nvSpPr>
        <p:spPr>
          <a:xfrm>
            <a:off x="739775" y="1581150"/>
            <a:ext cx="8601075" cy="509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path through a program: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3366"/>
                </a:solidFill>
                <a:latin typeface="Comic Sans MS"/>
                <a:ea typeface="Comic Sans MS"/>
                <a:cs typeface="Comic Sans MS"/>
                <a:sym typeface="Comic Sans MS"/>
              </a:rPr>
              <a:t>A node and edge sequence from the starting node to a terminal node of the control flow graph.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There may be several terminal nodes for  program.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Linearly Independent Path</a:t>
            </a:r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Any path through the program: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Introducing at least one new edge: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That is not included in any other  independent paths.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 path</a:t>
            </a:r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straight forward: 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identify linearly independent paths of simple programs.</a:t>
            </a:r>
            <a:endParaRPr/>
          </a:p>
          <a:p>
            <a:pPr marL="427037" marR="0" lvl="0" indent="-322262" algn="l" rtl="0">
              <a:lnSpc>
                <a:spcPct val="105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complicated programs: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not so easy to determine the number of independent paths.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"/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"/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>
            <a:spLocks noGrp="1"/>
          </p:cNvSpPr>
          <p:nvPr>
            <p:ph type="title"/>
          </p:nvPr>
        </p:nvSpPr>
        <p:spPr>
          <a:xfrm>
            <a:off x="447675" y="420687"/>
            <a:ext cx="9013825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McCabe's Cyclomatic Metric </a:t>
            </a:r>
            <a:endParaRPr/>
          </a:p>
        </p:txBody>
      </p:sp>
      <p:sp>
        <p:nvSpPr>
          <p:cNvPr id="269" name="Google Shape;269;p34"/>
          <p:cNvSpPr txBox="1">
            <a:spLocks noGrp="1"/>
          </p:cNvSpPr>
          <p:nvPr>
            <p:ph type="body" idx="1"/>
          </p:nvPr>
        </p:nvSpPr>
        <p:spPr>
          <a:xfrm>
            <a:off x="473075" y="1911350"/>
            <a:ext cx="88677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upper bound: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the number of linearly independent paths of a program 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Provides a practical way of determining: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maximum number of linearly independent paths in a program.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>
            <a:spLocks noGrp="1"/>
          </p:cNvSpPr>
          <p:nvPr>
            <p:ph type="title"/>
          </p:nvPr>
        </p:nvSpPr>
        <p:spPr>
          <a:xfrm>
            <a:off x="447675" y="420687"/>
            <a:ext cx="8569325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McCabe's Cyclomatic Metric </a:t>
            </a:r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body" idx="1"/>
          </p:nvPr>
        </p:nvSpPr>
        <p:spPr>
          <a:xfrm>
            <a:off x="600075" y="20002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a control flow graph G,</a:t>
            </a:r>
            <a:b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 V(G):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V(G)= E-N+2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is the number of  nodes in G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 is the number of edges in G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>
            <a:spLocks noGrp="1"/>
          </p:cNvSpPr>
          <p:nvPr>
            <p:ph type="title"/>
          </p:nvPr>
        </p:nvSpPr>
        <p:spPr>
          <a:xfrm>
            <a:off x="447675" y="420687"/>
            <a:ext cx="8569325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Control Flow Graph </a:t>
            </a:r>
            <a:endParaRPr/>
          </a:p>
        </p:txBody>
      </p:sp>
      <p:sp>
        <p:nvSpPr>
          <p:cNvPr id="281" name="Google Shape;281;p36"/>
          <p:cNvSpPr/>
          <p:nvPr/>
        </p:nvSpPr>
        <p:spPr>
          <a:xfrm>
            <a:off x="3695700" y="1847850"/>
            <a:ext cx="504825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82" name="Google Shape;282;p36"/>
          <p:cNvSpPr/>
          <p:nvPr/>
        </p:nvSpPr>
        <p:spPr>
          <a:xfrm>
            <a:off x="3695700" y="2603500"/>
            <a:ext cx="504825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83" name="Google Shape;283;p36"/>
          <p:cNvSpPr/>
          <p:nvPr/>
        </p:nvSpPr>
        <p:spPr>
          <a:xfrm>
            <a:off x="3024187" y="3359150"/>
            <a:ext cx="504825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84" name="Google Shape;284;p36"/>
          <p:cNvSpPr/>
          <p:nvPr/>
        </p:nvSpPr>
        <p:spPr>
          <a:xfrm>
            <a:off x="4284662" y="3359150"/>
            <a:ext cx="503237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285" name="Google Shape;285;p36"/>
          <p:cNvSpPr/>
          <p:nvPr/>
        </p:nvSpPr>
        <p:spPr>
          <a:xfrm>
            <a:off x="3695700" y="4032250"/>
            <a:ext cx="504825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86" name="Google Shape;286;p36"/>
          <p:cNvSpPr/>
          <p:nvPr/>
        </p:nvSpPr>
        <p:spPr>
          <a:xfrm>
            <a:off x="3695700" y="4787900"/>
            <a:ext cx="504825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100"/>
              <a:buFont typeface="Times New Roman"/>
              <a:buNone/>
            </a:pPr>
            <a:r>
              <a:rPr lang="en-US" sz="3100" b="1" i="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287" name="Google Shape;287;p36"/>
          <p:cNvCxnSpPr/>
          <p:nvPr/>
        </p:nvCxnSpPr>
        <p:spPr>
          <a:xfrm>
            <a:off x="3948112" y="2268537"/>
            <a:ext cx="0" cy="3349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88" name="Google Shape;288;p36"/>
          <p:cNvCxnSpPr/>
          <p:nvPr/>
        </p:nvCxnSpPr>
        <p:spPr>
          <a:xfrm flipH="1">
            <a:off x="3444875" y="3024187"/>
            <a:ext cx="334962" cy="41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89" name="Google Shape;289;p36"/>
          <p:cNvCxnSpPr/>
          <p:nvPr/>
        </p:nvCxnSpPr>
        <p:spPr>
          <a:xfrm>
            <a:off x="4116387" y="3024187"/>
            <a:ext cx="336550" cy="3349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90" name="Google Shape;290;p36"/>
          <p:cNvCxnSpPr/>
          <p:nvPr/>
        </p:nvCxnSpPr>
        <p:spPr>
          <a:xfrm>
            <a:off x="3360737" y="3863975"/>
            <a:ext cx="334962" cy="3365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91" name="Google Shape;291;p36"/>
          <p:cNvCxnSpPr/>
          <p:nvPr/>
        </p:nvCxnSpPr>
        <p:spPr>
          <a:xfrm flipH="1">
            <a:off x="4200525" y="3863975"/>
            <a:ext cx="336550" cy="41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92" name="Google Shape;292;p36"/>
          <p:cNvCxnSpPr/>
          <p:nvPr/>
        </p:nvCxnSpPr>
        <p:spPr>
          <a:xfrm rot="10800000">
            <a:off x="2603500" y="4367212"/>
            <a:ext cx="1092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93" name="Google Shape;293;p36"/>
          <p:cNvCxnSpPr/>
          <p:nvPr/>
        </p:nvCxnSpPr>
        <p:spPr>
          <a:xfrm rot="10800000">
            <a:off x="2603500" y="2100262"/>
            <a:ext cx="0" cy="22669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94" name="Google Shape;294;p36"/>
          <p:cNvCxnSpPr/>
          <p:nvPr/>
        </p:nvCxnSpPr>
        <p:spPr>
          <a:xfrm>
            <a:off x="2603500" y="2100262"/>
            <a:ext cx="1092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95" name="Google Shape;295;p36"/>
          <p:cNvSpPr/>
          <p:nvPr/>
        </p:nvSpPr>
        <p:spPr>
          <a:xfrm>
            <a:off x="4200525" y="1931987"/>
            <a:ext cx="1246187" cy="3024187"/>
          </a:xfrm>
          <a:custGeom>
            <a:avLst/>
            <a:gdLst/>
            <a:ahLst/>
            <a:cxnLst/>
            <a:rect l="l" t="t" r="r" b="b"/>
            <a:pathLst>
              <a:path w="712" h="1296" extrusionOk="0">
                <a:moveTo>
                  <a:pt x="0" y="96"/>
                </a:moveTo>
                <a:cubicBezTo>
                  <a:pt x="212" y="48"/>
                  <a:pt x="424" y="0"/>
                  <a:pt x="528" y="144"/>
                </a:cubicBezTo>
                <a:cubicBezTo>
                  <a:pt x="632" y="288"/>
                  <a:pt x="712" y="768"/>
                  <a:pt x="624" y="960"/>
                </a:cubicBezTo>
                <a:cubicBezTo>
                  <a:pt x="536" y="1152"/>
                  <a:pt x="268" y="1224"/>
                  <a:pt x="0" y="1296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6"/>
          <p:cNvSpPr txBox="1"/>
          <p:nvPr/>
        </p:nvSpPr>
        <p:spPr>
          <a:xfrm>
            <a:off x="5724525" y="2670175"/>
            <a:ext cx="3386137" cy="15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mic Sans MS"/>
              <a:buNone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 = </a:t>
            </a:r>
            <a:b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7-6+2 = 3.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</a:t>
            </a:r>
            <a:endParaRPr/>
          </a:p>
        </p:txBody>
      </p:sp>
      <p:sp>
        <p:nvSpPr>
          <p:cNvPr id="302" name="Google Shape;302;p37"/>
          <p:cNvSpPr txBox="1">
            <a:spLocks noGrp="1"/>
          </p:cNvSpPr>
          <p:nvPr>
            <p:ph type="body" idx="1"/>
          </p:nvPr>
        </p:nvSpPr>
        <p:spPr>
          <a:xfrm>
            <a:off x="460375" y="1466850"/>
            <a:ext cx="9350375" cy="521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Another way of computing cyclomatic complexity: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inspect control flow graph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determine number of bounded areas in the graph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V(G) = Total number of bounded areas + 1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Any  region enclosed by a nodes and edge sequence.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>
            <a:spLocks noGrp="1"/>
          </p:cNvSpPr>
          <p:nvPr>
            <p:ph type="title"/>
          </p:nvPr>
        </p:nvSpPr>
        <p:spPr>
          <a:xfrm>
            <a:off x="447675" y="420687"/>
            <a:ext cx="8569325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Control Flow Graph</a:t>
            </a:r>
            <a:endParaRPr/>
          </a:p>
        </p:txBody>
      </p:sp>
      <p:sp>
        <p:nvSpPr>
          <p:cNvPr id="308" name="Google Shape;308;p38"/>
          <p:cNvSpPr/>
          <p:nvPr/>
        </p:nvSpPr>
        <p:spPr>
          <a:xfrm>
            <a:off x="3695700" y="1847850"/>
            <a:ext cx="504825" cy="504825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09" name="Google Shape;309;p38"/>
          <p:cNvSpPr/>
          <p:nvPr/>
        </p:nvSpPr>
        <p:spPr>
          <a:xfrm>
            <a:off x="3695700" y="2603500"/>
            <a:ext cx="504825" cy="504825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10" name="Google Shape;310;p38"/>
          <p:cNvSpPr/>
          <p:nvPr/>
        </p:nvSpPr>
        <p:spPr>
          <a:xfrm>
            <a:off x="3024187" y="3359150"/>
            <a:ext cx="504825" cy="504825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11" name="Google Shape;311;p38"/>
          <p:cNvSpPr/>
          <p:nvPr/>
        </p:nvSpPr>
        <p:spPr>
          <a:xfrm>
            <a:off x="4284662" y="3359150"/>
            <a:ext cx="503237" cy="504825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12" name="Google Shape;312;p38"/>
          <p:cNvSpPr/>
          <p:nvPr/>
        </p:nvSpPr>
        <p:spPr>
          <a:xfrm>
            <a:off x="3695700" y="4032250"/>
            <a:ext cx="504825" cy="503237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13" name="Google Shape;313;p38"/>
          <p:cNvSpPr/>
          <p:nvPr/>
        </p:nvSpPr>
        <p:spPr>
          <a:xfrm>
            <a:off x="3695700" y="4787900"/>
            <a:ext cx="504825" cy="503237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314" name="Google Shape;314;p38"/>
          <p:cNvCxnSpPr/>
          <p:nvPr/>
        </p:nvCxnSpPr>
        <p:spPr>
          <a:xfrm>
            <a:off x="3948112" y="2268537"/>
            <a:ext cx="0" cy="3349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15" name="Google Shape;315;p38"/>
          <p:cNvCxnSpPr/>
          <p:nvPr/>
        </p:nvCxnSpPr>
        <p:spPr>
          <a:xfrm flipH="1">
            <a:off x="3444875" y="3024187"/>
            <a:ext cx="334962" cy="41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16" name="Google Shape;316;p38"/>
          <p:cNvCxnSpPr/>
          <p:nvPr/>
        </p:nvCxnSpPr>
        <p:spPr>
          <a:xfrm>
            <a:off x="4116387" y="3024187"/>
            <a:ext cx="336550" cy="3349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17" name="Google Shape;317;p38"/>
          <p:cNvCxnSpPr/>
          <p:nvPr/>
        </p:nvCxnSpPr>
        <p:spPr>
          <a:xfrm>
            <a:off x="3360737" y="3863975"/>
            <a:ext cx="334962" cy="3365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18" name="Google Shape;318;p38"/>
          <p:cNvCxnSpPr/>
          <p:nvPr/>
        </p:nvCxnSpPr>
        <p:spPr>
          <a:xfrm flipH="1">
            <a:off x="4200525" y="3863975"/>
            <a:ext cx="336550" cy="41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19" name="Google Shape;319;p38"/>
          <p:cNvCxnSpPr/>
          <p:nvPr/>
        </p:nvCxnSpPr>
        <p:spPr>
          <a:xfrm rot="10800000">
            <a:off x="2603500" y="4367212"/>
            <a:ext cx="1092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20" name="Google Shape;320;p38"/>
          <p:cNvCxnSpPr/>
          <p:nvPr/>
        </p:nvCxnSpPr>
        <p:spPr>
          <a:xfrm rot="10800000">
            <a:off x="2603500" y="2100262"/>
            <a:ext cx="0" cy="22669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21" name="Google Shape;321;p38"/>
          <p:cNvCxnSpPr/>
          <p:nvPr/>
        </p:nvCxnSpPr>
        <p:spPr>
          <a:xfrm>
            <a:off x="2603500" y="2100262"/>
            <a:ext cx="1092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322" name="Google Shape;322;p38"/>
          <p:cNvSpPr/>
          <p:nvPr/>
        </p:nvSpPr>
        <p:spPr>
          <a:xfrm>
            <a:off x="4200525" y="1931987"/>
            <a:ext cx="1246187" cy="3024187"/>
          </a:xfrm>
          <a:custGeom>
            <a:avLst/>
            <a:gdLst/>
            <a:ahLst/>
            <a:cxnLst/>
            <a:rect l="l" t="t" r="r" b="b"/>
            <a:pathLst>
              <a:path w="712" h="1296" extrusionOk="0">
                <a:moveTo>
                  <a:pt x="0" y="96"/>
                </a:moveTo>
                <a:cubicBezTo>
                  <a:pt x="212" y="48"/>
                  <a:pt x="424" y="0"/>
                  <a:pt x="528" y="144"/>
                </a:cubicBezTo>
                <a:cubicBezTo>
                  <a:pt x="632" y="288"/>
                  <a:pt x="712" y="768"/>
                  <a:pt x="624" y="960"/>
                </a:cubicBezTo>
                <a:cubicBezTo>
                  <a:pt x="536" y="1152"/>
                  <a:pt x="268" y="1224"/>
                  <a:pt x="0" y="1296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mic Sans MS"/>
              <a:buNone/>
            </a:pPr>
            <a:r>
              <a:rPr lang="en-US" sz="8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328" name="Google Shape;328;p3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a visual examination of the CFG: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bounded areas is 2.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 = 2+1=3.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</a:t>
            </a:r>
            <a:endParaRPr/>
          </a:p>
        </p:txBody>
      </p:sp>
      <p:sp>
        <p:nvSpPr>
          <p:cNvPr id="334" name="Google Shape;334;p4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McCabe's metric provides:</a:t>
            </a:r>
            <a:endParaRPr/>
          </a:p>
          <a:p>
            <a:pPr marL="1290637" marR="0" lvl="2" indent="-212724" algn="l" rtl="0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A quantitative measure of  testing difficulty and the ultimate reliability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427037" marR="0" lvl="0" indent="-322262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Intuitively,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 of bounded areas increases with the number of decision nodes and loops.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</a:t>
            </a:r>
            <a:endParaRPr/>
          </a:p>
        </p:txBody>
      </p:sp>
      <p:sp>
        <p:nvSpPr>
          <p:cNvPr id="340" name="Google Shape;340;p41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first method of computing V(G) is amenable to automation: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 can write a program which determines the number of nodes and edges of a graph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Applies the formula to find V(G).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</a:t>
            </a:r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cyclomatic complexity of a program provides: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lower bound on the number of test cases to be designed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guarantee coverage of all linearly independent paths.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</a:t>
            </a:r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Defines the number of independent paths in a program.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Provides a lower bound: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the number of test cases for path coverage. 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</a:t>
            </a:r>
            <a:endParaRPr/>
          </a:p>
        </p:txBody>
      </p:sp>
      <p:sp>
        <p:nvSpPr>
          <p:cNvPr id="358" name="Google Shape;358;p44"/>
          <p:cNvSpPr txBox="1">
            <a:spLocks noGrp="1"/>
          </p:cNvSpPr>
          <p:nvPr>
            <p:ph type="body" idx="1"/>
          </p:nvPr>
        </p:nvSpPr>
        <p:spPr>
          <a:xfrm>
            <a:off x="574675" y="1517650"/>
            <a:ext cx="8766175" cy="516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Knowing the number of test cases required: 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not make it any easier to derive the test cases, </a:t>
            </a:r>
            <a:endParaRPr/>
          </a:p>
          <a:p>
            <a:pPr marL="858837" marR="0" lvl="1" indent="-285749" algn="l" rtl="0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Only gives an indication of the minimum number of test cases required.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Path Testing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body" idx="1"/>
          </p:nvPr>
        </p:nvSpPr>
        <p:spPr>
          <a:xfrm>
            <a:off x="409575" y="1543050"/>
            <a:ext cx="9350375" cy="513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tester proposes: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initial set of test data using his experience and judgement.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dynamic program analyzer is used: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indicate which parts of the program have been tested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output of the dynamic analysis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28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to guide the tester in selecting additional test cases.</a:t>
            </a:r>
            <a:endParaRPr/>
          </a:p>
          <a:p>
            <a:pPr marL="427037" marR="0" lvl="0" indent="-24225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None/>
            </a:pPr>
            <a:endParaRPr sz="2800" b="1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>
            <a:spLocks noGrp="1"/>
          </p:cNvSpPr>
          <p:nvPr>
            <p:ph type="title"/>
          </p:nvPr>
        </p:nvSpPr>
        <p:spPr>
          <a:xfrm>
            <a:off x="447675" y="420687"/>
            <a:ext cx="9153525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Derivation of Test Cases</a:t>
            </a: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 us discuss the steps: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derive path coverage-based test cases of a program.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Draw control flow graph.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Determine V(G).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Determine the set of linearly independent paths.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Prepare test cases: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force execution along each path.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mic Sans MS"/>
              <a:buNone/>
            </a:pPr>
            <a:r>
              <a:rPr lang="en-US" sz="8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376" name="Google Shape;376;p4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 f1(int x,int y){                   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339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while (x != y){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339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if (x&gt;y) then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339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x=x-y;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339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else y=y-x;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339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}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339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return x;        }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>
            <a:spLocks noGrp="1"/>
          </p:cNvSpPr>
          <p:nvPr>
            <p:ph type="title"/>
          </p:nvPr>
        </p:nvSpPr>
        <p:spPr>
          <a:xfrm>
            <a:off x="447675" y="336550"/>
            <a:ext cx="8569325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Control Flow Diagram</a:t>
            </a:r>
            <a:endParaRPr/>
          </a:p>
        </p:txBody>
      </p:sp>
      <p:sp>
        <p:nvSpPr>
          <p:cNvPr id="382" name="Google Shape;382;p48"/>
          <p:cNvSpPr/>
          <p:nvPr/>
        </p:nvSpPr>
        <p:spPr>
          <a:xfrm>
            <a:off x="3695700" y="1847850"/>
            <a:ext cx="504825" cy="504825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83" name="Google Shape;383;p48"/>
          <p:cNvSpPr/>
          <p:nvPr/>
        </p:nvSpPr>
        <p:spPr>
          <a:xfrm>
            <a:off x="3695700" y="2603500"/>
            <a:ext cx="504825" cy="504825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4" name="Google Shape;384;p48"/>
          <p:cNvSpPr/>
          <p:nvPr/>
        </p:nvSpPr>
        <p:spPr>
          <a:xfrm>
            <a:off x="3024187" y="3359150"/>
            <a:ext cx="504825" cy="504825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85" name="Google Shape;385;p48"/>
          <p:cNvSpPr/>
          <p:nvPr/>
        </p:nvSpPr>
        <p:spPr>
          <a:xfrm>
            <a:off x="4284662" y="3359150"/>
            <a:ext cx="503237" cy="504825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86" name="Google Shape;386;p48"/>
          <p:cNvSpPr/>
          <p:nvPr/>
        </p:nvSpPr>
        <p:spPr>
          <a:xfrm>
            <a:off x="3695700" y="4032250"/>
            <a:ext cx="504825" cy="503237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87" name="Google Shape;387;p48"/>
          <p:cNvSpPr/>
          <p:nvPr/>
        </p:nvSpPr>
        <p:spPr>
          <a:xfrm>
            <a:off x="3695700" y="4787900"/>
            <a:ext cx="504825" cy="503237"/>
          </a:xfrm>
          <a:prstGeom prst="ellipse">
            <a:avLst/>
          </a:prstGeom>
          <a:solidFill>
            <a:srgbClr val="3399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None/>
            </a:pPr>
            <a:r>
              <a:rPr lang="en-US" sz="3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388" name="Google Shape;388;p48"/>
          <p:cNvCxnSpPr/>
          <p:nvPr/>
        </p:nvCxnSpPr>
        <p:spPr>
          <a:xfrm>
            <a:off x="3948112" y="2268537"/>
            <a:ext cx="0" cy="3349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89" name="Google Shape;389;p48"/>
          <p:cNvCxnSpPr/>
          <p:nvPr/>
        </p:nvCxnSpPr>
        <p:spPr>
          <a:xfrm flipH="1">
            <a:off x="3444875" y="3024187"/>
            <a:ext cx="334962" cy="41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90" name="Google Shape;390;p48"/>
          <p:cNvCxnSpPr/>
          <p:nvPr/>
        </p:nvCxnSpPr>
        <p:spPr>
          <a:xfrm>
            <a:off x="4116387" y="3024187"/>
            <a:ext cx="336550" cy="3349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91" name="Google Shape;391;p48"/>
          <p:cNvCxnSpPr/>
          <p:nvPr/>
        </p:nvCxnSpPr>
        <p:spPr>
          <a:xfrm>
            <a:off x="3360737" y="3863975"/>
            <a:ext cx="334962" cy="3365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92" name="Google Shape;392;p48"/>
          <p:cNvCxnSpPr/>
          <p:nvPr/>
        </p:nvCxnSpPr>
        <p:spPr>
          <a:xfrm flipH="1">
            <a:off x="4200525" y="3863975"/>
            <a:ext cx="336550" cy="41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93" name="Google Shape;393;p48"/>
          <p:cNvCxnSpPr/>
          <p:nvPr/>
        </p:nvCxnSpPr>
        <p:spPr>
          <a:xfrm rot="10800000">
            <a:off x="2603500" y="4367212"/>
            <a:ext cx="1092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94" name="Google Shape;394;p48"/>
          <p:cNvCxnSpPr/>
          <p:nvPr/>
        </p:nvCxnSpPr>
        <p:spPr>
          <a:xfrm rot="10800000">
            <a:off x="2603500" y="2100262"/>
            <a:ext cx="0" cy="226695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95" name="Google Shape;395;p48"/>
          <p:cNvCxnSpPr/>
          <p:nvPr/>
        </p:nvCxnSpPr>
        <p:spPr>
          <a:xfrm>
            <a:off x="2603500" y="2100262"/>
            <a:ext cx="1092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396" name="Google Shape;396;p48"/>
          <p:cNvSpPr/>
          <p:nvPr/>
        </p:nvSpPr>
        <p:spPr>
          <a:xfrm>
            <a:off x="4200525" y="1931987"/>
            <a:ext cx="1246187" cy="3024187"/>
          </a:xfrm>
          <a:custGeom>
            <a:avLst/>
            <a:gdLst/>
            <a:ahLst/>
            <a:cxnLst/>
            <a:rect l="l" t="t" r="r" b="b"/>
            <a:pathLst>
              <a:path w="712" h="1296" extrusionOk="0">
                <a:moveTo>
                  <a:pt x="0" y="96"/>
                </a:moveTo>
                <a:cubicBezTo>
                  <a:pt x="212" y="48"/>
                  <a:pt x="424" y="0"/>
                  <a:pt x="528" y="144"/>
                </a:cubicBezTo>
                <a:cubicBezTo>
                  <a:pt x="632" y="288"/>
                  <a:pt x="712" y="768"/>
                  <a:pt x="624" y="960"/>
                </a:cubicBezTo>
                <a:cubicBezTo>
                  <a:pt x="536" y="1152"/>
                  <a:pt x="268" y="1224"/>
                  <a:pt x="0" y="1296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Derivation of Test Cases</a:t>
            </a:r>
            <a:endParaRPr/>
          </a:p>
        </p:txBody>
      </p:sp>
      <p:sp>
        <p:nvSpPr>
          <p:cNvPr id="402" name="Google Shape;402;p4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 of independent paths: 3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1,6     </a:t>
            </a:r>
            <a:r>
              <a:rPr lang="en-US" sz="3600" b="1" i="0" u="none" strike="noStrike" cap="none">
                <a:solidFill>
                  <a:srgbClr val="339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 (x=1, y=1)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1,2,3,5,1,6 </a:t>
            </a:r>
            <a:r>
              <a:rPr lang="en-US" sz="3600" b="1" i="0" u="none" strike="noStrike" cap="none">
                <a:solidFill>
                  <a:srgbClr val="339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case(x=1, y=2)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1,2,4,5,1,6  </a:t>
            </a:r>
            <a:r>
              <a:rPr lang="en-US" sz="3600" b="1" i="0" u="none" strike="noStrike" cap="none">
                <a:solidFill>
                  <a:srgbClr val="339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case(x=2, y=1)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interesting application of cyclomatic complexity</a:t>
            </a:r>
            <a:endParaRPr/>
          </a:p>
        </p:txBody>
      </p:sp>
      <p:sp>
        <p:nvSpPr>
          <p:cNvPr id="408" name="Google Shape;408;p5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Relationship exists between: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McCabe's metric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errors existing in the code,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time required to find and correct the errors. 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</a:t>
            </a:r>
            <a:endParaRPr/>
          </a:p>
        </p:txBody>
      </p:sp>
      <p:sp>
        <p:nvSpPr>
          <p:cNvPr id="414" name="Google Shape;414;p51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 of a program: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33CC"/>
                </a:solidFill>
                <a:latin typeface="Comic Sans MS"/>
                <a:ea typeface="Comic Sans MS"/>
                <a:cs typeface="Comic Sans MS"/>
                <a:sym typeface="Comic Sans MS"/>
              </a:rPr>
              <a:t>Also indicates the psychological complexity of a program.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Difficulty level of understanding the program.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Cyclomatic Complexity</a:t>
            </a:r>
            <a:endParaRPr/>
          </a:p>
        </p:txBody>
      </p:sp>
      <p:sp>
        <p:nvSpPr>
          <p:cNvPr id="420" name="Google Shape;420;p5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maintenance perspective,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limit cyclomatic complexity </a:t>
            </a:r>
            <a:endParaRPr/>
          </a:p>
          <a:p>
            <a:pPr marL="1290637" marR="0" lvl="2" indent="-212724" algn="l" rtl="0">
              <a:lnSpc>
                <a:spcPct val="95000"/>
              </a:lnSpc>
              <a:spcBef>
                <a:spcPts val="128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of modules to some reasonable value.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1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Good software development organizations: </a:t>
            </a:r>
            <a:endParaRPr/>
          </a:p>
          <a:p>
            <a:pPr marL="1290637" marR="0" lvl="2" indent="-212724" algn="l" rtl="0">
              <a:lnSpc>
                <a:spcPct val="95000"/>
              </a:lnSpc>
              <a:spcBef>
                <a:spcPts val="128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restrict cyclomatic complexity of functions to a maximum of ten or so.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426" name="Google Shape;426;p53"/>
          <p:cNvSpPr txBox="1">
            <a:spLocks noGrp="1"/>
          </p:cNvSpPr>
          <p:nvPr>
            <p:ph type="body" idx="1"/>
          </p:nvPr>
        </p:nvSpPr>
        <p:spPr>
          <a:xfrm>
            <a:off x="447675" y="1581150"/>
            <a:ext cx="9299575" cy="509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Exhaustive testing of non-trivial systems is impractical: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need to design an optimal set of test cases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Should expose as many errors as possible.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we select test cases randomly: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many of the selected test cases do not add to the significance of the test set.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432" name="Google Shape;432;p54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two approaches to testing: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black-box testing and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white-box testing.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Designing test cases for black box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not require any knowledge of how the functions have been designed and implemented.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can be designed by examining only SRS document.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8000"/>
              <a:buFont typeface="Comic Sans MS"/>
              <a:buNone/>
            </a:pPr>
            <a:r>
              <a:rPr lang="en-US" sz="80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438" name="Google Shape;438;p55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 box testing: 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requires knowledge about internals of the software.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and code is required.</a:t>
            </a:r>
            <a:endParaRPr/>
          </a:p>
          <a:p>
            <a:pPr marL="427037" marR="0" lvl="0" indent="-3222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have discussed a few white-box test strategies.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 coverage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branch coverage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coverage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path coverage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444" name="Google Shape;444;p5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stronger testing strategy: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provides more number of significant test cases than a weaker one.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coverage is strongest among strategies we discussed.</a:t>
            </a:r>
            <a:endParaRPr/>
          </a:p>
          <a:p>
            <a:pPr marL="427037" marR="0" lvl="0" indent="-3222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discussed McCabe’s Cyclomatic complexity metric: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provides an upper bound for linearly independent paths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correlates with understanding, testing, and debugging difficulty of a program.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0000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1862</Words>
  <Application>Microsoft Office PowerPoint</Application>
  <PresentationFormat>Custom</PresentationFormat>
  <Paragraphs>310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Arial Black</vt:lpstr>
      <vt:lpstr>Comic Sans MS</vt:lpstr>
      <vt:lpstr>Noto Sans Symbols</vt:lpstr>
      <vt:lpstr>Times New Roman</vt:lpstr>
      <vt:lpstr>Default Design</vt:lpstr>
      <vt:lpstr>Custom Design</vt:lpstr>
      <vt:lpstr>Program  Testing       (Lecture 14)</vt:lpstr>
      <vt:lpstr>Organization of this Lecture</vt:lpstr>
      <vt:lpstr>Black-box Testing</vt:lpstr>
      <vt:lpstr>White-Box Testing</vt:lpstr>
      <vt:lpstr>Black-Box Testing</vt:lpstr>
      <vt:lpstr>White-Box Testing</vt:lpstr>
      <vt:lpstr>Coverage-Based Testing Versus Fault-Based Testing</vt:lpstr>
      <vt:lpstr>Statement Coverage</vt:lpstr>
      <vt:lpstr>Statement Coverage</vt:lpstr>
      <vt:lpstr>Statement Coverage Criterion</vt:lpstr>
      <vt:lpstr>Example</vt:lpstr>
      <vt:lpstr>Euclid's GCD Computation Algorithm</vt:lpstr>
      <vt:lpstr>Branch Coverage</vt:lpstr>
      <vt:lpstr>Branch Coverage</vt:lpstr>
      <vt:lpstr>Stronger Testing</vt:lpstr>
      <vt:lpstr>Example</vt:lpstr>
      <vt:lpstr>Example</vt:lpstr>
      <vt:lpstr>Condition Coverage</vt:lpstr>
      <vt:lpstr>Example</vt:lpstr>
      <vt:lpstr>Branch Testing</vt:lpstr>
      <vt:lpstr>Branch testing</vt:lpstr>
      <vt:lpstr>Condition coverage</vt:lpstr>
      <vt:lpstr>Path Coverage</vt:lpstr>
      <vt:lpstr>Path Coverage-Based Testing</vt:lpstr>
      <vt:lpstr>How to Draw Control Flow Graph?</vt:lpstr>
      <vt:lpstr>Example</vt:lpstr>
      <vt:lpstr>Example Control Flow Graph</vt:lpstr>
      <vt:lpstr>How to draw Control flow graph?</vt:lpstr>
      <vt:lpstr>How to draw Control flow graph?</vt:lpstr>
      <vt:lpstr>How to draw Control flow graph?</vt:lpstr>
      <vt:lpstr>Path</vt:lpstr>
      <vt:lpstr>Linearly Independent Path</vt:lpstr>
      <vt:lpstr>Independent path</vt:lpstr>
      <vt:lpstr>McCabe's Cyclomatic Metric </vt:lpstr>
      <vt:lpstr>McCabe's Cyclomatic Metric </vt:lpstr>
      <vt:lpstr>Example Control Flow Graph </vt:lpstr>
      <vt:lpstr>Cyclomatic Complexity</vt:lpstr>
      <vt:lpstr>Example Control Flow Graph</vt:lpstr>
      <vt:lpstr>Example</vt:lpstr>
      <vt:lpstr>Cyclomatic complexity</vt:lpstr>
      <vt:lpstr>Cyclomatic Complexity</vt:lpstr>
      <vt:lpstr>Cyclomatic complexity</vt:lpstr>
      <vt:lpstr>Cyclomatic Complexity</vt:lpstr>
      <vt:lpstr>Cyclomatic Complexity</vt:lpstr>
      <vt:lpstr>Path Testing</vt:lpstr>
      <vt:lpstr>Derivation of Test Cases</vt:lpstr>
      <vt:lpstr>Example</vt:lpstr>
      <vt:lpstr>Example Control Flow Diagram</vt:lpstr>
      <vt:lpstr>Derivation of Test Cases</vt:lpstr>
      <vt:lpstr>An interesting application of cyclomatic complexity</vt:lpstr>
      <vt:lpstr>Cyclomatic Complexity</vt:lpstr>
      <vt:lpstr>Cyclomatic Complexity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106263</cp:lastModifiedBy>
  <cp:revision>1</cp:revision>
  <dcterms:modified xsi:type="dcterms:W3CDTF">2025-09-16T03:54:01Z</dcterms:modified>
</cp:coreProperties>
</file>