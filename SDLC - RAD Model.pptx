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428"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96D8E8-1804-4382-919E-7E5873F93267}" type="datetimeFigureOut">
              <a:rPr lang="en-IN" smtClean="0"/>
              <a:t>07-12-2025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BE4D89-B6DC-42F7-B16E-F7D0566723F0}" type="slidenum">
              <a:rPr lang="en-IN" smtClean="0"/>
              <a:t>‹#›</a:t>
            </a:fld>
            <a:endParaRPr lang="en-IN"/>
          </a:p>
        </p:txBody>
      </p:sp>
    </p:spTree>
    <p:extLst>
      <p:ext uri="{BB962C8B-B14F-4D97-AF65-F5344CB8AC3E}">
        <p14:creationId xmlns:p14="http://schemas.microsoft.com/office/powerpoint/2010/main" val="310692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6733A41-21B8-44E9-A901-5EA85343D218}"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351833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733A41-21B8-44E9-A901-5EA85343D218}"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3448675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733A41-21B8-44E9-A901-5EA85343D218}"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1794582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6733A41-21B8-44E9-A901-5EA85343D218}"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2880627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6733A41-21B8-44E9-A901-5EA85343D218}" type="datetimeFigureOut">
              <a:rPr lang="en-IN" smtClean="0"/>
              <a:t>07-12-2025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175376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6733A41-21B8-44E9-A901-5EA85343D218}" type="datetimeFigureOut">
              <a:rPr lang="en-IN" smtClean="0"/>
              <a:t>07-12-2025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470232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733A41-21B8-44E9-A901-5EA85343D218}" type="datetimeFigureOut">
              <a:rPr lang="en-IN" smtClean="0"/>
              <a:t>07-12-2025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107020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733A41-21B8-44E9-A901-5EA85343D218}"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476361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733A41-21B8-44E9-A901-5EA85343D218}" type="datetimeFigureOut">
              <a:rPr lang="en-IN" smtClean="0"/>
              <a:t>07-12-2025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438486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733A41-21B8-44E9-A901-5EA85343D218}"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1846794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6733A41-21B8-44E9-A901-5EA85343D218}" type="datetimeFigureOut">
              <a:rPr lang="en-IN" smtClean="0"/>
              <a:t>07-12-2025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6B044C-A492-4D54-A013-F39A7CEAF596}" type="slidenum">
              <a:rPr lang="en-IN" smtClean="0"/>
              <a:t>‹#›</a:t>
            </a:fld>
            <a:endParaRPr lang="en-IN"/>
          </a:p>
        </p:txBody>
      </p:sp>
    </p:spTree>
    <p:extLst>
      <p:ext uri="{BB962C8B-B14F-4D97-AF65-F5344CB8AC3E}">
        <p14:creationId xmlns:p14="http://schemas.microsoft.com/office/powerpoint/2010/main" val="426669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33A41-21B8-44E9-A901-5EA85343D218}" type="datetimeFigureOut">
              <a:rPr lang="en-IN" smtClean="0"/>
              <a:t>07-12-2025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6B044C-A492-4D54-A013-F39A7CEAF596}" type="slidenum">
              <a:rPr lang="en-IN" smtClean="0"/>
              <a:t>‹#›</a:t>
            </a:fld>
            <a:endParaRPr lang="en-IN"/>
          </a:p>
        </p:txBody>
      </p:sp>
    </p:spTree>
    <p:extLst>
      <p:ext uri="{BB962C8B-B14F-4D97-AF65-F5344CB8AC3E}">
        <p14:creationId xmlns:p14="http://schemas.microsoft.com/office/powerpoint/2010/main" val="1724441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solidFill>
                  <a:srgbClr val="FF0000"/>
                </a:solidFill>
              </a:rPr>
              <a:t>What is RAD?</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a:xfrm>
            <a:off x="457200" y="1052736"/>
            <a:ext cx="8229600" cy="5073427"/>
          </a:xfrm>
        </p:spPr>
        <p:txBody>
          <a:bodyPr>
            <a:normAutofit fontScale="85000" lnSpcReduction="10000"/>
          </a:bodyPr>
          <a:lstStyle/>
          <a:p>
            <a:pPr algn="just"/>
            <a:r>
              <a:rPr lang="en-IN" dirty="0"/>
              <a:t>The </a:t>
            </a:r>
            <a:r>
              <a:rPr lang="en-IN" b="1" dirty="0"/>
              <a:t>RAD (Rapid Application Development)</a:t>
            </a:r>
            <a:r>
              <a:rPr lang="en-IN" dirty="0"/>
              <a:t> model is based on </a:t>
            </a:r>
            <a:r>
              <a:rPr lang="en-IN" dirty="0">
                <a:solidFill>
                  <a:srgbClr val="FF0000"/>
                </a:solidFill>
              </a:rPr>
              <a:t>prototyping and iterative development with no specific planning involved</a:t>
            </a:r>
            <a:r>
              <a:rPr lang="en-IN" dirty="0"/>
              <a:t>. The process of writing the software itself involves the planning required for developing the product.</a:t>
            </a:r>
          </a:p>
          <a:p>
            <a:pPr marL="0" indent="0" algn="just">
              <a:buNone/>
            </a:pPr>
            <a:endParaRPr lang="en-IN" dirty="0"/>
          </a:p>
          <a:p>
            <a:pPr algn="just"/>
            <a:r>
              <a:rPr lang="en-IN" dirty="0"/>
              <a:t>Rapid Application Development focuses on gathering customer requirements through workshops or focus groups, early testing of the prototypes by the customer using iterative concept, reuse of the existing prototypes (components), continuous integration and rapid delivery.</a:t>
            </a:r>
          </a:p>
          <a:p>
            <a:pPr algn="just"/>
            <a:endParaRPr lang="en-IN" dirty="0"/>
          </a:p>
        </p:txBody>
      </p:sp>
    </p:spTree>
    <p:extLst>
      <p:ext uri="{BB962C8B-B14F-4D97-AF65-F5344CB8AC3E}">
        <p14:creationId xmlns:p14="http://schemas.microsoft.com/office/powerpoint/2010/main" val="2852929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332656"/>
            <a:ext cx="8096250" cy="6048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2910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 Concepts</a:t>
            </a:r>
            <a:endParaRPr lang="en-IN"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IN" dirty="0"/>
              <a:t>RAD (Rapid Application Development) is a concept that products can be developed </a:t>
            </a:r>
            <a:r>
              <a:rPr lang="en-IN" dirty="0">
                <a:solidFill>
                  <a:srgbClr val="FF0000"/>
                </a:solidFill>
              </a:rPr>
              <a:t>faster and of higher quality </a:t>
            </a:r>
            <a:r>
              <a:rPr lang="en-IN" dirty="0"/>
              <a:t>through:</a:t>
            </a:r>
          </a:p>
          <a:p>
            <a:pPr marL="0" indent="0" algn="just">
              <a:buNone/>
            </a:pPr>
            <a:endParaRPr lang="en-IN" dirty="0"/>
          </a:p>
          <a:p>
            <a:pPr algn="just"/>
            <a:r>
              <a:rPr lang="en-IN" dirty="0"/>
              <a:t>Gathering requirements using workshops or focus groups</a:t>
            </a:r>
          </a:p>
          <a:p>
            <a:pPr algn="just"/>
            <a:r>
              <a:rPr lang="en-IN" dirty="0"/>
              <a:t>Prototyping and early, reiterative user testing of designs</a:t>
            </a:r>
          </a:p>
          <a:p>
            <a:pPr algn="just"/>
            <a:r>
              <a:rPr lang="en-IN" dirty="0"/>
              <a:t>The re-use of software components</a:t>
            </a:r>
          </a:p>
          <a:p>
            <a:pPr algn="just"/>
            <a:r>
              <a:rPr lang="en-IN" dirty="0"/>
              <a:t>A rigidly paced schedule that refers design improvements to the next product version.</a:t>
            </a:r>
          </a:p>
          <a:p>
            <a:pPr algn="just"/>
            <a:r>
              <a:rPr lang="en-IN" dirty="0"/>
              <a:t>Less formality in reviews and other team communication</a:t>
            </a:r>
          </a:p>
          <a:p>
            <a:pPr marL="0" indent="0" algn="just">
              <a:buNone/>
            </a:pPr>
            <a:endParaRPr lang="en-IN" dirty="0"/>
          </a:p>
          <a:p>
            <a:pPr algn="just"/>
            <a:endParaRPr lang="en-IN" dirty="0"/>
          </a:p>
        </p:txBody>
      </p:sp>
    </p:spTree>
    <p:extLst>
      <p:ext uri="{BB962C8B-B14F-4D97-AF65-F5344CB8AC3E}">
        <p14:creationId xmlns:p14="http://schemas.microsoft.com/office/powerpoint/2010/main" val="816620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1270" y="1600200"/>
            <a:ext cx="744146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3628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IN" dirty="0"/>
            </a:br>
            <a:r>
              <a:rPr lang="en-IN" dirty="0"/>
              <a:t>The various phases of RAD are as follows:</a:t>
            </a:r>
            <a:br>
              <a:rPr lang="en-IN" dirty="0"/>
            </a:br>
            <a:endParaRPr lang="en-IN" dirty="0"/>
          </a:p>
        </p:txBody>
      </p:sp>
      <p:sp>
        <p:nvSpPr>
          <p:cNvPr id="3" name="Content Placeholder 2"/>
          <p:cNvSpPr>
            <a:spLocks noGrp="1"/>
          </p:cNvSpPr>
          <p:nvPr>
            <p:ph idx="1"/>
          </p:nvPr>
        </p:nvSpPr>
        <p:spPr/>
        <p:txBody>
          <a:bodyPr>
            <a:normAutofit fontScale="55000" lnSpcReduction="20000"/>
          </a:bodyPr>
          <a:lstStyle/>
          <a:p>
            <a:pPr algn="just"/>
            <a:r>
              <a:rPr lang="en-IN" b="1" dirty="0"/>
              <a:t>Business Modelling:</a:t>
            </a:r>
            <a:r>
              <a:rPr lang="en-IN" dirty="0"/>
              <a:t> The information flow among business functions is defined by answering questions like what data drives the business process, </a:t>
            </a:r>
            <a:r>
              <a:rPr lang="en-IN" dirty="0">
                <a:solidFill>
                  <a:srgbClr val="FF0000"/>
                </a:solidFill>
              </a:rPr>
              <a:t>what data is generated, who generates it, where does the information go, who process it and so on.</a:t>
            </a:r>
          </a:p>
          <a:p>
            <a:pPr algn="just"/>
            <a:r>
              <a:rPr lang="en-IN" b="1" dirty="0"/>
              <a:t>Data Modelling:</a:t>
            </a:r>
            <a:r>
              <a:rPr lang="en-IN" dirty="0"/>
              <a:t> The data collected from business modelling is </a:t>
            </a:r>
            <a:r>
              <a:rPr lang="en-IN" dirty="0">
                <a:solidFill>
                  <a:srgbClr val="FF0000"/>
                </a:solidFill>
              </a:rPr>
              <a:t>refined into a set of data objects (entities)</a:t>
            </a:r>
            <a:r>
              <a:rPr lang="en-IN" dirty="0"/>
              <a:t> that are needed to support the business. The attributes (character of each entity) are identified, and the </a:t>
            </a:r>
            <a:r>
              <a:rPr lang="en-IN" dirty="0">
                <a:solidFill>
                  <a:srgbClr val="FF0000"/>
                </a:solidFill>
              </a:rPr>
              <a:t>relation between these data objects</a:t>
            </a:r>
            <a:r>
              <a:rPr lang="en-IN" dirty="0"/>
              <a:t> (entities) is defined.</a:t>
            </a:r>
          </a:p>
          <a:p>
            <a:pPr algn="just"/>
            <a:r>
              <a:rPr lang="en-IN" b="1" dirty="0"/>
              <a:t>Process Modelling:</a:t>
            </a:r>
            <a:r>
              <a:rPr lang="en-IN" dirty="0"/>
              <a:t> The information object defined in the data modelling phase are t</a:t>
            </a:r>
            <a:r>
              <a:rPr lang="en-IN" dirty="0">
                <a:solidFill>
                  <a:srgbClr val="FF0000"/>
                </a:solidFill>
              </a:rPr>
              <a:t>ransformed to achieve the data flow necessary to implement a business function</a:t>
            </a:r>
            <a:r>
              <a:rPr lang="en-IN" dirty="0"/>
              <a:t>. Processing descriptions are created for adding, modifying, deleting, or retrieving a data object.</a:t>
            </a:r>
          </a:p>
          <a:p>
            <a:pPr algn="just"/>
            <a:r>
              <a:rPr lang="en-IN" b="1" dirty="0"/>
              <a:t>Application Generation:</a:t>
            </a:r>
            <a:r>
              <a:rPr lang="en-IN" dirty="0"/>
              <a:t> Automated tools are used to facilitate construction of the software.</a:t>
            </a:r>
          </a:p>
          <a:p>
            <a:pPr algn="just"/>
            <a:r>
              <a:rPr lang="en-IN" b="1" dirty="0"/>
              <a:t>Testing &amp; Turnover:</a:t>
            </a:r>
            <a:r>
              <a:rPr lang="en-IN" dirty="0"/>
              <a:t> Many of the programming components have already been tested since RAD emphasis reuse. This reduces the overall testing time. But the new part must be tested, and all interfaces must be fully exercised.</a:t>
            </a:r>
          </a:p>
          <a:p>
            <a:pPr algn="just"/>
            <a:endParaRPr lang="en-IN" dirty="0"/>
          </a:p>
        </p:txBody>
      </p:sp>
    </p:spTree>
    <p:extLst>
      <p:ext uri="{BB962C8B-B14F-4D97-AF65-F5344CB8AC3E}">
        <p14:creationId xmlns:p14="http://schemas.microsoft.com/office/powerpoint/2010/main" val="1460851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solidFill>
                  <a:srgbClr val="FF0000"/>
                </a:solidFill>
              </a:rPr>
              <a:t>When to use RAD Model?</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normAutofit lnSpcReduction="10000"/>
          </a:bodyPr>
          <a:lstStyle/>
          <a:p>
            <a:pPr algn="just"/>
            <a:r>
              <a:rPr lang="en-IN" dirty="0"/>
              <a:t>When the system should need to create the project that modularizes in a short span time (2-3 months).</a:t>
            </a:r>
          </a:p>
          <a:p>
            <a:pPr algn="just"/>
            <a:r>
              <a:rPr lang="en-IN" dirty="0"/>
              <a:t>When the requirements are well-known.</a:t>
            </a:r>
          </a:p>
          <a:p>
            <a:pPr algn="just"/>
            <a:r>
              <a:rPr lang="en-IN" dirty="0"/>
              <a:t>When the technical risk is limited.</a:t>
            </a:r>
          </a:p>
          <a:p>
            <a:pPr algn="just"/>
            <a:r>
              <a:rPr lang="en-IN" dirty="0"/>
              <a:t>When there's a necessity to make a system, which modularized in 2-3 months of period.</a:t>
            </a:r>
          </a:p>
          <a:p>
            <a:pPr algn="just"/>
            <a:r>
              <a:rPr lang="en-IN" dirty="0"/>
              <a:t>It should be used only if the budget allows the use of automatic code generating tools.</a:t>
            </a:r>
          </a:p>
          <a:p>
            <a:pPr algn="just"/>
            <a:endParaRPr lang="en-IN" dirty="0"/>
          </a:p>
        </p:txBody>
      </p:sp>
    </p:spTree>
    <p:extLst>
      <p:ext uri="{BB962C8B-B14F-4D97-AF65-F5344CB8AC3E}">
        <p14:creationId xmlns:p14="http://schemas.microsoft.com/office/powerpoint/2010/main" val="273612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t>Advantage of RAD Model</a:t>
            </a:r>
            <a:br>
              <a:rPr lang="en-IN" dirty="0"/>
            </a:br>
            <a:endParaRPr lang="en-IN" dirty="0"/>
          </a:p>
        </p:txBody>
      </p:sp>
      <p:sp>
        <p:nvSpPr>
          <p:cNvPr id="3" name="Content Placeholder 2"/>
          <p:cNvSpPr>
            <a:spLocks noGrp="1"/>
          </p:cNvSpPr>
          <p:nvPr>
            <p:ph idx="1"/>
          </p:nvPr>
        </p:nvSpPr>
        <p:spPr/>
        <p:txBody>
          <a:bodyPr/>
          <a:lstStyle/>
          <a:p>
            <a:pPr algn="just"/>
            <a:r>
              <a:rPr lang="en-IN" dirty="0"/>
              <a:t>This model is flexible for change.</a:t>
            </a:r>
          </a:p>
          <a:p>
            <a:pPr algn="just"/>
            <a:r>
              <a:rPr lang="en-IN" dirty="0"/>
              <a:t>In this model, changes are adoptable.</a:t>
            </a:r>
          </a:p>
          <a:p>
            <a:pPr algn="just"/>
            <a:r>
              <a:rPr lang="en-IN" dirty="0"/>
              <a:t>Each phase in RAD brings highest priority functionality to the customer.</a:t>
            </a:r>
          </a:p>
          <a:p>
            <a:pPr algn="just"/>
            <a:r>
              <a:rPr lang="en-IN" dirty="0"/>
              <a:t>It reduced development time.</a:t>
            </a:r>
          </a:p>
          <a:p>
            <a:pPr algn="just"/>
            <a:r>
              <a:rPr lang="en-IN" dirty="0"/>
              <a:t>It increases the reusability of features.</a:t>
            </a:r>
          </a:p>
          <a:p>
            <a:pPr marL="0" indent="0" algn="just">
              <a:buNone/>
            </a:pPr>
            <a:endParaRPr lang="en-IN" dirty="0"/>
          </a:p>
        </p:txBody>
      </p:sp>
    </p:spTree>
    <p:extLst>
      <p:ext uri="{BB962C8B-B14F-4D97-AF65-F5344CB8AC3E}">
        <p14:creationId xmlns:p14="http://schemas.microsoft.com/office/powerpoint/2010/main" val="1186852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t>Disadvantage of RAD Model</a:t>
            </a:r>
            <a:br>
              <a:rPr lang="en-IN" dirty="0"/>
            </a:br>
            <a:endParaRPr lang="en-IN" dirty="0"/>
          </a:p>
        </p:txBody>
      </p:sp>
      <p:sp>
        <p:nvSpPr>
          <p:cNvPr id="3" name="Content Placeholder 2"/>
          <p:cNvSpPr>
            <a:spLocks noGrp="1"/>
          </p:cNvSpPr>
          <p:nvPr>
            <p:ph idx="1"/>
          </p:nvPr>
        </p:nvSpPr>
        <p:spPr/>
        <p:txBody>
          <a:bodyPr/>
          <a:lstStyle/>
          <a:p>
            <a:pPr algn="just"/>
            <a:r>
              <a:rPr lang="en-IN" dirty="0"/>
              <a:t>It required highly skilled designers.</a:t>
            </a:r>
          </a:p>
          <a:p>
            <a:pPr algn="just"/>
            <a:r>
              <a:rPr lang="en-IN" dirty="0"/>
              <a:t>All application is not compatible with RAD.</a:t>
            </a:r>
          </a:p>
          <a:p>
            <a:pPr algn="just"/>
            <a:r>
              <a:rPr lang="en-IN" dirty="0"/>
              <a:t>For smaller projects, we cannot use the RAD model.</a:t>
            </a:r>
          </a:p>
          <a:p>
            <a:pPr algn="just"/>
            <a:r>
              <a:rPr lang="en-IN" dirty="0"/>
              <a:t>On the high technical risk, it's not suitable.</a:t>
            </a:r>
          </a:p>
          <a:p>
            <a:pPr algn="just"/>
            <a:r>
              <a:rPr lang="en-IN" dirty="0"/>
              <a:t>Required user involvement.</a:t>
            </a:r>
          </a:p>
          <a:p>
            <a:pPr marL="0" indent="0" algn="just">
              <a:buNone/>
            </a:pPr>
            <a:endParaRPr lang="en-IN" dirty="0"/>
          </a:p>
        </p:txBody>
      </p:sp>
    </p:spTree>
    <p:extLst>
      <p:ext uri="{BB962C8B-B14F-4D97-AF65-F5344CB8AC3E}">
        <p14:creationId xmlns:p14="http://schemas.microsoft.com/office/powerpoint/2010/main" val="2260600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1" dirty="0">
                <a:solidFill>
                  <a:srgbClr val="FF0000"/>
                </a:solidFill>
              </a:rPr>
            </a:br>
            <a:r>
              <a:rPr lang="en-IN" b="1" dirty="0">
                <a:solidFill>
                  <a:srgbClr val="FF0000"/>
                </a:solidFill>
              </a:rPr>
              <a:t>Agile Model</a:t>
            </a:r>
            <a:br>
              <a:rPr lang="en-IN" b="1" dirty="0">
                <a:solidFill>
                  <a:srgbClr val="FF0000"/>
                </a:solidFill>
              </a:rPr>
            </a:br>
            <a:endParaRPr lang="en-IN"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pPr algn="just"/>
            <a:r>
              <a:rPr lang="en-IN" dirty="0"/>
              <a:t>The meaning of Agile is swift or versatile.</a:t>
            </a:r>
          </a:p>
          <a:p>
            <a:pPr algn="just"/>
            <a:r>
              <a:rPr lang="en-IN" dirty="0"/>
              <a:t>"</a:t>
            </a:r>
            <a:r>
              <a:rPr lang="en-IN" b="1" dirty="0"/>
              <a:t>Agile process model</a:t>
            </a:r>
            <a:r>
              <a:rPr lang="en-IN" dirty="0"/>
              <a:t>" refers to a software development approach based on iterative development. </a:t>
            </a:r>
          </a:p>
          <a:p>
            <a:pPr algn="just"/>
            <a:r>
              <a:rPr lang="en-IN" dirty="0"/>
              <a:t>Agile methods break tasks into smaller iterations, or parts do not directly involve long term planning. </a:t>
            </a:r>
          </a:p>
          <a:p>
            <a:pPr algn="just"/>
            <a:r>
              <a:rPr lang="en-IN" dirty="0"/>
              <a:t>The project scope and requirements are laid down at the beginning of the development process. </a:t>
            </a:r>
          </a:p>
          <a:p>
            <a:pPr algn="just"/>
            <a:r>
              <a:rPr lang="en-IN" dirty="0"/>
              <a:t>Plans regarding the number of iterations, the duration and the scope of each iteration are clearly defined in advance.</a:t>
            </a:r>
          </a:p>
        </p:txBody>
      </p:sp>
    </p:spTree>
    <p:extLst>
      <p:ext uri="{BB962C8B-B14F-4D97-AF65-F5344CB8AC3E}">
        <p14:creationId xmlns:p14="http://schemas.microsoft.com/office/powerpoint/2010/main" val="2793918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Cont..</a:t>
            </a:r>
            <a:endParaRPr lang="en-IN"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pPr algn="just"/>
            <a:r>
              <a:rPr lang="en-IN" dirty="0"/>
              <a:t>Each iteration is considered as a short time "frame" in the Agile process model, which typically lasts from one to four weeks. </a:t>
            </a:r>
          </a:p>
          <a:p>
            <a:pPr algn="just"/>
            <a:endParaRPr lang="en-IN" dirty="0"/>
          </a:p>
          <a:p>
            <a:pPr algn="just"/>
            <a:r>
              <a:rPr lang="en-IN" dirty="0"/>
              <a:t>The division of the entire project into smaller parts helps to minimize the project risk and to reduce the overall project delivery time requirements. </a:t>
            </a:r>
          </a:p>
          <a:p>
            <a:pPr algn="just"/>
            <a:endParaRPr lang="en-IN" dirty="0"/>
          </a:p>
          <a:p>
            <a:pPr algn="just"/>
            <a:r>
              <a:rPr lang="en-IN" dirty="0"/>
              <a:t>Each iteration involves a team working through a full software development life cycle including planning, requirements analysis, design, coding, and testing before a working product is demonstrated to the client.</a:t>
            </a:r>
          </a:p>
        </p:txBody>
      </p:sp>
    </p:spTree>
    <p:extLst>
      <p:ext uri="{BB962C8B-B14F-4D97-AF65-F5344CB8AC3E}">
        <p14:creationId xmlns:p14="http://schemas.microsoft.com/office/powerpoint/2010/main" val="3887925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303" y="0"/>
            <a:ext cx="8637393" cy="6417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109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solidFill>
                  <a:srgbClr val="FF0000"/>
                </a:solidFill>
              </a:rPr>
              <a:t>Phases of Agile Model:</a:t>
            </a:r>
            <a:br>
              <a:rPr lang="en-IN" b="1" dirty="0">
                <a:solidFill>
                  <a:srgbClr val="FF0000"/>
                </a:solidFill>
              </a:rPr>
            </a:br>
            <a:endParaRPr lang="en-IN"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IN" dirty="0"/>
              <a:t>Following are the phases in the Agile model are as follows:</a:t>
            </a:r>
          </a:p>
          <a:p>
            <a:pPr marL="0" indent="0">
              <a:buNone/>
            </a:pPr>
            <a:endParaRPr lang="en-IN" dirty="0"/>
          </a:p>
          <a:p>
            <a:r>
              <a:rPr lang="en-IN" dirty="0"/>
              <a:t>Requirements gathering</a:t>
            </a:r>
          </a:p>
          <a:p>
            <a:r>
              <a:rPr lang="en-IN" dirty="0"/>
              <a:t>Design the requirements</a:t>
            </a:r>
          </a:p>
          <a:p>
            <a:r>
              <a:rPr lang="en-IN" dirty="0"/>
              <a:t>Construction/ iteration</a:t>
            </a:r>
          </a:p>
          <a:p>
            <a:r>
              <a:rPr lang="en-IN" dirty="0"/>
              <a:t>Testing/ Quality assurance</a:t>
            </a:r>
          </a:p>
          <a:p>
            <a:r>
              <a:rPr lang="en-IN" dirty="0"/>
              <a:t>Deployment</a:t>
            </a:r>
          </a:p>
          <a:p>
            <a:r>
              <a:rPr lang="en-IN" dirty="0"/>
              <a:t>Feedback</a:t>
            </a:r>
          </a:p>
          <a:p>
            <a:endParaRPr lang="en-IN" dirty="0"/>
          </a:p>
        </p:txBody>
      </p:sp>
    </p:spTree>
    <p:extLst>
      <p:ext uri="{BB962C8B-B14F-4D97-AF65-F5344CB8AC3E}">
        <p14:creationId xmlns:p14="http://schemas.microsoft.com/office/powerpoint/2010/main" val="3043646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Requirements gathering</a:t>
            </a:r>
            <a:endParaRPr lang="en-IN" dirty="0"/>
          </a:p>
        </p:txBody>
      </p:sp>
      <p:sp>
        <p:nvSpPr>
          <p:cNvPr id="3" name="Content Placeholder 2"/>
          <p:cNvSpPr>
            <a:spLocks noGrp="1"/>
          </p:cNvSpPr>
          <p:nvPr>
            <p:ph idx="1"/>
          </p:nvPr>
        </p:nvSpPr>
        <p:spPr/>
        <p:txBody>
          <a:bodyPr/>
          <a:lstStyle/>
          <a:p>
            <a:pPr algn="just"/>
            <a:r>
              <a:rPr lang="en-IN" dirty="0"/>
              <a:t>In this phase, you must define the requirements. </a:t>
            </a:r>
          </a:p>
          <a:p>
            <a:pPr algn="just"/>
            <a:r>
              <a:rPr lang="en-IN" dirty="0"/>
              <a:t>You should explain business opportunities and plan the time and effort needed to build the project. </a:t>
            </a:r>
          </a:p>
          <a:p>
            <a:pPr algn="just"/>
            <a:r>
              <a:rPr lang="en-IN" dirty="0"/>
              <a:t>Based on this information, you can evaluate technical and economic feasibility.</a:t>
            </a:r>
          </a:p>
        </p:txBody>
      </p:sp>
    </p:spTree>
    <p:extLst>
      <p:ext uri="{BB962C8B-B14F-4D97-AF65-F5344CB8AC3E}">
        <p14:creationId xmlns:p14="http://schemas.microsoft.com/office/powerpoint/2010/main" val="240916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Design the requirements</a:t>
            </a:r>
            <a:endParaRPr lang="en-IN" dirty="0"/>
          </a:p>
        </p:txBody>
      </p:sp>
      <p:sp>
        <p:nvSpPr>
          <p:cNvPr id="3" name="Content Placeholder 2"/>
          <p:cNvSpPr>
            <a:spLocks noGrp="1"/>
          </p:cNvSpPr>
          <p:nvPr>
            <p:ph idx="1"/>
          </p:nvPr>
        </p:nvSpPr>
        <p:spPr/>
        <p:txBody>
          <a:bodyPr/>
          <a:lstStyle/>
          <a:p>
            <a:pPr algn="just"/>
            <a:r>
              <a:rPr lang="en-IN" dirty="0"/>
              <a:t>When you have identified the project, work with stakeholders to define requirements. </a:t>
            </a:r>
          </a:p>
          <a:p>
            <a:pPr algn="just"/>
            <a:r>
              <a:rPr lang="en-IN" dirty="0"/>
              <a:t>You can use the user flow diagram or the high-level UML diagram to show the work of new features and show how it will apply to your existing system.</a:t>
            </a:r>
          </a:p>
        </p:txBody>
      </p:sp>
    </p:spTree>
    <p:extLst>
      <p:ext uri="{BB962C8B-B14F-4D97-AF65-F5344CB8AC3E}">
        <p14:creationId xmlns:p14="http://schemas.microsoft.com/office/powerpoint/2010/main" val="4134020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Construction/ iteration</a:t>
            </a:r>
            <a:endParaRPr lang="en-IN" dirty="0"/>
          </a:p>
        </p:txBody>
      </p:sp>
      <p:sp>
        <p:nvSpPr>
          <p:cNvPr id="3" name="Content Placeholder 2"/>
          <p:cNvSpPr>
            <a:spLocks noGrp="1"/>
          </p:cNvSpPr>
          <p:nvPr>
            <p:ph idx="1"/>
          </p:nvPr>
        </p:nvSpPr>
        <p:spPr/>
        <p:txBody>
          <a:bodyPr/>
          <a:lstStyle/>
          <a:p>
            <a:pPr algn="just"/>
            <a:r>
              <a:rPr lang="en-IN" dirty="0"/>
              <a:t>When the team defines the requirements, the work begins. </a:t>
            </a:r>
          </a:p>
          <a:p>
            <a:pPr algn="just"/>
            <a:r>
              <a:rPr lang="en-IN" dirty="0"/>
              <a:t>Designers and developers start working on their project, which aims to deploy a working product. </a:t>
            </a:r>
          </a:p>
          <a:p>
            <a:pPr algn="just"/>
            <a:r>
              <a:rPr lang="en-IN" dirty="0"/>
              <a:t>The product will undergo various stages of improvement, so it includes simple, minimal functionality.</a:t>
            </a:r>
          </a:p>
        </p:txBody>
      </p:sp>
    </p:spTree>
    <p:extLst>
      <p:ext uri="{BB962C8B-B14F-4D97-AF65-F5344CB8AC3E}">
        <p14:creationId xmlns:p14="http://schemas.microsoft.com/office/powerpoint/2010/main" val="1125193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rgbClr val="FF0000"/>
                </a:solidFill>
              </a:rPr>
              <a:t>Cont..</a:t>
            </a:r>
            <a:endParaRPr lang="en-IN" b="1" dirty="0">
              <a:solidFill>
                <a:srgbClr val="FF0000"/>
              </a:solidFill>
            </a:endParaRPr>
          </a:p>
        </p:txBody>
      </p:sp>
      <p:sp>
        <p:nvSpPr>
          <p:cNvPr id="3" name="Content Placeholder 2"/>
          <p:cNvSpPr>
            <a:spLocks noGrp="1"/>
          </p:cNvSpPr>
          <p:nvPr>
            <p:ph idx="1"/>
          </p:nvPr>
        </p:nvSpPr>
        <p:spPr/>
        <p:txBody>
          <a:bodyPr>
            <a:normAutofit lnSpcReduction="10000"/>
          </a:bodyPr>
          <a:lstStyle/>
          <a:p>
            <a:pPr algn="just"/>
            <a:r>
              <a:rPr lang="en-IN" b="1" dirty="0"/>
              <a:t>Testing:</a:t>
            </a:r>
            <a:r>
              <a:rPr lang="en-IN" dirty="0"/>
              <a:t> In this phase, the Quality Assurance team examines the product's performance and looks for the bug.</a:t>
            </a:r>
          </a:p>
          <a:p>
            <a:pPr algn="just"/>
            <a:r>
              <a:rPr lang="en-IN" b="1" dirty="0"/>
              <a:t>Deployment:</a:t>
            </a:r>
            <a:r>
              <a:rPr lang="en-IN" dirty="0"/>
              <a:t> In this phase, the team issues a product for the user's work environment.</a:t>
            </a:r>
          </a:p>
          <a:p>
            <a:pPr algn="just"/>
            <a:r>
              <a:rPr lang="en-IN" b="1" dirty="0"/>
              <a:t>Feedback:</a:t>
            </a:r>
            <a:r>
              <a:rPr lang="en-IN" dirty="0"/>
              <a:t> After releasing the product, the last step is feedback. In this, the team receives feedback about the product and works through the feedback.</a:t>
            </a:r>
          </a:p>
          <a:p>
            <a:pPr algn="just"/>
            <a:endParaRPr lang="en-IN" dirty="0"/>
          </a:p>
        </p:txBody>
      </p:sp>
    </p:spTree>
    <p:extLst>
      <p:ext uri="{BB962C8B-B14F-4D97-AF65-F5344CB8AC3E}">
        <p14:creationId xmlns:p14="http://schemas.microsoft.com/office/powerpoint/2010/main" val="114370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t>Agile Testing Methods:</a:t>
            </a:r>
            <a:br>
              <a:rPr lang="en-IN" dirty="0"/>
            </a:br>
            <a:endParaRPr lang="en-IN" dirty="0"/>
          </a:p>
        </p:txBody>
      </p:sp>
      <p:sp>
        <p:nvSpPr>
          <p:cNvPr id="3" name="Content Placeholder 2"/>
          <p:cNvSpPr>
            <a:spLocks noGrp="1"/>
          </p:cNvSpPr>
          <p:nvPr>
            <p:ph idx="1"/>
          </p:nvPr>
        </p:nvSpPr>
        <p:spPr/>
        <p:txBody>
          <a:bodyPr/>
          <a:lstStyle/>
          <a:p>
            <a:r>
              <a:rPr lang="en-IN" dirty="0"/>
              <a:t>Scrum</a:t>
            </a:r>
          </a:p>
          <a:p>
            <a:r>
              <a:rPr lang="en-IN" dirty="0"/>
              <a:t>Crystal</a:t>
            </a:r>
          </a:p>
          <a:p>
            <a:r>
              <a:rPr lang="en-IN" dirty="0"/>
              <a:t>Dynamic Software Development Method(DSDM)</a:t>
            </a:r>
          </a:p>
          <a:p>
            <a:r>
              <a:rPr lang="en-IN" dirty="0"/>
              <a:t>Feature Driven Development(FDD)</a:t>
            </a:r>
          </a:p>
          <a:p>
            <a:r>
              <a:rPr lang="en-IN" dirty="0"/>
              <a:t>Lean Software Development</a:t>
            </a:r>
          </a:p>
          <a:p>
            <a:r>
              <a:rPr lang="en-IN" dirty="0" err="1"/>
              <a:t>eXtreme</a:t>
            </a:r>
            <a:r>
              <a:rPr lang="en-IN" dirty="0"/>
              <a:t> Programming(XP)</a:t>
            </a:r>
          </a:p>
          <a:p>
            <a:endParaRPr lang="en-IN" dirty="0"/>
          </a:p>
        </p:txBody>
      </p:sp>
    </p:spTree>
    <p:extLst>
      <p:ext uri="{BB962C8B-B14F-4D97-AF65-F5344CB8AC3E}">
        <p14:creationId xmlns:p14="http://schemas.microsoft.com/office/powerpoint/2010/main" val="714115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dirty="0"/>
              <a:t>What is agile testing?</a:t>
            </a:r>
            <a:br>
              <a:rPr lang="en-IN" dirty="0"/>
            </a:b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9552" y="1052736"/>
            <a:ext cx="7874512" cy="5073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17719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FF0000"/>
                </a:solidFill>
              </a:rPr>
              <a:t>Cont..</a:t>
            </a:r>
            <a:endParaRPr lang="en-IN" dirty="0">
              <a:solidFill>
                <a:srgbClr val="FF0000"/>
              </a:solidFill>
            </a:endParaRPr>
          </a:p>
        </p:txBody>
      </p:sp>
      <p:sp>
        <p:nvSpPr>
          <p:cNvPr id="3" name="Content Placeholder 2"/>
          <p:cNvSpPr>
            <a:spLocks noGrp="1"/>
          </p:cNvSpPr>
          <p:nvPr>
            <p:ph idx="1"/>
          </p:nvPr>
        </p:nvSpPr>
        <p:spPr/>
        <p:txBody>
          <a:bodyPr>
            <a:normAutofit fontScale="70000" lnSpcReduction="20000"/>
          </a:bodyPr>
          <a:lstStyle/>
          <a:p>
            <a:pPr algn="just"/>
            <a:r>
              <a:rPr lang="en-IN" dirty="0"/>
              <a:t>With the traditional waterfall approach, the testing phase is a standalone process usually executed at the end of the Software Development Life Cycle (SDLC). This comes with the risk of having to make corrections last minute – or not having time to make them at all.</a:t>
            </a:r>
          </a:p>
          <a:p>
            <a:pPr algn="just"/>
            <a:endParaRPr lang="en-IN" dirty="0"/>
          </a:p>
          <a:p>
            <a:pPr algn="just"/>
            <a:r>
              <a:rPr lang="en-IN" dirty="0"/>
              <a:t>The agile methodology is an attempt to make this </a:t>
            </a:r>
            <a:r>
              <a:rPr lang="en-IN" b="1" dirty="0" err="1">
                <a:solidFill>
                  <a:srgbClr val="FF0000"/>
                </a:solidFill>
              </a:rPr>
              <a:t>qa</a:t>
            </a:r>
            <a:r>
              <a:rPr lang="en-IN" b="1" dirty="0">
                <a:solidFill>
                  <a:srgbClr val="FF0000"/>
                </a:solidFill>
              </a:rPr>
              <a:t> </a:t>
            </a:r>
            <a:r>
              <a:rPr lang="en-IN" dirty="0"/>
              <a:t>process more flexible and effective. With this approach, the tester is suddenly at the core of the SDLC, continuously executing tests and getting feedback from customers, developers, and other stakeholders.</a:t>
            </a:r>
          </a:p>
          <a:p>
            <a:pPr algn="just"/>
            <a:endParaRPr lang="en-IN" dirty="0"/>
          </a:p>
          <a:p>
            <a:pPr algn="just"/>
            <a:r>
              <a:rPr lang="en-IN" dirty="0"/>
              <a:t>With the testing stage occurring alongside development – so-called continuous integration –, it’s possible to debug earlier and improve the quality of the deployed product.</a:t>
            </a:r>
          </a:p>
          <a:p>
            <a:pPr marL="0" indent="0" algn="just">
              <a:buNone/>
            </a:pPr>
            <a:endParaRPr lang="en-IN" dirty="0"/>
          </a:p>
        </p:txBody>
      </p:sp>
    </p:spTree>
    <p:extLst>
      <p:ext uri="{BB962C8B-B14F-4D97-AF65-F5344CB8AC3E}">
        <p14:creationId xmlns:p14="http://schemas.microsoft.com/office/powerpoint/2010/main" val="779865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Agile Testing Strategies</a:t>
            </a:r>
            <a:br>
              <a:rPr lang="en-IN" b="1" dirty="0"/>
            </a:br>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1556792"/>
            <a:ext cx="8685487"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3498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Iteration 0</a:t>
            </a:r>
            <a:endParaRPr lang="en-IN" dirty="0"/>
          </a:p>
        </p:txBody>
      </p:sp>
      <p:sp>
        <p:nvSpPr>
          <p:cNvPr id="3" name="Content Placeholder 2"/>
          <p:cNvSpPr>
            <a:spLocks noGrp="1"/>
          </p:cNvSpPr>
          <p:nvPr>
            <p:ph idx="1"/>
          </p:nvPr>
        </p:nvSpPr>
        <p:spPr/>
        <p:txBody>
          <a:bodyPr>
            <a:normAutofit/>
          </a:bodyPr>
          <a:lstStyle/>
          <a:p>
            <a:pPr marL="0" indent="0" algn="just">
              <a:buNone/>
            </a:pPr>
            <a:r>
              <a:rPr lang="en-IN" sz="2000" dirty="0"/>
              <a:t>During the first stage or iteration 0, you perform initial setup tasks. It includes identifying people for testing, installing testing tools, scheduling resources (usability testing lab), etc. The following steps are set to achieve in Iteration 0.</a:t>
            </a:r>
          </a:p>
          <a:p>
            <a:pPr marL="0" indent="0" algn="just">
              <a:buNone/>
            </a:pPr>
            <a:endParaRPr lang="en-IN" sz="2000" dirty="0"/>
          </a:p>
          <a:p>
            <a:r>
              <a:rPr lang="en-IN" sz="2000" dirty="0"/>
              <a:t>Establishing a business case for the project</a:t>
            </a:r>
          </a:p>
          <a:p>
            <a:r>
              <a:rPr lang="en-IN" sz="2000" dirty="0"/>
              <a:t>Establish the boundary conditions and the project scope</a:t>
            </a:r>
          </a:p>
          <a:p>
            <a:r>
              <a:rPr lang="en-IN" sz="2000" dirty="0"/>
              <a:t>Outline the key requirements and use cases that will drive the design trade-offs</a:t>
            </a:r>
          </a:p>
          <a:p>
            <a:r>
              <a:rPr lang="en-IN" sz="2000" dirty="0"/>
              <a:t>Outline one or more candidate architectures</a:t>
            </a:r>
          </a:p>
          <a:p>
            <a:r>
              <a:rPr lang="en-IN" sz="2000" dirty="0"/>
              <a:t>Identifying the risk</a:t>
            </a:r>
          </a:p>
          <a:p>
            <a:r>
              <a:rPr lang="en-IN" sz="2000" dirty="0"/>
              <a:t>Cost estimation and prepare a preliminary project</a:t>
            </a:r>
          </a:p>
          <a:p>
            <a:pPr marL="0" indent="0" algn="just">
              <a:buNone/>
            </a:pPr>
            <a:endParaRPr lang="en-IN" sz="2000" dirty="0"/>
          </a:p>
        </p:txBody>
      </p:sp>
    </p:spTree>
    <p:extLst>
      <p:ext uri="{BB962C8B-B14F-4D97-AF65-F5344CB8AC3E}">
        <p14:creationId xmlns:p14="http://schemas.microsoft.com/office/powerpoint/2010/main" val="2896493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Construction Iterations</a:t>
            </a:r>
            <a:endParaRPr lang="en-IN" dirty="0"/>
          </a:p>
        </p:txBody>
      </p:sp>
      <p:sp>
        <p:nvSpPr>
          <p:cNvPr id="3" name="Content Placeholder 2"/>
          <p:cNvSpPr>
            <a:spLocks noGrp="1"/>
          </p:cNvSpPr>
          <p:nvPr>
            <p:ph idx="1"/>
          </p:nvPr>
        </p:nvSpPr>
        <p:spPr/>
        <p:txBody>
          <a:bodyPr>
            <a:normAutofit fontScale="92500"/>
          </a:bodyPr>
          <a:lstStyle/>
          <a:p>
            <a:pPr algn="just"/>
            <a:r>
              <a:rPr lang="en-IN" dirty="0"/>
              <a:t>The second phase of agile testing methodology is Construction Iterations, the majority of the testing occurs during this phase. </a:t>
            </a:r>
          </a:p>
          <a:p>
            <a:pPr algn="just"/>
            <a:r>
              <a:rPr lang="en-IN" dirty="0"/>
              <a:t>This phase is observed as a set of iterations to build an increment of the solution.  </a:t>
            </a:r>
          </a:p>
          <a:p>
            <a:pPr algn="just"/>
            <a:r>
              <a:rPr lang="en-IN" dirty="0"/>
              <a:t>In order to do that, within each iteration, </a:t>
            </a:r>
            <a:r>
              <a:rPr lang="en-IN" b="1" dirty="0"/>
              <a:t>the team implements</a:t>
            </a:r>
            <a:r>
              <a:rPr lang="en-IN" dirty="0"/>
              <a:t> a hybrid of practices from XP, Scrum, Agile modelling, and agile data and so on.</a:t>
            </a:r>
          </a:p>
        </p:txBody>
      </p:sp>
    </p:spTree>
    <p:extLst>
      <p:ext uri="{BB962C8B-B14F-4D97-AF65-F5344CB8AC3E}">
        <p14:creationId xmlns:p14="http://schemas.microsoft.com/office/powerpoint/2010/main" val="58099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IN" b="1" dirty="0"/>
              <a:t>Release End Game Or Transition Phase</a:t>
            </a:r>
            <a:endParaRPr lang="en-IN" dirty="0"/>
          </a:p>
        </p:txBody>
      </p:sp>
      <p:sp>
        <p:nvSpPr>
          <p:cNvPr id="3" name="Content Placeholder 2"/>
          <p:cNvSpPr>
            <a:spLocks noGrp="1"/>
          </p:cNvSpPr>
          <p:nvPr>
            <p:ph idx="1"/>
          </p:nvPr>
        </p:nvSpPr>
        <p:spPr/>
        <p:txBody>
          <a:bodyPr/>
          <a:lstStyle/>
          <a:p>
            <a:pPr marL="0" indent="0" algn="just">
              <a:buNone/>
            </a:pPr>
            <a:r>
              <a:rPr lang="en-IN" dirty="0"/>
              <a:t>The goal of </a:t>
            </a:r>
            <a:r>
              <a:rPr lang="en-IN" dirty="0">
                <a:solidFill>
                  <a:srgbClr val="FF0000"/>
                </a:solidFill>
              </a:rPr>
              <a:t>“Release, End Game” </a:t>
            </a:r>
            <a:r>
              <a:rPr lang="en-IN" dirty="0"/>
              <a:t>is to deploy your system successfully into production.  The activities include in this phase are training of end users, support people and operational people.  Also, it includes marketing of the product release, back-up &amp; restoration, finalization of system and user documentation.</a:t>
            </a:r>
          </a:p>
        </p:txBody>
      </p:sp>
    </p:spTree>
    <p:extLst>
      <p:ext uri="{BB962C8B-B14F-4D97-AF65-F5344CB8AC3E}">
        <p14:creationId xmlns:p14="http://schemas.microsoft.com/office/powerpoint/2010/main" val="3956697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Production</a:t>
            </a:r>
            <a:endParaRPr lang="en-IN" dirty="0"/>
          </a:p>
        </p:txBody>
      </p:sp>
      <p:sp>
        <p:nvSpPr>
          <p:cNvPr id="3" name="Content Placeholder 2"/>
          <p:cNvSpPr>
            <a:spLocks noGrp="1"/>
          </p:cNvSpPr>
          <p:nvPr>
            <p:ph idx="1"/>
          </p:nvPr>
        </p:nvSpPr>
        <p:spPr/>
        <p:txBody>
          <a:bodyPr/>
          <a:lstStyle/>
          <a:p>
            <a:pPr marL="0" indent="0">
              <a:buNone/>
            </a:pPr>
            <a:r>
              <a:rPr lang="en-IN" dirty="0"/>
              <a:t>After the release stage, the product will move to the production stage.</a:t>
            </a:r>
          </a:p>
        </p:txBody>
      </p:sp>
    </p:spTree>
    <p:extLst>
      <p:ext uri="{BB962C8B-B14F-4D97-AF65-F5344CB8AC3E}">
        <p14:creationId xmlns:p14="http://schemas.microsoft.com/office/powerpoint/2010/main" val="572634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305</TotalTime>
  <Words>1328</Words>
  <Application>Microsoft Office PowerPoint</Application>
  <PresentationFormat>On-screen Show (4:3)</PresentationFormat>
  <Paragraphs>105</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What is RAD? </vt:lpstr>
      <vt:lpstr>PowerPoint Presentation</vt:lpstr>
      <vt:lpstr>RAD Concepts</vt:lpstr>
      <vt:lpstr>RAD</vt:lpstr>
      <vt:lpstr> The various phases of RAD are as follows: </vt:lpstr>
      <vt:lpstr>When to use RAD Model? </vt:lpstr>
      <vt:lpstr>Advantage of RAD Model </vt:lpstr>
      <vt:lpstr>Disadvantage of RAD Model </vt:lpstr>
      <vt:lpstr> Agile Model </vt:lpstr>
      <vt:lpstr>Cont..</vt:lpstr>
      <vt:lpstr>PowerPoint Presentation</vt:lpstr>
      <vt:lpstr>Phases of Agile Model: </vt:lpstr>
      <vt:lpstr>Requirements gathering</vt:lpstr>
      <vt:lpstr>Design the requirements</vt:lpstr>
      <vt:lpstr>Construction/ iteration</vt:lpstr>
      <vt:lpstr>Cont..</vt:lpstr>
      <vt:lpstr>Agile Testing Methods: </vt:lpstr>
      <vt:lpstr>What is agile testing? </vt:lpstr>
      <vt:lpstr>Cont..</vt:lpstr>
      <vt:lpstr>Agile Testing Strategies </vt:lpstr>
      <vt:lpstr>Iteration 0</vt:lpstr>
      <vt:lpstr>Construction Iterations</vt:lpstr>
      <vt:lpstr>Release End Game Or Transition Phase</vt:lpstr>
      <vt:lpstr>Production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SDLC - RAD Model </dc:title>
  <dc:creator>USER</dc:creator>
  <cp:lastModifiedBy>106263</cp:lastModifiedBy>
  <cp:revision>11</cp:revision>
  <dcterms:created xsi:type="dcterms:W3CDTF">2022-07-21T12:07:39Z</dcterms:created>
  <dcterms:modified xsi:type="dcterms:W3CDTF">2025-12-07T10:13:29Z</dcterms:modified>
</cp:coreProperties>
</file>