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304" r:id="rId30"/>
    <p:sldId id="284" r:id="rId31"/>
    <p:sldId id="309" r:id="rId32"/>
    <p:sldId id="285" r:id="rId33"/>
    <p:sldId id="305" r:id="rId34"/>
    <p:sldId id="306" r:id="rId35"/>
    <p:sldId id="307" r:id="rId36"/>
    <p:sldId id="308" r:id="rId37"/>
    <p:sldId id="287" r:id="rId38"/>
    <p:sldId id="288" r:id="rId39"/>
    <p:sldId id="289" r:id="rId40"/>
    <p:sldId id="290" r:id="rId41"/>
    <p:sldId id="291" r:id="rId42"/>
    <p:sldId id="292" r:id="rId43"/>
    <p:sldId id="293" r:id="rId44"/>
    <p:sldId id="310" r:id="rId45"/>
    <p:sldId id="311" r:id="rId46"/>
    <p:sldId id="294" r:id="rId47"/>
    <p:sldId id="295" r:id="rId48"/>
    <p:sldId id="296"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BEC68A65-FE49-4BC4-BE30-439DDD35A1D5}" type="datetimeFigureOut">
              <a:rPr lang="en-IN" smtClean="0"/>
              <a:t>16-08-2022</a:t>
            </a:fld>
            <a:endParaRPr lang="en-IN"/>
          </a:p>
        </p:txBody>
      </p:sp>
      <p:sp>
        <p:nvSpPr>
          <p:cNvPr id="20" name="Footer Placeholder 19"/>
          <p:cNvSpPr>
            <a:spLocks noGrp="1"/>
          </p:cNvSpPr>
          <p:nvPr>
            <p:ph type="ftr" sz="quarter" idx="11"/>
          </p:nvPr>
        </p:nvSpPr>
        <p:spPr/>
        <p:txBody>
          <a:bodyPr/>
          <a:lstStyle>
            <a:extLst/>
          </a:lstStyle>
          <a:p>
            <a:endParaRPr lang="en-IN"/>
          </a:p>
        </p:txBody>
      </p:sp>
      <p:sp>
        <p:nvSpPr>
          <p:cNvPr id="10" name="Slide Number Placeholder 9"/>
          <p:cNvSpPr>
            <a:spLocks noGrp="1"/>
          </p:cNvSpPr>
          <p:nvPr>
            <p:ph type="sldNum" sz="quarter" idx="12"/>
          </p:nvPr>
        </p:nvSpPr>
        <p:spPr/>
        <p:txBody>
          <a:bodyPr/>
          <a:lstStyle>
            <a:extLst/>
          </a:lstStyle>
          <a:p>
            <a:fld id="{0F761C45-C5A3-49A8-9B06-91CFDDE22A05}" type="slidenum">
              <a:rPr lang="en-IN" smtClean="0"/>
              <a:t>‹#›</a:t>
            </a:fld>
            <a:endParaRPr lang="en-IN"/>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BEC68A65-FE49-4BC4-BE30-439DDD35A1D5}" type="datetimeFigureOut">
              <a:rPr lang="en-IN" smtClean="0"/>
              <a:t>16-08-2022</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0F761C45-C5A3-49A8-9B06-91CFDDE22A05}"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BEC68A65-FE49-4BC4-BE30-439DDD35A1D5}" type="datetimeFigureOut">
              <a:rPr lang="en-IN" smtClean="0"/>
              <a:t>16-08-2022</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0F761C45-C5A3-49A8-9B06-91CFDDE22A05}" type="slidenum">
              <a:rPr lang="en-IN" smtClean="0"/>
              <a:t>‹#›</a:t>
            </a:fld>
            <a:endParaRPr lang="en-IN"/>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BEC68A65-FE49-4BC4-BE30-439DDD35A1D5}" type="datetimeFigureOut">
              <a:rPr lang="en-IN" smtClean="0"/>
              <a:t>16-08-2022</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0F761C45-C5A3-49A8-9B06-91CFDDE22A05}"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BEC68A65-FE49-4BC4-BE30-439DDD35A1D5}" type="datetimeFigureOut">
              <a:rPr lang="en-IN" smtClean="0"/>
              <a:t>16-08-2022</a:t>
            </a:fld>
            <a:endParaRPr lang="en-IN"/>
          </a:p>
        </p:txBody>
      </p:sp>
      <p:sp>
        <p:nvSpPr>
          <p:cNvPr id="8" name="Footer Placeholder 7"/>
          <p:cNvSpPr>
            <a:spLocks noGrp="1"/>
          </p:cNvSpPr>
          <p:nvPr>
            <p:ph type="ftr" sz="quarter" idx="11"/>
          </p:nvPr>
        </p:nvSpPr>
        <p:spPr/>
        <p:txBody>
          <a:bodyPr/>
          <a:lstStyle>
            <a:extLst/>
          </a:lstStyle>
          <a:p>
            <a:endParaRPr lang="en-IN"/>
          </a:p>
        </p:txBody>
      </p:sp>
      <p:sp>
        <p:nvSpPr>
          <p:cNvPr id="9" name="Slide Number Placeholder 8"/>
          <p:cNvSpPr>
            <a:spLocks noGrp="1"/>
          </p:cNvSpPr>
          <p:nvPr>
            <p:ph type="sldNum" sz="quarter" idx="12"/>
          </p:nvPr>
        </p:nvSpPr>
        <p:spPr/>
        <p:txBody>
          <a:bodyPr/>
          <a:lstStyle>
            <a:extLst/>
          </a:lstStyle>
          <a:p>
            <a:fld id="{0F761C45-C5A3-49A8-9B06-91CFDDE22A05}"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BEC68A65-FE49-4BC4-BE30-439DDD35A1D5}" type="datetimeFigureOut">
              <a:rPr lang="en-IN" smtClean="0"/>
              <a:t>16-08-2022</a:t>
            </a:fld>
            <a:endParaRPr lang="en-IN"/>
          </a:p>
        </p:txBody>
      </p:sp>
      <p:sp>
        <p:nvSpPr>
          <p:cNvPr id="4" name="Footer Placeholder 3"/>
          <p:cNvSpPr>
            <a:spLocks noGrp="1"/>
          </p:cNvSpPr>
          <p:nvPr>
            <p:ph type="ftr" sz="quarter" idx="11"/>
          </p:nvPr>
        </p:nvSpPr>
        <p:spPr/>
        <p:txBody>
          <a:bodyPr/>
          <a:lstStyle>
            <a:extLst/>
          </a:lstStyle>
          <a:p>
            <a:endParaRPr lang="en-IN"/>
          </a:p>
        </p:txBody>
      </p:sp>
      <p:sp>
        <p:nvSpPr>
          <p:cNvPr id="5" name="Slide Number Placeholder 4"/>
          <p:cNvSpPr>
            <a:spLocks noGrp="1"/>
          </p:cNvSpPr>
          <p:nvPr>
            <p:ph type="sldNum" sz="quarter" idx="12"/>
          </p:nvPr>
        </p:nvSpPr>
        <p:spPr/>
        <p:txBody>
          <a:bodyPr/>
          <a:lstStyle>
            <a:extLst/>
          </a:lstStyle>
          <a:p>
            <a:fld id="{0F761C45-C5A3-49A8-9B06-91CFDDE22A05}"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BEC68A65-FE49-4BC4-BE30-439DDD35A1D5}" type="datetimeFigureOut">
              <a:rPr lang="en-IN" smtClean="0"/>
              <a:t>16-08-2022</a:t>
            </a:fld>
            <a:endParaRPr lang="en-IN"/>
          </a:p>
        </p:txBody>
      </p:sp>
      <p:sp>
        <p:nvSpPr>
          <p:cNvPr id="3" name="Footer Placeholder 2"/>
          <p:cNvSpPr>
            <a:spLocks noGrp="1"/>
          </p:cNvSpPr>
          <p:nvPr>
            <p:ph type="ftr" sz="quarter" idx="11"/>
          </p:nvPr>
        </p:nvSpPr>
        <p:spPr/>
        <p:txBody>
          <a:bodyPr/>
          <a:lstStyle>
            <a:extLst/>
          </a:lstStyle>
          <a:p>
            <a:endParaRPr lang="en-IN"/>
          </a:p>
        </p:txBody>
      </p:sp>
      <p:sp>
        <p:nvSpPr>
          <p:cNvPr id="4" name="Slide Number Placeholder 3"/>
          <p:cNvSpPr>
            <a:spLocks noGrp="1"/>
          </p:cNvSpPr>
          <p:nvPr>
            <p:ph type="sldNum" sz="quarter" idx="12"/>
          </p:nvPr>
        </p:nvSpPr>
        <p:spPr/>
        <p:txBody>
          <a:bodyPr/>
          <a:lstStyle>
            <a:extLst/>
          </a:lstStyle>
          <a:p>
            <a:fld id="{0F761C45-C5A3-49A8-9B06-91CFDDE22A05}" type="slidenum">
              <a:rPr lang="en-IN" smtClean="0"/>
              <a:t>‹#›</a:t>
            </a:fld>
            <a:endParaRPr lang="en-IN"/>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BEC68A65-FE49-4BC4-BE30-439DDD35A1D5}" type="datetimeFigureOut">
              <a:rPr lang="en-IN" smtClean="0"/>
              <a:t>16-08-2022</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0F761C45-C5A3-49A8-9B06-91CFDDE22A05}"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BEC68A65-FE49-4BC4-BE30-439DDD35A1D5}" type="datetimeFigureOut">
              <a:rPr lang="en-IN" smtClean="0"/>
              <a:t>16-08-2022</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0F761C45-C5A3-49A8-9B06-91CFDDE22A05}" type="slidenum">
              <a:rPr lang="en-IN" smtClean="0"/>
              <a:t>‹#›</a:t>
            </a:fld>
            <a:endParaRPr lang="en-IN"/>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BEC68A65-FE49-4BC4-BE30-439DDD35A1D5}" type="datetimeFigureOut">
              <a:rPr lang="en-IN" smtClean="0"/>
              <a:t>16-08-2022</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0F761C45-C5A3-49A8-9B06-91CFDDE22A05}"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BEC68A65-FE49-4BC4-BE30-439DDD35A1D5}" type="datetimeFigureOut">
              <a:rPr lang="en-IN" smtClean="0"/>
              <a:t>16-08-2022</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0F761C45-C5A3-49A8-9B06-91CFDDE22A05}"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BEC68A65-FE49-4BC4-BE30-439DDD35A1D5}" type="datetimeFigureOut">
              <a:rPr lang="en-IN" smtClean="0"/>
              <a:t>16-08-2022</a:t>
            </a:fld>
            <a:endParaRPr lang="en-IN"/>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IN"/>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0F761C45-C5A3-49A8-9B06-91CFDDE22A05}" type="slidenum">
              <a:rPr lang="en-IN" smtClean="0"/>
              <a:t>‹#›</a:t>
            </a:fld>
            <a:endParaRPr lang="en-IN"/>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069930704"/>
              </p:ext>
            </p:extLst>
          </p:nvPr>
        </p:nvGraphicFramePr>
        <p:xfrm>
          <a:off x="1115616" y="1484784"/>
          <a:ext cx="7511415" cy="3840482"/>
        </p:xfrm>
        <a:graphic>
          <a:graphicData uri="http://schemas.openxmlformats.org/drawingml/2006/table">
            <a:tbl>
              <a:tblPr firstRow="1" bandRow="1">
                <a:tableStyleId>{5C22544A-7EE6-4342-B048-85BDC9FD1C3A}</a:tableStyleId>
              </a:tblPr>
              <a:tblGrid>
                <a:gridCol w="7511415"/>
              </a:tblGrid>
              <a:tr h="365760">
                <a:tc>
                  <a:txBody>
                    <a:bodyPr/>
                    <a:lstStyle/>
                    <a:p>
                      <a:pPr indent="0" algn="just">
                        <a:buNone/>
                      </a:pPr>
                      <a:r>
                        <a:rPr lang="en-GB" altLang="en-US" sz="3600" b="0" dirty="0"/>
                        <a:t>Scheduling</a:t>
                      </a:r>
                      <a:r>
                        <a:rPr lang="en-US" altLang="en-GB" sz="3600" b="0" dirty="0"/>
                        <a:t> (Work Breakdown Structure, Activity Networks, Critical Path Method (CPM), PERT Charts, Gantt Charts)</a:t>
                      </a:r>
                      <a:r>
                        <a:rPr lang="en-GB" altLang="en-US" sz="3600" b="0" dirty="0"/>
                        <a:t>, </a:t>
                      </a:r>
                      <a:r>
                        <a:rPr lang="en-US" altLang="en-GB" sz="3600" b="0" dirty="0"/>
                        <a:t>Risk </a:t>
                      </a:r>
                      <a:r>
                        <a:rPr lang="en-US" altLang="en-GB" sz="3600" b="0" dirty="0" smtClean="0"/>
                        <a:t>Management</a:t>
                      </a:r>
                      <a:endParaRPr lang="en-US" altLang="en-GB" sz="3600" b="0" dirty="0"/>
                    </a:p>
                  </a:txBody>
                  <a:tcPr marL="171450" marR="0" marT="0" marB="1"/>
                </a:tc>
              </a:tr>
              <a:tr h="365760">
                <a:tc>
                  <a:txBody>
                    <a:bodyPr/>
                    <a:lstStyle/>
                    <a:p>
                      <a:pPr marL="0" marR="0" indent="0" algn="just" defTabSz="914400" rtl="0" eaLnBrk="1" fontAlgn="auto" latinLnBrk="0" hangingPunct="1">
                        <a:lnSpc>
                          <a:spcPct val="100000"/>
                        </a:lnSpc>
                        <a:spcBef>
                          <a:spcPts val="0"/>
                        </a:spcBef>
                        <a:spcAft>
                          <a:spcPts val="0"/>
                        </a:spcAft>
                        <a:buClrTx/>
                        <a:buSzTx/>
                        <a:buFontTx/>
                        <a:buNone/>
                        <a:defRPr/>
                      </a:pPr>
                      <a:r>
                        <a:rPr lang="en-GB" altLang="en-US" sz="3600" b="0" dirty="0"/>
                        <a:t> </a:t>
                      </a:r>
                      <a:r>
                        <a:rPr lang="en-GB" altLang="en-US" sz="3600" b="0" dirty="0" smtClean="0"/>
                        <a:t>Organization &amp; team structure</a:t>
                      </a:r>
                      <a:r>
                        <a:rPr lang="en-US" altLang="en-GB" sz="3600" b="0" dirty="0" smtClean="0"/>
                        <a:t>, Software Configuration Management</a:t>
                      </a:r>
                    </a:p>
                    <a:p>
                      <a:pPr indent="0" algn="just">
                        <a:buNone/>
                      </a:pPr>
                      <a:endParaRPr lang="en-GB" altLang="en-US" sz="3600" b="0" dirty="0"/>
                    </a:p>
                  </a:txBody>
                  <a:tcPr marL="171450" marR="0" marT="0" marB="1"/>
                </a:tc>
              </a:tr>
            </a:tbl>
          </a:graphicData>
        </a:graphic>
      </p:graphicFrame>
    </p:spTree>
    <p:extLst>
      <p:ext uri="{BB962C8B-B14F-4D97-AF65-F5344CB8AC3E}">
        <p14:creationId xmlns:p14="http://schemas.microsoft.com/office/powerpoint/2010/main" val="2007813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1" dirty="0" smtClean="0"/>
              <a:t>Project Scheduling</a:t>
            </a:r>
            <a:br>
              <a:rPr lang="en-US" b="1" dirty="0" smtClean="0"/>
            </a:br>
            <a:endParaRPr lang="en-IN" b="1" dirty="0"/>
          </a:p>
        </p:txBody>
      </p:sp>
      <p:sp>
        <p:nvSpPr>
          <p:cNvPr id="3" name="Content Placeholder 2"/>
          <p:cNvSpPr>
            <a:spLocks noGrp="1"/>
          </p:cNvSpPr>
          <p:nvPr>
            <p:ph idx="1"/>
          </p:nvPr>
        </p:nvSpPr>
        <p:spPr/>
        <p:txBody>
          <a:bodyPr/>
          <a:lstStyle/>
          <a:p>
            <a:pPr algn="just"/>
            <a:r>
              <a:rPr lang="en-IN" dirty="0"/>
              <a:t>A schedule in your project’s time table actually consists of sequenced activities and milestones that are needed to be delivered under a given period of time.</a:t>
            </a:r>
            <a:endParaRPr lang="en-IN" dirty="0" smtClean="0"/>
          </a:p>
          <a:p>
            <a:pPr algn="just"/>
            <a:r>
              <a:rPr lang="en-IN" dirty="0" smtClean="0"/>
              <a:t>Project-task </a:t>
            </a:r>
            <a:r>
              <a:rPr lang="en-IN" dirty="0"/>
              <a:t>scheduling is a significant project planning activity. </a:t>
            </a:r>
            <a:endParaRPr lang="en-IN" dirty="0" smtClean="0"/>
          </a:p>
          <a:p>
            <a:pPr algn="just"/>
            <a:r>
              <a:rPr lang="en-IN" dirty="0" smtClean="0"/>
              <a:t>It </a:t>
            </a:r>
            <a:r>
              <a:rPr lang="en-IN" dirty="0"/>
              <a:t>comprises deciding which functions would be taken up when. </a:t>
            </a:r>
            <a:endParaRPr lang="en-IN" dirty="0" smtClean="0"/>
          </a:p>
        </p:txBody>
      </p:sp>
    </p:spTree>
    <p:extLst>
      <p:ext uri="{BB962C8B-B14F-4D97-AF65-F5344CB8AC3E}">
        <p14:creationId xmlns:p14="http://schemas.microsoft.com/office/powerpoint/2010/main" val="36126564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IN" sz="2800" b="1" dirty="0" smtClean="0"/>
              <a:t>To schedule the project plan, a software project manager wants to do the following:</a:t>
            </a:r>
            <a:br>
              <a:rPr lang="en-IN" sz="2800" b="1" dirty="0" smtClean="0"/>
            </a:br>
            <a:endParaRPr lang="en-IN" sz="2800" b="1" dirty="0"/>
          </a:p>
        </p:txBody>
      </p:sp>
      <p:sp>
        <p:nvSpPr>
          <p:cNvPr id="3" name="Content Placeholder 2"/>
          <p:cNvSpPr>
            <a:spLocks noGrp="1"/>
          </p:cNvSpPr>
          <p:nvPr>
            <p:ph idx="1"/>
          </p:nvPr>
        </p:nvSpPr>
        <p:spPr/>
        <p:txBody>
          <a:bodyPr>
            <a:normAutofit fontScale="77500" lnSpcReduction="20000"/>
          </a:bodyPr>
          <a:lstStyle/>
          <a:p>
            <a:pPr algn="just"/>
            <a:r>
              <a:rPr lang="en-IN" dirty="0"/>
              <a:t>Identify all the functions required to complete the project.</a:t>
            </a:r>
          </a:p>
          <a:p>
            <a:pPr algn="just"/>
            <a:r>
              <a:rPr lang="en-IN" dirty="0"/>
              <a:t>Break down large functions into small activities.</a:t>
            </a:r>
          </a:p>
          <a:p>
            <a:pPr algn="just"/>
            <a:r>
              <a:rPr lang="en-IN" dirty="0"/>
              <a:t>Determine the dependency among various activities.</a:t>
            </a:r>
          </a:p>
          <a:p>
            <a:pPr algn="just"/>
            <a:r>
              <a:rPr lang="en-IN" dirty="0"/>
              <a:t>Establish the most likely size for the time duration required to complete the activities.</a:t>
            </a:r>
          </a:p>
          <a:p>
            <a:pPr algn="just"/>
            <a:r>
              <a:rPr lang="en-IN" dirty="0"/>
              <a:t>Allocate resources to activities.</a:t>
            </a:r>
          </a:p>
          <a:p>
            <a:pPr algn="just"/>
            <a:r>
              <a:rPr lang="en-IN" dirty="0"/>
              <a:t>Plan the beginning and ending dates for different activities.</a:t>
            </a:r>
          </a:p>
          <a:p>
            <a:pPr algn="just"/>
            <a:r>
              <a:rPr lang="en-IN" dirty="0"/>
              <a:t>Determine the critical path. A critical way is the group of activities that decide the duration of the project.</a:t>
            </a:r>
          </a:p>
          <a:p>
            <a:pPr algn="just"/>
            <a:endParaRPr lang="en-IN" dirty="0"/>
          </a:p>
        </p:txBody>
      </p:sp>
    </p:spTree>
    <p:extLst>
      <p:ext uri="{BB962C8B-B14F-4D97-AF65-F5344CB8AC3E}">
        <p14:creationId xmlns:p14="http://schemas.microsoft.com/office/powerpoint/2010/main" val="34638170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Project scheduling Process</a:t>
            </a:r>
            <a:endParaRPr lang="en-IN" dirty="0"/>
          </a:p>
        </p:txBody>
      </p:sp>
      <p:pic>
        <p:nvPicPr>
          <p:cNvPr id="1026" name="Picture 2" descr="https://media.geeksforgeeks.org/wp-content/uploads/20200623160615/Untitled-Diagram-153-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930" y="2564904"/>
            <a:ext cx="8972550" cy="2495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94765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a:t>Process </a:t>
            </a:r>
            <a:endParaRPr lang="en-IN" dirty="0"/>
          </a:p>
        </p:txBody>
      </p:sp>
      <p:sp>
        <p:nvSpPr>
          <p:cNvPr id="3" name="Content Placeholder 2"/>
          <p:cNvSpPr>
            <a:spLocks noGrp="1"/>
          </p:cNvSpPr>
          <p:nvPr>
            <p:ph idx="1"/>
          </p:nvPr>
        </p:nvSpPr>
        <p:spPr/>
        <p:txBody>
          <a:bodyPr>
            <a:normAutofit fontScale="92500" lnSpcReduction="10000"/>
          </a:bodyPr>
          <a:lstStyle/>
          <a:p>
            <a:pPr algn="just"/>
            <a:r>
              <a:rPr lang="en-IN" dirty="0"/>
              <a:t>The manager needs to estimate time and resources of project while scheduling </a:t>
            </a:r>
            <a:r>
              <a:rPr lang="en-IN" dirty="0" smtClean="0"/>
              <a:t>project.</a:t>
            </a:r>
          </a:p>
          <a:p>
            <a:pPr algn="just"/>
            <a:r>
              <a:rPr lang="en-IN" dirty="0" smtClean="0"/>
              <a:t>All </a:t>
            </a:r>
            <a:r>
              <a:rPr lang="en-IN" dirty="0"/>
              <a:t>activities in project must be arranged in a coherent sequence that means activities should be arranged in a logical and well-organized manner for easy to understand. </a:t>
            </a:r>
            <a:endParaRPr lang="en-IN" dirty="0" smtClean="0"/>
          </a:p>
          <a:p>
            <a:pPr algn="just"/>
            <a:r>
              <a:rPr lang="en-IN" dirty="0" smtClean="0"/>
              <a:t>Initial </a:t>
            </a:r>
            <a:r>
              <a:rPr lang="en-IN" dirty="0"/>
              <a:t>estimates of project can be made optimistically which means estimates can be made when all </a:t>
            </a:r>
            <a:r>
              <a:rPr lang="en-IN" dirty="0" smtClean="0"/>
              <a:t>favourable </a:t>
            </a:r>
            <a:r>
              <a:rPr lang="en-IN" dirty="0"/>
              <a:t>things will happen and no threats or problems take place.</a:t>
            </a:r>
          </a:p>
        </p:txBody>
      </p:sp>
    </p:spTree>
    <p:extLst>
      <p:ext uri="{BB962C8B-B14F-4D97-AF65-F5344CB8AC3E}">
        <p14:creationId xmlns:p14="http://schemas.microsoft.com/office/powerpoint/2010/main" val="24322027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Cont..</a:t>
            </a:r>
            <a:endParaRPr lang="en-IN" b="1" dirty="0"/>
          </a:p>
        </p:txBody>
      </p:sp>
      <p:sp>
        <p:nvSpPr>
          <p:cNvPr id="3" name="Content Placeholder 2"/>
          <p:cNvSpPr>
            <a:spLocks noGrp="1"/>
          </p:cNvSpPr>
          <p:nvPr>
            <p:ph idx="1"/>
          </p:nvPr>
        </p:nvSpPr>
        <p:spPr/>
        <p:txBody>
          <a:bodyPr>
            <a:normAutofit fontScale="92500" lnSpcReduction="10000"/>
          </a:bodyPr>
          <a:lstStyle/>
          <a:p>
            <a:pPr algn="just"/>
            <a:r>
              <a:rPr lang="en-IN" dirty="0"/>
              <a:t>The total work is separated or divided into various small activities or tasks during project schedule. </a:t>
            </a:r>
            <a:endParaRPr lang="en-IN" dirty="0" smtClean="0"/>
          </a:p>
          <a:p>
            <a:pPr algn="just"/>
            <a:r>
              <a:rPr lang="en-IN" dirty="0" smtClean="0"/>
              <a:t>Then</a:t>
            </a:r>
            <a:r>
              <a:rPr lang="en-IN" dirty="0"/>
              <a:t>, Project manager will decide time required for each activity or task to get completed. Even some activities are conducted and performed in parallel for efficient performance. </a:t>
            </a:r>
            <a:endParaRPr lang="en-IN" dirty="0" smtClean="0"/>
          </a:p>
          <a:p>
            <a:pPr algn="just"/>
            <a:r>
              <a:rPr lang="en-IN" dirty="0" smtClean="0"/>
              <a:t>The </a:t>
            </a:r>
            <a:r>
              <a:rPr lang="en-IN" dirty="0"/>
              <a:t>project manager should be aware of fact that each stage of project is not problem-free.</a:t>
            </a:r>
          </a:p>
        </p:txBody>
      </p:sp>
    </p:spTree>
    <p:extLst>
      <p:ext uri="{BB962C8B-B14F-4D97-AF65-F5344CB8AC3E}">
        <p14:creationId xmlns:p14="http://schemas.microsoft.com/office/powerpoint/2010/main" val="5271353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IN" b="1" dirty="0"/>
              <a:t>Problems arise during Project Development Stage :</a:t>
            </a:r>
            <a:endParaRPr lang="en-IN" dirty="0"/>
          </a:p>
        </p:txBody>
      </p:sp>
      <p:sp>
        <p:nvSpPr>
          <p:cNvPr id="3" name="Content Placeholder 2"/>
          <p:cNvSpPr>
            <a:spLocks noGrp="1"/>
          </p:cNvSpPr>
          <p:nvPr>
            <p:ph idx="1"/>
          </p:nvPr>
        </p:nvSpPr>
        <p:spPr/>
        <p:txBody>
          <a:bodyPr/>
          <a:lstStyle/>
          <a:p>
            <a:pPr algn="just" fontAlgn="base"/>
            <a:endParaRPr lang="en-IN" dirty="0" smtClean="0"/>
          </a:p>
          <a:p>
            <a:pPr algn="just" fontAlgn="base"/>
            <a:r>
              <a:rPr lang="en-IN" dirty="0" smtClean="0"/>
              <a:t>People </a:t>
            </a:r>
            <a:r>
              <a:rPr lang="en-IN" dirty="0"/>
              <a:t>may leave or remain absent during particular stage of development.</a:t>
            </a:r>
          </a:p>
          <a:p>
            <a:pPr algn="just" fontAlgn="base"/>
            <a:r>
              <a:rPr lang="en-IN" dirty="0"/>
              <a:t>Hardware may get failed while performing.</a:t>
            </a:r>
          </a:p>
          <a:p>
            <a:pPr algn="just" fontAlgn="base"/>
            <a:r>
              <a:rPr lang="en-IN" dirty="0"/>
              <a:t>Software resource that is required may not be available at present, etc.</a:t>
            </a:r>
          </a:p>
          <a:p>
            <a:pPr algn="just"/>
            <a:endParaRPr lang="en-IN" dirty="0"/>
          </a:p>
        </p:txBody>
      </p:sp>
    </p:spTree>
    <p:extLst>
      <p:ext uri="{BB962C8B-B14F-4D97-AF65-F5344CB8AC3E}">
        <p14:creationId xmlns:p14="http://schemas.microsoft.com/office/powerpoint/2010/main" val="12946739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IN" b="1" dirty="0"/>
              <a:t>Resources required for Development of Project :</a:t>
            </a:r>
            <a:endParaRPr lang="en-IN" dirty="0"/>
          </a:p>
        </p:txBody>
      </p:sp>
      <p:sp>
        <p:nvSpPr>
          <p:cNvPr id="3" name="Content Placeholder 2"/>
          <p:cNvSpPr>
            <a:spLocks noGrp="1"/>
          </p:cNvSpPr>
          <p:nvPr>
            <p:ph idx="1"/>
          </p:nvPr>
        </p:nvSpPr>
        <p:spPr/>
        <p:txBody>
          <a:bodyPr/>
          <a:lstStyle/>
          <a:p>
            <a:pPr fontAlgn="base"/>
            <a:endParaRPr lang="en-IN" dirty="0" smtClean="0"/>
          </a:p>
          <a:p>
            <a:pPr fontAlgn="base"/>
            <a:r>
              <a:rPr lang="en-IN" dirty="0" smtClean="0"/>
              <a:t>Human </a:t>
            </a:r>
            <a:r>
              <a:rPr lang="en-IN" dirty="0"/>
              <a:t>effort</a:t>
            </a:r>
          </a:p>
          <a:p>
            <a:pPr fontAlgn="base"/>
            <a:r>
              <a:rPr lang="en-IN" dirty="0"/>
              <a:t>Sufficient disk space on server</a:t>
            </a:r>
          </a:p>
          <a:p>
            <a:pPr fontAlgn="base"/>
            <a:r>
              <a:rPr lang="en-IN" dirty="0"/>
              <a:t>Specialized hardware</a:t>
            </a:r>
          </a:p>
          <a:p>
            <a:pPr fontAlgn="base"/>
            <a:r>
              <a:rPr lang="en-IN" dirty="0"/>
              <a:t>Software technology</a:t>
            </a:r>
          </a:p>
          <a:p>
            <a:pPr fontAlgn="base"/>
            <a:r>
              <a:rPr lang="en-IN" dirty="0"/>
              <a:t>Travel allowance required by project staff, etc.</a:t>
            </a:r>
          </a:p>
          <a:p>
            <a:endParaRPr lang="en-IN" dirty="0"/>
          </a:p>
        </p:txBody>
      </p:sp>
    </p:spTree>
    <p:extLst>
      <p:ext uri="{BB962C8B-B14F-4D97-AF65-F5344CB8AC3E}">
        <p14:creationId xmlns:p14="http://schemas.microsoft.com/office/powerpoint/2010/main" val="26325625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IN" b="1" dirty="0"/>
              <a:t>Advantages of Project Scheduling :</a:t>
            </a:r>
            <a:endParaRPr lang="en-IN" dirty="0"/>
          </a:p>
        </p:txBody>
      </p:sp>
      <p:sp>
        <p:nvSpPr>
          <p:cNvPr id="3" name="Content Placeholder 2"/>
          <p:cNvSpPr>
            <a:spLocks noGrp="1"/>
          </p:cNvSpPr>
          <p:nvPr>
            <p:ph idx="1"/>
          </p:nvPr>
        </p:nvSpPr>
        <p:spPr/>
        <p:txBody>
          <a:bodyPr>
            <a:normAutofit fontScale="85000" lnSpcReduction="20000"/>
          </a:bodyPr>
          <a:lstStyle/>
          <a:p>
            <a:pPr marL="0" indent="0" algn="just" fontAlgn="base">
              <a:buNone/>
            </a:pPr>
            <a:r>
              <a:rPr lang="en-IN" dirty="0"/>
              <a:t>There are several advantages provided by project schedule in our project management</a:t>
            </a:r>
            <a:r>
              <a:rPr lang="en-IN" dirty="0" smtClean="0"/>
              <a:t>:</a:t>
            </a:r>
          </a:p>
          <a:p>
            <a:pPr marL="0" indent="0" algn="just" fontAlgn="base">
              <a:buNone/>
            </a:pPr>
            <a:endParaRPr lang="en-IN" dirty="0"/>
          </a:p>
          <a:p>
            <a:pPr algn="just" fontAlgn="base"/>
            <a:r>
              <a:rPr lang="en-IN" dirty="0"/>
              <a:t>It simply ensures that everyone remains on same page as far as tasks get completed, dependencies, and deadlines.</a:t>
            </a:r>
          </a:p>
          <a:p>
            <a:pPr algn="just" fontAlgn="base"/>
            <a:r>
              <a:rPr lang="en-IN" dirty="0"/>
              <a:t>It helps in identifying issues early and concerns such as lack or unavailability of resources.</a:t>
            </a:r>
          </a:p>
          <a:p>
            <a:pPr algn="just" fontAlgn="base"/>
            <a:r>
              <a:rPr lang="en-IN" dirty="0"/>
              <a:t>It also helps to identify relationships and to monitor process.</a:t>
            </a:r>
          </a:p>
          <a:p>
            <a:pPr algn="just" fontAlgn="base"/>
            <a:r>
              <a:rPr lang="en-IN" dirty="0"/>
              <a:t>It provides effective budget management and risk mitigation.</a:t>
            </a:r>
          </a:p>
          <a:p>
            <a:pPr algn="just"/>
            <a:endParaRPr lang="en-IN" dirty="0"/>
          </a:p>
        </p:txBody>
      </p:sp>
    </p:spTree>
    <p:extLst>
      <p:ext uri="{BB962C8B-B14F-4D97-AF65-F5344CB8AC3E}">
        <p14:creationId xmlns:p14="http://schemas.microsoft.com/office/powerpoint/2010/main" val="22369208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IN" b="1" dirty="0"/>
              <a:t>Critical Path Method</a:t>
            </a:r>
            <a:br>
              <a:rPr lang="en-IN" b="1" dirty="0"/>
            </a:br>
            <a:endParaRPr lang="en-IN" dirty="0"/>
          </a:p>
        </p:txBody>
      </p:sp>
      <p:sp>
        <p:nvSpPr>
          <p:cNvPr id="3" name="Content Placeholder 2"/>
          <p:cNvSpPr>
            <a:spLocks noGrp="1"/>
          </p:cNvSpPr>
          <p:nvPr>
            <p:ph idx="1"/>
          </p:nvPr>
        </p:nvSpPr>
        <p:spPr/>
        <p:txBody>
          <a:bodyPr/>
          <a:lstStyle/>
          <a:p>
            <a:pPr algn="just"/>
            <a:r>
              <a:rPr lang="en-IN" dirty="0"/>
              <a:t>Critical Path Method (CPM) is a method used in </a:t>
            </a:r>
            <a:r>
              <a:rPr lang="en-IN" dirty="0">
                <a:solidFill>
                  <a:srgbClr val="FF0000"/>
                </a:solidFill>
              </a:rPr>
              <a:t>project planning, generally for project scheduling for the on-time completion </a:t>
            </a:r>
            <a:r>
              <a:rPr lang="en-IN" dirty="0"/>
              <a:t>of the project. </a:t>
            </a:r>
            <a:endParaRPr lang="en-IN" dirty="0" smtClean="0"/>
          </a:p>
          <a:p>
            <a:pPr algn="just"/>
            <a:r>
              <a:rPr lang="en-IN" dirty="0" smtClean="0"/>
              <a:t>It </a:t>
            </a:r>
            <a:r>
              <a:rPr lang="en-IN" dirty="0"/>
              <a:t>actually helps in the determination of the earliest time by which the whole project can be completed.</a:t>
            </a:r>
          </a:p>
        </p:txBody>
      </p:sp>
    </p:spTree>
    <p:extLst>
      <p:ext uri="{BB962C8B-B14F-4D97-AF65-F5344CB8AC3E}">
        <p14:creationId xmlns:p14="http://schemas.microsoft.com/office/powerpoint/2010/main" val="24397236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Cont..</a:t>
            </a:r>
            <a:endParaRPr lang="en-IN" dirty="0"/>
          </a:p>
        </p:txBody>
      </p:sp>
      <p:sp>
        <p:nvSpPr>
          <p:cNvPr id="3" name="Content Placeholder 2"/>
          <p:cNvSpPr>
            <a:spLocks noGrp="1"/>
          </p:cNvSpPr>
          <p:nvPr>
            <p:ph idx="1"/>
          </p:nvPr>
        </p:nvSpPr>
        <p:spPr/>
        <p:txBody>
          <a:bodyPr>
            <a:normAutofit fontScale="70000" lnSpcReduction="20000"/>
          </a:bodyPr>
          <a:lstStyle/>
          <a:p>
            <a:pPr marL="0" indent="0" algn="just">
              <a:buNone/>
            </a:pPr>
            <a:r>
              <a:rPr lang="en-IN" dirty="0"/>
              <a:t>There are two main concepts in this method namely critical task and critical path</a:t>
            </a:r>
            <a:r>
              <a:rPr lang="en-IN" dirty="0" smtClean="0"/>
              <a:t>.</a:t>
            </a:r>
          </a:p>
          <a:p>
            <a:pPr marL="0" indent="0" algn="just">
              <a:buNone/>
            </a:pPr>
            <a:endParaRPr lang="en-IN" dirty="0" smtClean="0"/>
          </a:p>
          <a:p>
            <a:pPr algn="just" fontAlgn="base"/>
            <a:r>
              <a:rPr lang="en-IN" b="1" dirty="0"/>
              <a:t>Critical task</a:t>
            </a:r>
            <a:r>
              <a:rPr lang="en-IN" dirty="0"/>
              <a:t> is the task/activity </a:t>
            </a:r>
            <a:r>
              <a:rPr lang="en-IN" dirty="0">
                <a:solidFill>
                  <a:srgbClr val="FF0000"/>
                </a:solidFill>
              </a:rPr>
              <a:t>which can’t be delayed otherwise the completion of the whole project will be delayed</a:t>
            </a:r>
            <a:r>
              <a:rPr lang="en-IN" dirty="0"/>
              <a:t>. It must be completed on-time before starting the other dependent tasks</a:t>
            </a:r>
            <a:r>
              <a:rPr lang="en-IN" dirty="0" smtClean="0"/>
              <a:t>.</a:t>
            </a:r>
          </a:p>
          <a:p>
            <a:pPr algn="just" fontAlgn="base"/>
            <a:endParaRPr lang="en-IN" dirty="0"/>
          </a:p>
          <a:p>
            <a:pPr algn="just" fontAlgn="base"/>
            <a:r>
              <a:rPr lang="en-IN" b="1" dirty="0"/>
              <a:t>Critical path</a:t>
            </a:r>
            <a:r>
              <a:rPr lang="en-IN" dirty="0"/>
              <a:t> </a:t>
            </a:r>
            <a:r>
              <a:rPr lang="en-IN" dirty="0">
                <a:solidFill>
                  <a:srgbClr val="FF0000"/>
                </a:solidFill>
              </a:rPr>
              <a:t>is a sequence of critical tasks/activities and is the largest path in the project network. </a:t>
            </a:r>
            <a:r>
              <a:rPr lang="en-IN" dirty="0"/>
              <a:t>It gives us the </a:t>
            </a:r>
            <a:r>
              <a:rPr lang="en-IN" dirty="0">
                <a:solidFill>
                  <a:srgbClr val="FF0000"/>
                </a:solidFill>
              </a:rPr>
              <a:t>minimum time which is required to complete the whole project.</a:t>
            </a:r>
            <a:r>
              <a:rPr lang="en-IN" dirty="0"/>
              <a:t> The activities in the critical path are known as critical activities and if these activities are delayed then the completion of the whole project is also delayed.</a:t>
            </a:r>
          </a:p>
          <a:p>
            <a:pPr marL="0" indent="0" algn="just">
              <a:buNone/>
            </a:pPr>
            <a:endParaRPr lang="en-IN" dirty="0" smtClean="0"/>
          </a:p>
          <a:p>
            <a:pPr marL="0" indent="0" algn="just">
              <a:buNone/>
            </a:pPr>
            <a:endParaRPr lang="en-IN" dirty="0"/>
          </a:p>
        </p:txBody>
      </p:sp>
    </p:spTree>
    <p:extLst>
      <p:ext uri="{BB962C8B-B14F-4D97-AF65-F5344CB8AC3E}">
        <p14:creationId xmlns:p14="http://schemas.microsoft.com/office/powerpoint/2010/main" val="29481032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IN" b="1" dirty="0"/>
              <a:t>Major steps of the Critical Path Method:</a:t>
            </a:r>
            <a:endParaRPr lang="en-IN" dirty="0"/>
          </a:p>
        </p:txBody>
      </p:sp>
      <p:sp>
        <p:nvSpPr>
          <p:cNvPr id="3" name="Content Placeholder 2"/>
          <p:cNvSpPr>
            <a:spLocks noGrp="1"/>
          </p:cNvSpPr>
          <p:nvPr>
            <p:ph idx="1"/>
          </p:nvPr>
        </p:nvSpPr>
        <p:spPr/>
        <p:txBody>
          <a:bodyPr/>
          <a:lstStyle/>
          <a:p>
            <a:pPr fontAlgn="base"/>
            <a:endParaRPr lang="en-IN" dirty="0" smtClean="0"/>
          </a:p>
          <a:p>
            <a:pPr fontAlgn="base"/>
            <a:r>
              <a:rPr lang="en-IN" dirty="0" smtClean="0"/>
              <a:t>Identifying </a:t>
            </a:r>
            <a:r>
              <a:rPr lang="en-IN" dirty="0"/>
              <a:t>the activities</a:t>
            </a:r>
          </a:p>
          <a:p>
            <a:pPr fontAlgn="base"/>
            <a:r>
              <a:rPr lang="en-IN" dirty="0"/>
              <a:t>Construct the project network</a:t>
            </a:r>
          </a:p>
          <a:p>
            <a:pPr fontAlgn="base"/>
            <a:r>
              <a:rPr lang="en-IN" dirty="0"/>
              <a:t>Perform time estimation using forward and backward pass</a:t>
            </a:r>
          </a:p>
          <a:p>
            <a:pPr fontAlgn="base"/>
            <a:r>
              <a:rPr lang="en-IN" dirty="0"/>
              <a:t>Identify the critical path</a:t>
            </a:r>
          </a:p>
          <a:p>
            <a:endParaRPr lang="en-IN" dirty="0"/>
          </a:p>
        </p:txBody>
      </p:sp>
    </p:spTree>
    <p:extLst>
      <p:ext uri="{BB962C8B-B14F-4D97-AF65-F5344CB8AC3E}">
        <p14:creationId xmlns:p14="http://schemas.microsoft.com/office/powerpoint/2010/main" val="518548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Example</a:t>
            </a:r>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1552" y="821654"/>
            <a:ext cx="3591991" cy="5577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115616" y="1981935"/>
            <a:ext cx="3995936" cy="2031325"/>
          </a:xfrm>
          <a:prstGeom prst="rect">
            <a:avLst/>
          </a:prstGeom>
        </p:spPr>
        <p:txBody>
          <a:bodyPr wrap="square">
            <a:spAutoFit/>
          </a:bodyPr>
          <a:lstStyle/>
          <a:p>
            <a:pPr algn="just"/>
            <a:r>
              <a:rPr lang="en-IN" dirty="0"/>
              <a:t>The table given below contains the activity label, its respective duration (in weeks) and its precedents. </a:t>
            </a:r>
            <a:endParaRPr lang="en-IN" dirty="0" smtClean="0"/>
          </a:p>
          <a:p>
            <a:pPr algn="just"/>
            <a:endParaRPr lang="en-IN" dirty="0"/>
          </a:p>
          <a:p>
            <a:pPr algn="just"/>
            <a:r>
              <a:rPr lang="en-IN" dirty="0" smtClean="0"/>
              <a:t>We </a:t>
            </a:r>
            <a:r>
              <a:rPr lang="en-IN" dirty="0"/>
              <a:t>will use critical path method to find the critical path and activities of this project.</a:t>
            </a:r>
          </a:p>
        </p:txBody>
      </p:sp>
    </p:spTree>
    <p:extLst>
      <p:ext uri="{BB962C8B-B14F-4D97-AF65-F5344CB8AC3E}">
        <p14:creationId xmlns:p14="http://schemas.microsoft.com/office/powerpoint/2010/main" val="264581007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IN" b="1" dirty="0"/>
              <a:t>Rules for designing the Activity-on-Node network diagram:</a:t>
            </a:r>
            <a:endParaRPr lang="en-IN" dirty="0"/>
          </a:p>
        </p:txBody>
      </p:sp>
      <p:sp>
        <p:nvSpPr>
          <p:cNvPr id="3" name="Content Placeholder 2"/>
          <p:cNvSpPr>
            <a:spLocks noGrp="1"/>
          </p:cNvSpPr>
          <p:nvPr>
            <p:ph idx="1"/>
          </p:nvPr>
        </p:nvSpPr>
        <p:spPr/>
        <p:txBody>
          <a:bodyPr>
            <a:normAutofit fontScale="77500" lnSpcReduction="20000"/>
          </a:bodyPr>
          <a:lstStyle/>
          <a:p>
            <a:pPr fontAlgn="base"/>
            <a:endParaRPr lang="en-IN" dirty="0" smtClean="0"/>
          </a:p>
          <a:p>
            <a:pPr fontAlgn="base"/>
            <a:r>
              <a:rPr lang="en-IN" dirty="0" smtClean="0"/>
              <a:t>A </a:t>
            </a:r>
            <a:r>
              <a:rPr lang="en-IN" dirty="0"/>
              <a:t>project network should have only one start node</a:t>
            </a:r>
          </a:p>
          <a:p>
            <a:pPr fontAlgn="base"/>
            <a:r>
              <a:rPr lang="en-IN" dirty="0"/>
              <a:t>A project network should have only one end node</a:t>
            </a:r>
          </a:p>
          <a:p>
            <a:pPr fontAlgn="base"/>
            <a:r>
              <a:rPr lang="en-IN" dirty="0"/>
              <a:t>A node has a duration</a:t>
            </a:r>
          </a:p>
          <a:p>
            <a:pPr fontAlgn="base"/>
            <a:r>
              <a:rPr lang="en-IN" dirty="0"/>
              <a:t>Links normally have no duration</a:t>
            </a:r>
          </a:p>
          <a:p>
            <a:pPr fontAlgn="base"/>
            <a:r>
              <a:rPr lang="en-IN" dirty="0"/>
              <a:t>“Precedents” are the immediate preceding activities</a:t>
            </a:r>
          </a:p>
          <a:p>
            <a:pPr fontAlgn="base"/>
            <a:r>
              <a:rPr lang="en-IN" dirty="0"/>
              <a:t>Time moves from left to right in the project network</a:t>
            </a:r>
          </a:p>
          <a:p>
            <a:pPr fontAlgn="base"/>
            <a:r>
              <a:rPr lang="en-IN" dirty="0"/>
              <a:t>A network should not contain loops</a:t>
            </a:r>
          </a:p>
          <a:p>
            <a:pPr fontAlgn="base"/>
            <a:r>
              <a:rPr lang="en-IN" dirty="0"/>
              <a:t>A network should not contain dangles</a:t>
            </a:r>
          </a:p>
          <a:p>
            <a:endParaRPr lang="en-IN" dirty="0"/>
          </a:p>
        </p:txBody>
      </p:sp>
    </p:spTree>
    <p:extLst>
      <p:ext uri="{BB962C8B-B14F-4D97-AF65-F5344CB8AC3E}">
        <p14:creationId xmlns:p14="http://schemas.microsoft.com/office/powerpoint/2010/main" val="23993015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Node Representation</a:t>
            </a:r>
            <a:endParaRPr lang="en-IN" b="1" dirty="0"/>
          </a:p>
        </p:txBody>
      </p:sp>
      <p:pic>
        <p:nvPicPr>
          <p:cNvPr id="3074" name="Picture 2" descr="https://media.geeksforgeeks.org/wp-content/uploads/20190509202011/nod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988840"/>
            <a:ext cx="7369200" cy="216024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899592" y="4581128"/>
            <a:ext cx="4824536" cy="954107"/>
          </a:xfrm>
          <a:prstGeom prst="rect">
            <a:avLst/>
          </a:prstGeom>
          <a:noFill/>
        </p:spPr>
        <p:txBody>
          <a:bodyPr wrap="square" rtlCol="0">
            <a:spAutoFit/>
          </a:bodyPr>
          <a:lstStyle/>
          <a:p>
            <a:r>
              <a:rPr lang="en-US" sz="2800" b="1" dirty="0" smtClean="0"/>
              <a:t>Float = LF - EF</a:t>
            </a:r>
          </a:p>
          <a:p>
            <a:r>
              <a:rPr lang="en-US" sz="2800" b="1" dirty="0" smtClean="0"/>
              <a:t>LS= LF - Duration</a:t>
            </a:r>
            <a:endParaRPr lang="en-IN" sz="2800" b="1" dirty="0"/>
          </a:p>
        </p:txBody>
      </p:sp>
    </p:spTree>
    <p:extLst>
      <p:ext uri="{BB962C8B-B14F-4D97-AF65-F5344CB8AC3E}">
        <p14:creationId xmlns:p14="http://schemas.microsoft.com/office/powerpoint/2010/main" val="123827578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Definitions</a:t>
            </a:r>
            <a:endParaRPr lang="en-IN" dirty="0"/>
          </a:p>
        </p:txBody>
      </p:sp>
      <p:sp>
        <p:nvSpPr>
          <p:cNvPr id="3" name="Content Placeholder 2"/>
          <p:cNvSpPr>
            <a:spLocks noGrp="1"/>
          </p:cNvSpPr>
          <p:nvPr>
            <p:ph idx="1"/>
          </p:nvPr>
        </p:nvSpPr>
        <p:spPr/>
        <p:txBody>
          <a:bodyPr>
            <a:normAutofit fontScale="85000" lnSpcReduction="20000"/>
          </a:bodyPr>
          <a:lstStyle/>
          <a:p>
            <a:pPr fontAlgn="base"/>
            <a:r>
              <a:rPr lang="en-IN" b="1" dirty="0"/>
              <a:t>Activity label</a:t>
            </a:r>
            <a:r>
              <a:rPr lang="en-IN" dirty="0"/>
              <a:t> is the name of the activity represented by that node.</a:t>
            </a:r>
          </a:p>
          <a:p>
            <a:pPr fontAlgn="base"/>
            <a:r>
              <a:rPr lang="en-IN" b="1" dirty="0"/>
              <a:t>Earliest Start</a:t>
            </a:r>
            <a:r>
              <a:rPr lang="en-IN" dirty="0"/>
              <a:t> is the date or time at which the activity can be started at the earliest.</a:t>
            </a:r>
          </a:p>
          <a:p>
            <a:pPr fontAlgn="base"/>
            <a:r>
              <a:rPr lang="en-IN" b="1" dirty="0"/>
              <a:t>Earliest Finish</a:t>
            </a:r>
            <a:r>
              <a:rPr lang="en-IN" dirty="0"/>
              <a:t> is the date or time at which the activity can completed at the earliest.</a:t>
            </a:r>
          </a:p>
          <a:p>
            <a:pPr fontAlgn="base"/>
            <a:r>
              <a:rPr lang="en-IN" b="1" dirty="0"/>
              <a:t>Latest Start</a:t>
            </a:r>
            <a:r>
              <a:rPr lang="en-IN" dirty="0"/>
              <a:t> is the date or time at which the activity can be started at the latest.</a:t>
            </a:r>
          </a:p>
          <a:p>
            <a:pPr fontAlgn="base"/>
            <a:r>
              <a:rPr lang="en-IN" b="1" dirty="0"/>
              <a:t>Latest Finish</a:t>
            </a:r>
            <a:r>
              <a:rPr lang="en-IN" dirty="0"/>
              <a:t> is the date or time at which the activity can be finished at the latest.</a:t>
            </a:r>
          </a:p>
          <a:p>
            <a:pPr fontAlgn="base"/>
            <a:r>
              <a:rPr lang="en-IN" b="1" dirty="0"/>
              <a:t>Float</a:t>
            </a:r>
            <a:r>
              <a:rPr lang="en-IN" dirty="0"/>
              <a:t> is equal to the difference between earliest start and latest start or earliest finish and latest finish.</a:t>
            </a:r>
          </a:p>
          <a:p>
            <a:endParaRPr lang="en-IN" dirty="0"/>
          </a:p>
        </p:txBody>
      </p:sp>
    </p:spTree>
    <p:extLst>
      <p:ext uri="{BB962C8B-B14F-4D97-AF65-F5344CB8AC3E}">
        <p14:creationId xmlns:p14="http://schemas.microsoft.com/office/powerpoint/2010/main" val="27110811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fontAlgn="base"/>
            <a:r>
              <a:rPr lang="en-IN" b="1" dirty="0" smtClean="0"/>
              <a:t/>
            </a:r>
            <a:br>
              <a:rPr lang="en-IN" b="1" dirty="0" smtClean="0"/>
            </a:br>
            <a:r>
              <a:rPr lang="en-IN" b="1" dirty="0" smtClean="0"/>
              <a:t>Activity-On-Node </a:t>
            </a:r>
            <a:r>
              <a:rPr lang="en-IN" b="1" dirty="0"/>
              <a:t>diagram:</a:t>
            </a:r>
            <a:r>
              <a:rPr lang="en-IN" dirty="0"/>
              <a:t/>
            </a:r>
            <a:br>
              <a:rPr lang="en-IN" dirty="0"/>
            </a:br>
            <a:r>
              <a:rPr lang="en-IN" dirty="0" smtClean="0"/>
              <a:t/>
            </a:r>
            <a:br>
              <a:rPr lang="en-IN" dirty="0" smtClean="0"/>
            </a:br>
            <a:endParaRPr lang="en-IN" dirty="0"/>
          </a:p>
        </p:txBody>
      </p:sp>
      <p:pic>
        <p:nvPicPr>
          <p:cNvPr id="4098" name="Picture 2" descr="https://media.geeksforgeeks.org/wp-content/uploads/20190510141129/AON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84784"/>
            <a:ext cx="9163050" cy="4667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0305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a:t>Forward Pass:</a:t>
            </a:r>
            <a:endParaRPr lang="en-IN" dirty="0"/>
          </a:p>
        </p:txBody>
      </p:sp>
      <p:sp>
        <p:nvSpPr>
          <p:cNvPr id="3" name="Content Placeholder 2"/>
          <p:cNvSpPr>
            <a:spLocks noGrp="1"/>
          </p:cNvSpPr>
          <p:nvPr>
            <p:ph idx="1"/>
          </p:nvPr>
        </p:nvSpPr>
        <p:spPr/>
        <p:txBody>
          <a:bodyPr>
            <a:normAutofit fontScale="62500" lnSpcReduction="20000"/>
          </a:bodyPr>
          <a:lstStyle/>
          <a:p>
            <a:pPr marL="0" indent="0">
              <a:buNone/>
            </a:pPr>
            <a:r>
              <a:rPr lang="en-IN" dirty="0"/>
              <a:t>The forward pass is carried out to calculate the earliest dates on which each activity may be started and completed</a:t>
            </a:r>
            <a:r>
              <a:rPr lang="en-IN" dirty="0" smtClean="0"/>
              <a:t>.</a:t>
            </a:r>
          </a:p>
          <a:p>
            <a:pPr marL="0" indent="0">
              <a:buNone/>
            </a:pPr>
            <a:endParaRPr lang="en-IN" dirty="0" smtClean="0"/>
          </a:p>
          <a:p>
            <a:pPr fontAlgn="base"/>
            <a:r>
              <a:rPr lang="en-IN" dirty="0"/>
              <a:t>Activity A may start immediately. Hence, earliest date for its start is zero i.e. ES(A) = 0. It takes 6 weeks to complete its execution. Hence, earliest it can finish is week 6 i.e. EF(A) = 6</a:t>
            </a:r>
            <a:r>
              <a:rPr lang="en-IN" dirty="0" smtClean="0"/>
              <a:t>.</a:t>
            </a:r>
          </a:p>
          <a:p>
            <a:pPr fontAlgn="base"/>
            <a:endParaRPr lang="en-IN" dirty="0"/>
          </a:p>
          <a:p>
            <a:pPr fontAlgn="base"/>
            <a:r>
              <a:rPr lang="en-IN" dirty="0"/>
              <a:t>Activity B may start immediately. Hence, earliest date for its start is zero i.e. ES(B) = 0. It takes 4 weeks to complete its execution. Hence, earliest it can finish is week 4 i.e. EF(B) = 4</a:t>
            </a:r>
            <a:r>
              <a:rPr lang="en-IN" dirty="0" smtClean="0"/>
              <a:t>.</a:t>
            </a:r>
          </a:p>
          <a:p>
            <a:pPr fontAlgn="base"/>
            <a:endParaRPr lang="en-IN" dirty="0"/>
          </a:p>
          <a:p>
            <a:pPr fontAlgn="base"/>
            <a:r>
              <a:rPr lang="en-IN" dirty="0"/>
              <a:t>Activity F may start immediately. Hence, earliest date for its start is zero i.e. ES(F) = 0. It takes 10 weeks to complete its execution. Hence, earliest it can finish is week 10 i.e. EF(F) = 10.</a:t>
            </a:r>
          </a:p>
          <a:p>
            <a:pPr marL="0" indent="0">
              <a:buNone/>
            </a:pPr>
            <a:endParaRPr lang="en-IN" dirty="0"/>
          </a:p>
        </p:txBody>
      </p:sp>
    </p:spTree>
    <p:extLst>
      <p:ext uri="{BB962C8B-B14F-4D97-AF65-F5344CB8AC3E}">
        <p14:creationId xmlns:p14="http://schemas.microsoft.com/office/powerpoint/2010/main" val="29281763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Cont..</a:t>
            </a:r>
            <a:endParaRPr lang="en-IN" dirty="0"/>
          </a:p>
        </p:txBody>
      </p:sp>
      <p:sp>
        <p:nvSpPr>
          <p:cNvPr id="3" name="Content Placeholder 2"/>
          <p:cNvSpPr>
            <a:spLocks noGrp="1"/>
          </p:cNvSpPr>
          <p:nvPr>
            <p:ph idx="1"/>
          </p:nvPr>
        </p:nvSpPr>
        <p:spPr/>
        <p:txBody>
          <a:bodyPr>
            <a:normAutofit fontScale="62500" lnSpcReduction="20000"/>
          </a:bodyPr>
          <a:lstStyle/>
          <a:p>
            <a:pPr algn="just" fontAlgn="base"/>
            <a:endParaRPr lang="en-IN" dirty="0" smtClean="0"/>
          </a:p>
          <a:p>
            <a:pPr algn="just" fontAlgn="base"/>
            <a:r>
              <a:rPr lang="en-IN" dirty="0" smtClean="0"/>
              <a:t>Activity </a:t>
            </a:r>
            <a:r>
              <a:rPr lang="en-IN" dirty="0"/>
              <a:t>C starts as soon as activity A completes its execution. Hence, earliest week it can start its execution is week 6 i.e. ES(C) = 6. It takes 3 weeks to complete its execution. Hence, earliest it can finish is week 9 i.e. EF(C) = 9</a:t>
            </a:r>
            <a:r>
              <a:rPr lang="en-IN" dirty="0" smtClean="0"/>
              <a:t>.</a:t>
            </a:r>
          </a:p>
          <a:p>
            <a:pPr algn="just" fontAlgn="base"/>
            <a:endParaRPr lang="en-IN" dirty="0"/>
          </a:p>
          <a:p>
            <a:pPr algn="just" fontAlgn="base"/>
            <a:r>
              <a:rPr lang="en-IN" dirty="0"/>
              <a:t>Activity D starts as soon as activity B completes its execution. Hence, earliest week it can start its execution is week 4 i.e. ES(D) = 4. It takes 4 weeks to complete its execution. Hence, earliest it can finish is week 8 i.e. EF(D) = 8</a:t>
            </a:r>
            <a:r>
              <a:rPr lang="en-IN" dirty="0" smtClean="0"/>
              <a:t>.</a:t>
            </a:r>
          </a:p>
          <a:p>
            <a:pPr algn="just" fontAlgn="base"/>
            <a:endParaRPr lang="en-IN" dirty="0"/>
          </a:p>
          <a:p>
            <a:pPr algn="just" fontAlgn="base"/>
            <a:r>
              <a:rPr lang="en-IN" dirty="0"/>
              <a:t>Activity E starts as soon as activity B completes its execution. Hence, earliest week it can start its execution is week 4 i.e. ES(E) = 4. It takes 3 weeks to complete its execution. Hence, earliest it can finish is week 7 i.e. EF(E) = 7.</a:t>
            </a:r>
          </a:p>
          <a:p>
            <a:pPr algn="just"/>
            <a:endParaRPr lang="en-IN" dirty="0"/>
          </a:p>
        </p:txBody>
      </p:sp>
    </p:spTree>
    <p:extLst>
      <p:ext uri="{BB962C8B-B14F-4D97-AF65-F5344CB8AC3E}">
        <p14:creationId xmlns:p14="http://schemas.microsoft.com/office/powerpoint/2010/main" val="26958044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Cont..</a:t>
            </a:r>
            <a:endParaRPr lang="en-IN" dirty="0"/>
          </a:p>
        </p:txBody>
      </p:sp>
      <p:sp>
        <p:nvSpPr>
          <p:cNvPr id="3" name="Content Placeholder 2"/>
          <p:cNvSpPr>
            <a:spLocks noGrp="1"/>
          </p:cNvSpPr>
          <p:nvPr>
            <p:ph idx="1"/>
          </p:nvPr>
        </p:nvSpPr>
        <p:spPr/>
        <p:txBody>
          <a:bodyPr>
            <a:normAutofit fontScale="70000" lnSpcReduction="20000"/>
          </a:bodyPr>
          <a:lstStyle/>
          <a:p>
            <a:pPr algn="just" fontAlgn="base"/>
            <a:r>
              <a:rPr lang="en-IN" dirty="0"/>
              <a:t>Activity G starts as soon as activity E and activity F completes their execution. Since, activity requires the completion of both for starting its execution, we would consider the MAX(ES(E), ES(F)). Hence, earliest week it can start its execution is week 10 i.e. ES(G) = 10. It takes 3 weeks to complete its execution. Hence, earliest it can finish is week 13 i.e. EF(G) = 13</a:t>
            </a:r>
            <a:r>
              <a:rPr lang="en-IN" dirty="0" smtClean="0"/>
              <a:t>.</a:t>
            </a:r>
          </a:p>
          <a:p>
            <a:pPr algn="just" fontAlgn="base"/>
            <a:endParaRPr lang="en-IN" dirty="0"/>
          </a:p>
          <a:p>
            <a:pPr algn="just" fontAlgn="base"/>
            <a:r>
              <a:rPr lang="en-IN" dirty="0"/>
              <a:t>Activity H starts as soon as activity C and activity D completes their execution. Since, activity requires the completion of both for starting its execution, we would consider the MAX(ES(C), ES(D)). Hence, earliest week it can start its execution is week 9 i.e. ES(H) = 9. It takes 2 weeks to complete its execution. Hence, earliest it can finish is week 11 i.e. EF(H) = 11.</a:t>
            </a:r>
          </a:p>
          <a:p>
            <a:pPr algn="just"/>
            <a:endParaRPr lang="en-IN" dirty="0"/>
          </a:p>
        </p:txBody>
      </p:sp>
    </p:spTree>
    <p:extLst>
      <p:ext uri="{BB962C8B-B14F-4D97-AF65-F5344CB8AC3E}">
        <p14:creationId xmlns:p14="http://schemas.microsoft.com/office/powerpoint/2010/main" val="66246670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a:t>Forward Pass:</a:t>
            </a:r>
            <a:endParaRPr lang="en-IN" dirty="0"/>
          </a:p>
        </p:txBody>
      </p:sp>
      <p:pic>
        <p:nvPicPr>
          <p:cNvPr id="5122" name="Picture 2" descr="https://media.geeksforgeeks.org/wp-content/uploads/20190510143231/aon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56792"/>
            <a:ext cx="9163050" cy="4667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374487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a:t>Backward Pass:</a:t>
            </a:r>
            <a:endParaRPr lang="en-IN" dirty="0"/>
          </a:p>
        </p:txBody>
      </p:sp>
      <p:sp>
        <p:nvSpPr>
          <p:cNvPr id="3" name="Content Placeholder 2"/>
          <p:cNvSpPr>
            <a:spLocks noGrp="1"/>
          </p:cNvSpPr>
          <p:nvPr>
            <p:ph idx="1"/>
          </p:nvPr>
        </p:nvSpPr>
        <p:spPr/>
        <p:txBody>
          <a:bodyPr/>
          <a:lstStyle/>
          <a:p>
            <a:pPr marL="0" indent="0" algn="just">
              <a:buNone/>
            </a:pPr>
            <a:r>
              <a:rPr lang="en-IN" dirty="0"/>
              <a:t>The backward pass is carried out to calculate the latest dates on which each activity may be started and finished without delaying the end date of the </a:t>
            </a:r>
            <a:r>
              <a:rPr lang="en-IN" dirty="0" smtClean="0"/>
              <a:t>project. Assumption</a:t>
            </a:r>
            <a:r>
              <a:rPr lang="en-IN" dirty="0"/>
              <a:t>: Latest finish date = Earliest Finish date (of project</a:t>
            </a:r>
            <a:r>
              <a:rPr lang="en-IN" dirty="0" smtClean="0"/>
              <a:t>).</a:t>
            </a:r>
          </a:p>
          <a:p>
            <a:pPr marL="0" indent="0" algn="just">
              <a:buNone/>
            </a:pPr>
            <a:endParaRPr lang="en-IN" dirty="0"/>
          </a:p>
        </p:txBody>
      </p:sp>
    </p:spTree>
    <p:extLst>
      <p:ext uri="{BB962C8B-B14F-4D97-AF65-F5344CB8AC3E}">
        <p14:creationId xmlns:p14="http://schemas.microsoft.com/office/powerpoint/2010/main" val="248716334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Cont..</a:t>
            </a:r>
            <a:endParaRPr lang="en-IN" dirty="0"/>
          </a:p>
        </p:txBody>
      </p:sp>
      <p:sp>
        <p:nvSpPr>
          <p:cNvPr id="3" name="Content Placeholder 2"/>
          <p:cNvSpPr>
            <a:spLocks noGrp="1"/>
          </p:cNvSpPr>
          <p:nvPr>
            <p:ph idx="1"/>
          </p:nvPr>
        </p:nvSpPr>
        <p:spPr/>
        <p:txBody>
          <a:bodyPr>
            <a:normAutofit fontScale="77500" lnSpcReduction="20000"/>
          </a:bodyPr>
          <a:lstStyle/>
          <a:p>
            <a:pPr fontAlgn="base"/>
            <a:r>
              <a:rPr lang="en-IN" dirty="0"/>
              <a:t>Activity G’s latest finish date is equal to the earliest finish date of the precedent activity of finish according to the assumption i.e. LF(G) = 13. It takes 3 weeks to complete its execution. Hence, latest it can start is week 10 i.e. LS(G) = 10.</a:t>
            </a:r>
          </a:p>
          <a:p>
            <a:pPr fontAlgn="base"/>
            <a:r>
              <a:rPr lang="en-IN" dirty="0"/>
              <a:t>Activity H’s latest finish date is equal to the earliest finish date of the precedent activity of finish according to the assumption i.e. LF(H) = 13. It takes 2 weeks to complete its execution. Hence, latest it can start is week 11 i.e. LS(H) = 11.</a:t>
            </a:r>
          </a:p>
          <a:p>
            <a:pPr fontAlgn="base"/>
            <a:r>
              <a:rPr lang="en-IN" dirty="0"/>
              <a:t>The latest end date for activity C would be the latest start date of H i.e. LF(C) = 11. It takes 3 weeks to complete its execution. Hence, latest it can start is week 8 i.e. LS(C) = 8.</a:t>
            </a:r>
          </a:p>
          <a:p>
            <a:endParaRPr lang="en-IN" dirty="0"/>
          </a:p>
        </p:txBody>
      </p:sp>
    </p:spTree>
    <p:extLst>
      <p:ext uri="{BB962C8B-B14F-4D97-AF65-F5344CB8AC3E}">
        <p14:creationId xmlns:p14="http://schemas.microsoft.com/office/powerpoint/2010/main" val="273698069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Cont..</a:t>
            </a:r>
            <a:endParaRPr lang="en-IN" dirty="0"/>
          </a:p>
        </p:txBody>
      </p:sp>
      <p:sp>
        <p:nvSpPr>
          <p:cNvPr id="3" name="Content Placeholder 2"/>
          <p:cNvSpPr>
            <a:spLocks noGrp="1"/>
          </p:cNvSpPr>
          <p:nvPr>
            <p:ph idx="1"/>
          </p:nvPr>
        </p:nvSpPr>
        <p:spPr/>
        <p:txBody>
          <a:bodyPr>
            <a:normAutofit fontScale="85000" lnSpcReduction="10000"/>
          </a:bodyPr>
          <a:lstStyle/>
          <a:p>
            <a:pPr fontAlgn="base"/>
            <a:r>
              <a:rPr lang="en-IN" dirty="0"/>
              <a:t>The latest end date for activity D would be the latest start date of H i.e. LF(D) = 11. It takes 4 weeks to complete its execution. Hence, latest it can start is week 7 i.e. LS(D) = 7.</a:t>
            </a:r>
          </a:p>
          <a:p>
            <a:pPr fontAlgn="base"/>
            <a:r>
              <a:rPr lang="en-IN" dirty="0"/>
              <a:t>The latest end date for activity E would be the latest start date of G i.e. LF(G) = 10. It takes 3 weeks to complete its execution. Hence, latest it can start is week 7 i.e. LS(E) = 7.</a:t>
            </a:r>
          </a:p>
          <a:p>
            <a:pPr fontAlgn="base"/>
            <a:r>
              <a:rPr lang="en-IN" dirty="0"/>
              <a:t>The latest end date for activity F would be the latest start date of G i.e. LF(G) = 10. It takes 10 weeks to complete its execution. Hence, latest it can start is week 0 i.e. LS(F) = 0.</a:t>
            </a:r>
          </a:p>
          <a:p>
            <a:endParaRPr lang="en-IN" dirty="0"/>
          </a:p>
        </p:txBody>
      </p:sp>
    </p:spTree>
    <p:extLst>
      <p:ext uri="{BB962C8B-B14F-4D97-AF65-F5344CB8AC3E}">
        <p14:creationId xmlns:p14="http://schemas.microsoft.com/office/powerpoint/2010/main" val="245468466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Cont..</a:t>
            </a:r>
            <a:endParaRPr lang="en-IN" dirty="0"/>
          </a:p>
        </p:txBody>
      </p:sp>
      <p:sp>
        <p:nvSpPr>
          <p:cNvPr id="3" name="Content Placeholder 2"/>
          <p:cNvSpPr>
            <a:spLocks noGrp="1"/>
          </p:cNvSpPr>
          <p:nvPr>
            <p:ph idx="1"/>
          </p:nvPr>
        </p:nvSpPr>
        <p:spPr/>
        <p:txBody>
          <a:bodyPr>
            <a:normAutofit lnSpcReduction="10000"/>
          </a:bodyPr>
          <a:lstStyle/>
          <a:p>
            <a:pPr fontAlgn="base"/>
            <a:r>
              <a:rPr lang="en-IN" dirty="0"/>
              <a:t>The latest end date for activity A would be the latest start date of C i.e. LF(A) = 8. It takes 6 weeks to complete its execution. Hence, latest it can start is week 2 i.e. LS(A) = 2.</a:t>
            </a:r>
          </a:p>
          <a:p>
            <a:pPr fontAlgn="base"/>
            <a:r>
              <a:rPr lang="en-IN" dirty="0"/>
              <a:t>The latest end date for activity B would be the earliest of the latest start date of D and E i.e. LF(B) = 7. It takes 4 weeks to complete its execution. Hence, latest it can start is week 3 i.e. LS(B) = 3.</a:t>
            </a:r>
          </a:p>
          <a:p>
            <a:endParaRPr lang="en-IN" dirty="0"/>
          </a:p>
        </p:txBody>
      </p:sp>
    </p:spTree>
    <p:extLst>
      <p:ext uri="{BB962C8B-B14F-4D97-AF65-F5344CB8AC3E}">
        <p14:creationId xmlns:p14="http://schemas.microsoft.com/office/powerpoint/2010/main" val="36013649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a:t>Backward Pass:</a:t>
            </a:r>
            <a:endParaRPr lang="en-IN" dirty="0"/>
          </a:p>
        </p:txBody>
      </p:sp>
      <p:pic>
        <p:nvPicPr>
          <p:cNvPr id="6146" name="Picture 2" descr="https://media.geeksforgeeks.org/wp-content/uploads/20190510202317/aon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40768"/>
            <a:ext cx="9163050" cy="4667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940130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a:t>Identifying Critical Path:</a:t>
            </a:r>
            <a:endParaRPr lang="en-IN" dirty="0"/>
          </a:p>
        </p:txBody>
      </p:sp>
      <p:sp>
        <p:nvSpPr>
          <p:cNvPr id="3" name="Content Placeholder 2"/>
          <p:cNvSpPr>
            <a:spLocks noGrp="1"/>
          </p:cNvSpPr>
          <p:nvPr>
            <p:ph idx="1"/>
          </p:nvPr>
        </p:nvSpPr>
        <p:spPr/>
        <p:txBody>
          <a:bodyPr>
            <a:normAutofit lnSpcReduction="10000"/>
          </a:bodyPr>
          <a:lstStyle/>
          <a:p>
            <a:r>
              <a:rPr lang="en-IN" dirty="0"/>
              <a:t>Critical path is the path which gives us or helps us to estimate the earliest time in which the whole project can be completed. </a:t>
            </a:r>
            <a:endParaRPr lang="en-IN" dirty="0" smtClean="0"/>
          </a:p>
          <a:p>
            <a:r>
              <a:rPr lang="en-IN" dirty="0" smtClean="0"/>
              <a:t>Any </a:t>
            </a:r>
            <a:r>
              <a:rPr lang="en-IN" dirty="0"/>
              <a:t>delay to an activity on this critical path will lead to a delay in the completion of the whole project. </a:t>
            </a:r>
            <a:endParaRPr lang="en-IN" dirty="0" smtClean="0"/>
          </a:p>
          <a:p>
            <a:r>
              <a:rPr lang="en-IN" dirty="0" smtClean="0"/>
              <a:t>In </a:t>
            </a:r>
            <a:r>
              <a:rPr lang="en-IN" dirty="0"/>
              <a:t>order to identify the critical path, we need to calculate the activity float for each activity.</a:t>
            </a:r>
          </a:p>
        </p:txBody>
      </p:sp>
    </p:spTree>
    <p:extLst>
      <p:ext uri="{BB962C8B-B14F-4D97-AF65-F5344CB8AC3E}">
        <p14:creationId xmlns:p14="http://schemas.microsoft.com/office/powerpoint/2010/main" val="208413566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a:t>Critical Path:</a:t>
            </a:r>
            <a:endParaRPr lang="en-IN" dirty="0"/>
          </a:p>
        </p:txBody>
      </p:sp>
      <p:pic>
        <p:nvPicPr>
          <p:cNvPr id="7170" name="Picture 2" descr="https://media.geeksforgeeks.org/wp-content/uploads/20190510203214/aon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 y="1556792"/>
            <a:ext cx="9163050" cy="489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128668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Question to solve</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85355671"/>
              </p:ext>
            </p:extLst>
          </p:nvPr>
        </p:nvGraphicFramePr>
        <p:xfrm>
          <a:off x="1435100" y="1447800"/>
          <a:ext cx="7499349" cy="2595880"/>
        </p:xfrm>
        <a:graphic>
          <a:graphicData uri="http://schemas.openxmlformats.org/drawingml/2006/table">
            <a:tbl>
              <a:tblPr firstRow="1" bandRow="1">
                <a:tableStyleId>{5C22544A-7EE6-4342-B048-85BDC9FD1C3A}</a:tableStyleId>
              </a:tblPr>
              <a:tblGrid>
                <a:gridCol w="2499783"/>
                <a:gridCol w="2499783"/>
                <a:gridCol w="2499783"/>
              </a:tblGrid>
              <a:tr h="370840">
                <a:tc>
                  <a:txBody>
                    <a:bodyPr/>
                    <a:lstStyle/>
                    <a:p>
                      <a:r>
                        <a:rPr lang="en-US" dirty="0" smtClean="0"/>
                        <a:t>Activity</a:t>
                      </a:r>
                      <a:endParaRPr lang="en-IN" dirty="0"/>
                    </a:p>
                  </a:txBody>
                  <a:tcPr marL="83326" marR="83326"/>
                </a:tc>
                <a:tc>
                  <a:txBody>
                    <a:bodyPr/>
                    <a:lstStyle/>
                    <a:p>
                      <a:r>
                        <a:rPr lang="en-US" dirty="0" smtClean="0"/>
                        <a:t>Predecessor </a:t>
                      </a:r>
                      <a:endParaRPr lang="en-IN" dirty="0"/>
                    </a:p>
                  </a:txBody>
                  <a:tcPr marL="83326" marR="83326"/>
                </a:tc>
                <a:tc>
                  <a:txBody>
                    <a:bodyPr/>
                    <a:lstStyle/>
                    <a:p>
                      <a:r>
                        <a:rPr lang="en-US" dirty="0" smtClean="0"/>
                        <a:t>Duration</a:t>
                      </a:r>
                      <a:endParaRPr lang="en-IN" dirty="0"/>
                    </a:p>
                  </a:txBody>
                  <a:tcPr marL="83326" marR="83326"/>
                </a:tc>
              </a:tr>
              <a:tr h="370840">
                <a:tc>
                  <a:txBody>
                    <a:bodyPr/>
                    <a:lstStyle/>
                    <a:p>
                      <a:r>
                        <a:rPr lang="en-US" dirty="0" smtClean="0"/>
                        <a:t>A</a:t>
                      </a:r>
                      <a:endParaRPr lang="en-IN" dirty="0"/>
                    </a:p>
                  </a:txBody>
                  <a:tcPr marL="83326" marR="83326"/>
                </a:tc>
                <a:tc>
                  <a:txBody>
                    <a:bodyPr/>
                    <a:lstStyle/>
                    <a:p>
                      <a:r>
                        <a:rPr lang="en-US" dirty="0" smtClean="0"/>
                        <a:t>--</a:t>
                      </a:r>
                      <a:endParaRPr lang="en-IN" dirty="0"/>
                    </a:p>
                  </a:txBody>
                  <a:tcPr marL="83326" marR="83326"/>
                </a:tc>
                <a:tc>
                  <a:txBody>
                    <a:bodyPr/>
                    <a:lstStyle/>
                    <a:p>
                      <a:r>
                        <a:rPr lang="en-US" dirty="0" smtClean="0"/>
                        <a:t>5</a:t>
                      </a:r>
                      <a:endParaRPr lang="en-IN" dirty="0"/>
                    </a:p>
                  </a:txBody>
                  <a:tcPr marL="83326" marR="83326"/>
                </a:tc>
              </a:tr>
              <a:tr h="370840">
                <a:tc>
                  <a:txBody>
                    <a:bodyPr/>
                    <a:lstStyle/>
                    <a:p>
                      <a:r>
                        <a:rPr lang="en-US" dirty="0" smtClean="0"/>
                        <a:t>B</a:t>
                      </a:r>
                      <a:endParaRPr lang="en-IN" dirty="0"/>
                    </a:p>
                  </a:txBody>
                  <a:tcPr marL="83326" marR="83326"/>
                </a:tc>
                <a:tc>
                  <a:txBody>
                    <a:bodyPr/>
                    <a:lstStyle/>
                    <a:p>
                      <a:r>
                        <a:rPr lang="en-US" dirty="0" smtClean="0"/>
                        <a:t>A</a:t>
                      </a:r>
                      <a:endParaRPr lang="en-IN" dirty="0"/>
                    </a:p>
                  </a:txBody>
                  <a:tcPr marL="83326" marR="83326"/>
                </a:tc>
                <a:tc>
                  <a:txBody>
                    <a:bodyPr/>
                    <a:lstStyle/>
                    <a:p>
                      <a:r>
                        <a:rPr lang="en-US" dirty="0" smtClean="0"/>
                        <a:t>4</a:t>
                      </a:r>
                      <a:endParaRPr lang="en-IN" dirty="0"/>
                    </a:p>
                  </a:txBody>
                  <a:tcPr marL="83326" marR="83326"/>
                </a:tc>
              </a:tr>
              <a:tr h="370840">
                <a:tc>
                  <a:txBody>
                    <a:bodyPr/>
                    <a:lstStyle/>
                    <a:p>
                      <a:r>
                        <a:rPr lang="en-US" dirty="0" smtClean="0"/>
                        <a:t>C</a:t>
                      </a:r>
                      <a:endParaRPr lang="en-IN" dirty="0"/>
                    </a:p>
                  </a:txBody>
                  <a:tcPr marL="83326" marR="83326"/>
                </a:tc>
                <a:tc>
                  <a:txBody>
                    <a:bodyPr/>
                    <a:lstStyle/>
                    <a:p>
                      <a:r>
                        <a:rPr lang="en-US" dirty="0" smtClean="0"/>
                        <a:t>A</a:t>
                      </a:r>
                      <a:endParaRPr lang="en-IN" dirty="0"/>
                    </a:p>
                  </a:txBody>
                  <a:tcPr marL="83326" marR="83326"/>
                </a:tc>
                <a:tc>
                  <a:txBody>
                    <a:bodyPr/>
                    <a:lstStyle/>
                    <a:p>
                      <a:r>
                        <a:rPr lang="en-US" dirty="0" smtClean="0"/>
                        <a:t>5</a:t>
                      </a:r>
                      <a:endParaRPr lang="en-IN" dirty="0"/>
                    </a:p>
                  </a:txBody>
                  <a:tcPr marL="83326" marR="83326"/>
                </a:tc>
              </a:tr>
              <a:tr h="370840">
                <a:tc>
                  <a:txBody>
                    <a:bodyPr/>
                    <a:lstStyle/>
                    <a:p>
                      <a:r>
                        <a:rPr lang="en-US" dirty="0" smtClean="0"/>
                        <a:t>D</a:t>
                      </a:r>
                      <a:endParaRPr lang="en-IN" dirty="0"/>
                    </a:p>
                  </a:txBody>
                  <a:tcPr marL="83326" marR="83326"/>
                </a:tc>
                <a:tc>
                  <a:txBody>
                    <a:bodyPr/>
                    <a:lstStyle/>
                    <a:p>
                      <a:r>
                        <a:rPr lang="en-US" dirty="0" smtClean="0"/>
                        <a:t>B</a:t>
                      </a:r>
                      <a:endParaRPr lang="en-IN" dirty="0"/>
                    </a:p>
                  </a:txBody>
                  <a:tcPr marL="83326" marR="83326"/>
                </a:tc>
                <a:tc>
                  <a:txBody>
                    <a:bodyPr/>
                    <a:lstStyle/>
                    <a:p>
                      <a:r>
                        <a:rPr lang="en-US" dirty="0" smtClean="0"/>
                        <a:t>6</a:t>
                      </a:r>
                      <a:endParaRPr lang="en-IN" dirty="0"/>
                    </a:p>
                  </a:txBody>
                  <a:tcPr marL="83326" marR="83326"/>
                </a:tc>
              </a:tr>
              <a:tr h="370840">
                <a:tc>
                  <a:txBody>
                    <a:bodyPr/>
                    <a:lstStyle/>
                    <a:p>
                      <a:r>
                        <a:rPr lang="en-US" dirty="0" smtClean="0"/>
                        <a:t>E</a:t>
                      </a:r>
                      <a:endParaRPr lang="en-IN" dirty="0"/>
                    </a:p>
                  </a:txBody>
                  <a:tcPr marL="83326" marR="83326"/>
                </a:tc>
                <a:tc>
                  <a:txBody>
                    <a:bodyPr/>
                    <a:lstStyle/>
                    <a:p>
                      <a:r>
                        <a:rPr lang="en-US" dirty="0" smtClean="0"/>
                        <a:t>C</a:t>
                      </a:r>
                      <a:endParaRPr lang="en-IN" dirty="0"/>
                    </a:p>
                  </a:txBody>
                  <a:tcPr marL="83326" marR="83326"/>
                </a:tc>
                <a:tc>
                  <a:txBody>
                    <a:bodyPr/>
                    <a:lstStyle/>
                    <a:p>
                      <a:r>
                        <a:rPr lang="en-US" dirty="0" smtClean="0"/>
                        <a:t>3</a:t>
                      </a:r>
                      <a:endParaRPr lang="en-IN" dirty="0"/>
                    </a:p>
                  </a:txBody>
                  <a:tcPr marL="83326" marR="83326"/>
                </a:tc>
              </a:tr>
              <a:tr h="370840">
                <a:tc>
                  <a:txBody>
                    <a:bodyPr/>
                    <a:lstStyle/>
                    <a:p>
                      <a:r>
                        <a:rPr lang="en-US" dirty="0" smtClean="0"/>
                        <a:t>F</a:t>
                      </a:r>
                      <a:endParaRPr lang="en-IN" dirty="0"/>
                    </a:p>
                  </a:txBody>
                  <a:tcPr marL="83326" marR="83326"/>
                </a:tc>
                <a:tc>
                  <a:txBody>
                    <a:bodyPr/>
                    <a:lstStyle/>
                    <a:p>
                      <a:r>
                        <a:rPr lang="en-US" dirty="0" smtClean="0"/>
                        <a:t>D,E</a:t>
                      </a:r>
                      <a:endParaRPr lang="en-IN" dirty="0"/>
                    </a:p>
                  </a:txBody>
                  <a:tcPr marL="83326" marR="83326"/>
                </a:tc>
                <a:tc>
                  <a:txBody>
                    <a:bodyPr/>
                    <a:lstStyle/>
                    <a:p>
                      <a:r>
                        <a:rPr lang="en-US" dirty="0" smtClean="0"/>
                        <a:t>4</a:t>
                      </a:r>
                      <a:endParaRPr lang="en-IN" dirty="0"/>
                    </a:p>
                  </a:txBody>
                  <a:tcPr marL="83326" marR="83326"/>
                </a:tc>
              </a:tr>
            </a:tbl>
          </a:graphicData>
        </a:graphic>
      </p:graphicFrame>
      <p:sp>
        <p:nvSpPr>
          <p:cNvPr id="5" name="TextBox 4"/>
          <p:cNvSpPr txBox="1"/>
          <p:nvPr/>
        </p:nvSpPr>
        <p:spPr>
          <a:xfrm>
            <a:off x="1403648" y="4437112"/>
            <a:ext cx="5976664" cy="1754326"/>
          </a:xfrm>
          <a:prstGeom prst="rect">
            <a:avLst/>
          </a:prstGeom>
          <a:noFill/>
        </p:spPr>
        <p:txBody>
          <a:bodyPr wrap="square" rtlCol="0">
            <a:spAutoFit/>
          </a:bodyPr>
          <a:lstStyle/>
          <a:p>
            <a:r>
              <a:rPr lang="en-US" b="1" dirty="0" smtClean="0"/>
              <a:t>Which one is the Critical Path?</a:t>
            </a:r>
          </a:p>
          <a:p>
            <a:endParaRPr lang="en-US" b="1" dirty="0"/>
          </a:p>
          <a:p>
            <a:pPr marL="342900" indent="-342900">
              <a:buFont typeface="+mj-lt"/>
              <a:buAutoNum type="arabicPeriod"/>
            </a:pPr>
            <a:r>
              <a:rPr lang="en-US" b="1" dirty="0" smtClean="0"/>
              <a:t>A-C-E-F</a:t>
            </a:r>
          </a:p>
          <a:p>
            <a:pPr marL="342900" indent="-342900">
              <a:buFont typeface="+mj-lt"/>
              <a:buAutoNum type="arabicPeriod"/>
            </a:pPr>
            <a:r>
              <a:rPr lang="en-US" b="1" dirty="0" smtClean="0"/>
              <a:t>A-B-D-F</a:t>
            </a:r>
          </a:p>
          <a:p>
            <a:pPr marL="342900" indent="-342900">
              <a:buFont typeface="+mj-lt"/>
              <a:buAutoNum type="arabicPeriod"/>
            </a:pPr>
            <a:r>
              <a:rPr lang="en-US" b="1" dirty="0" smtClean="0"/>
              <a:t>A-B-E-F</a:t>
            </a:r>
          </a:p>
          <a:p>
            <a:pPr marL="342900" indent="-342900">
              <a:buFont typeface="+mj-lt"/>
              <a:buAutoNum type="arabicPeriod"/>
            </a:pPr>
            <a:r>
              <a:rPr lang="en-US" b="1" dirty="0" smtClean="0"/>
              <a:t>A-C-D-F</a:t>
            </a:r>
            <a:endParaRPr lang="en-IN" b="1" dirty="0"/>
          </a:p>
        </p:txBody>
      </p:sp>
    </p:spTree>
    <p:extLst>
      <p:ext uri="{BB962C8B-B14F-4D97-AF65-F5344CB8AC3E}">
        <p14:creationId xmlns:p14="http://schemas.microsoft.com/office/powerpoint/2010/main" val="269736685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fontAlgn="base"/>
            <a:r>
              <a:rPr lang="en-IN" b="1" dirty="0"/>
              <a:t>Project Evaluation and Review Technique (PERT)</a:t>
            </a:r>
          </a:p>
        </p:txBody>
      </p:sp>
      <p:sp>
        <p:nvSpPr>
          <p:cNvPr id="3" name="Content Placeholder 2"/>
          <p:cNvSpPr>
            <a:spLocks noGrp="1"/>
          </p:cNvSpPr>
          <p:nvPr>
            <p:ph idx="1"/>
          </p:nvPr>
        </p:nvSpPr>
        <p:spPr/>
        <p:txBody>
          <a:bodyPr/>
          <a:lstStyle/>
          <a:p>
            <a:pPr algn="just"/>
            <a:r>
              <a:rPr lang="en-IN" dirty="0"/>
              <a:t>PERT is appropriate technique which is used for the projects where the time required or needed to complete different activities are not known. </a:t>
            </a:r>
            <a:endParaRPr lang="en-IN" dirty="0" smtClean="0"/>
          </a:p>
          <a:p>
            <a:pPr algn="just"/>
            <a:r>
              <a:rPr lang="en-IN" dirty="0" smtClean="0"/>
              <a:t>PERT </a:t>
            </a:r>
            <a:r>
              <a:rPr lang="en-IN" dirty="0"/>
              <a:t>is majorly applied for scheduling, organization and integration of different tasks within a project. </a:t>
            </a:r>
            <a:endParaRPr lang="en-IN" dirty="0" smtClean="0"/>
          </a:p>
          <a:p>
            <a:pPr algn="just"/>
            <a:r>
              <a:rPr lang="en-IN" dirty="0" smtClean="0"/>
              <a:t>It </a:t>
            </a:r>
            <a:r>
              <a:rPr lang="en-IN" dirty="0"/>
              <a:t>provides the blueprint of project and is efficient technique for project evaluation .</a:t>
            </a:r>
          </a:p>
        </p:txBody>
      </p:sp>
    </p:spTree>
    <p:extLst>
      <p:ext uri="{BB962C8B-B14F-4D97-AF65-F5344CB8AC3E}">
        <p14:creationId xmlns:p14="http://schemas.microsoft.com/office/powerpoint/2010/main" val="216271036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effectLst/>
              </a:rPr>
              <a:t>A well-constructed PERT chart looks like this:</a:t>
            </a:r>
            <a:endParaRPr lang="en-IN" dirty="0"/>
          </a:p>
        </p:txBody>
      </p:sp>
      <p:sp>
        <p:nvSpPr>
          <p:cNvPr id="4" name="AutoShape 2" descr="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499514"/>
            <a:ext cx="7704856" cy="5045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952929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effectLst/>
              </a:rPr>
              <a:t>Characteristics of PERT:</a:t>
            </a:r>
            <a:endParaRPr lang="en-IN" dirty="0"/>
          </a:p>
        </p:txBody>
      </p:sp>
      <p:sp>
        <p:nvSpPr>
          <p:cNvPr id="3" name="Content Placeholder 2"/>
          <p:cNvSpPr>
            <a:spLocks noGrp="1"/>
          </p:cNvSpPr>
          <p:nvPr>
            <p:ph idx="1"/>
          </p:nvPr>
        </p:nvSpPr>
        <p:spPr/>
        <p:txBody>
          <a:bodyPr>
            <a:normAutofit fontScale="85000" lnSpcReduction="20000"/>
          </a:bodyPr>
          <a:lstStyle/>
          <a:p>
            <a:pPr algn="just" fontAlgn="base"/>
            <a:r>
              <a:rPr lang="en-IN" dirty="0"/>
              <a:t>It serves as a base for obtaining the important facts for implementing the decision-making.</a:t>
            </a:r>
          </a:p>
          <a:p>
            <a:pPr algn="just" fontAlgn="base"/>
            <a:r>
              <a:rPr lang="en-IN" dirty="0"/>
              <a:t>It forms the basis for all the planning activities.</a:t>
            </a:r>
          </a:p>
          <a:p>
            <a:pPr algn="just" fontAlgn="base"/>
            <a:r>
              <a:rPr lang="en-IN" dirty="0"/>
              <a:t>PERT helps management in deciding the best possible resource utilization method.</a:t>
            </a:r>
          </a:p>
          <a:p>
            <a:pPr algn="just" fontAlgn="base"/>
            <a:r>
              <a:rPr lang="en-IN" dirty="0"/>
              <a:t>PERT take advantage by using time network analysis technique.</a:t>
            </a:r>
          </a:p>
          <a:p>
            <a:pPr algn="just" fontAlgn="base"/>
            <a:r>
              <a:rPr lang="en-IN" dirty="0"/>
              <a:t>PERT presents the structure for reporting information.</a:t>
            </a:r>
          </a:p>
          <a:p>
            <a:pPr algn="just" fontAlgn="base"/>
            <a:r>
              <a:rPr lang="en-IN" dirty="0"/>
              <a:t>It helps the management in identifying the essential elements for the completion of the project within time.</a:t>
            </a:r>
          </a:p>
          <a:p>
            <a:pPr algn="just"/>
            <a:endParaRPr lang="en-IN" dirty="0"/>
          </a:p>
        </p:txBody>
      </p:sp>
    </p:spTree>
    <p:extLst>
      <p:ext uri="{BB962C8B-B14F-4D97-AF65-F5344CB8AC3E}">
        <p14:creationId xmlns:p14="http://schemas.microsoft.com/office/powerpoint/2010/main" val="326351555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types of times</a:t>
            </a:r>
            <a:endParaRPr lang="en-IN" dirty="0"/>
          </a:p>
        </p:txBody>
      </p:sp>
      <p:sp>
        <p:nvSpPr>
          <p:cNvPr id="3" name="Content Placeholder 2"/>
          <p:cNvSpPr>
            <a:spLocks noGrp="1"/>
          </p:cNvSpPr>
          <p:nvPr>
            <p:ph idx="1"/>
          </p:nvPr>
        </p:nvSpPr>
        <p:spPr/>
        <p:txBody>
          <a:bodyPr>
            <a:normAutofit fontScale="62500" lnSpcReduction="20000"/>
          </a:bodyPr>
          <a:lstStyle/>
          <a:p>
            <a:pPr algn="just"/>
            <a:endParaRPr lang="en-IN" dirty="0"/>
          </a:p>
          <a:p>
            <a:pPr algn="just"/>
            <a:r>
              <a:rPr lang="en-IN" b="1" dirty="0" smtClean="0"/>
              <a:t>Optimistic </a:t>
            </a:r>
            <a:r>
              <a:rPr lang="en-IN" b="1" dirty="0"/>
              <a:t>time </a:t>
            </a:r>
            <a:r>
              <a:rPr lang="en-IN" dirty="0"/>
              <a:t>– It is the </a:t>
            </a:r>
            <a:r>
              <a:rPr lang="en-IN" dirty="0">
                <a:solidFill>
                  <a:srgbClr val="FF0000"/>
                </a:solidFill>
              </a:rPr>
              <a:t>shortest possible time </a:t>
            </a:r>
            <a:r>
              <a:rPr lang="en-IN" dirty="0"/>
              <a:t>in which the activity can be finished. It assumes that every thing goes very well. This is denoted by t</a:t>
            </a:r>
            <a:r>
              <a:rPr lang="en-IN" baseline="-25000" dirty="0"/>
              <a:t>0</a:t>
            </a:r>
            <a:r>
              <a:rPr lang="en-IN" dirty="0"/>
              <a:t>. </a:t>
            </a:r>
            <a:endParaRPr lang="en-IN" dirty="0" smtClean="0"/>
          </a:p>
          <a:p>
            <a:pPr algn="just"/>
            <a:endParaRPr lang="en-IN" dirty="0"/>
          </a:p>
          <a:p>
            <a:pPr algn="just"/>
            <a:r>
              <a:rPr lang="en-IN" b="1" dirty="0" smtClean="0"/>
              <a:t>Most </a:t>
            </a:r>
            <a:r>
              <a:rPr lang="en-IN" b="1" dirty="0"/>
              <a:t>likely time </a:t>
            </a:r>
            <a:r>
              <a:rPr lang="en-IN" dirty="0"/>
              <a:t>– It is the estimate of the </a:t>
            </a:r>
            <a:r>
              <a:rPr lang="en-IN" dirty="0">
                <a:solidFill>
                  <a:srgbClr val="FF0000"/>
                </a:solidFill>
              </a:rPr>
              <a:t>normal time </a:t>
            </a:r>
            <a:r>
              <a:rPr lang="en-IN" dirty="0"/>
              <a:t>the activity would take. This assumes normal delays. If a graph is plotted in the time of completion and the frequency of completion in that time period, then most likely time will represent the highest frequency of occurrence. This is denoted by t</a:t>
            </a:r>
            <a:r>
              <a:rPr lang="en-IN" baseline="-25000" dirty="0"/>
              <a:t>m</a:t>
            </a:r>
            <a:r>
              <a:rPr lang="en-IN" dirty="0"/>
              <a:t>. </a:t>
            </a:r>
            <a:endParaRPr lang="en-IN" dirty="0" smtClean="0"/>
          </a:p>
          <a:p>
            <a:pPr algn="just"/>
            <a:endParaRPr lang="en-IN" dirty="0"/>
          </a:p>
          <a:p>
            <a:r>
              <a:rPr lang="en-IN" b="1" dirty="0" smtClean="0"/>
              <a:t>Pessimistic </a:t>
            </a:r>
            <a:r>
              <a:rPr lang="en-IN" b="1" dirty="0"/>
              <a:t>time </a:t>
            </a:r>
            <a:r>
              <a:rPr lang="en-IN" dirty="0"/>
              <a:t>– It represents the </a:t>
            </a:r>
            <a:r>
              <a:rPr lang="en-IN" dirty="0">
                <a:solidFill>
                  <a:srgbClr val="FF0000"/>
                </a:solidFill>
              </a:rPr>
              <a:t>longest time </a:t>
            </a:r>
            <a:r>
              <a:rPr lang="en-IN" dirty="0"/>
              <a:t>the activity could take if everything goes wrong. As in optimistic estimate, this value may be such that </a:t>
            </a:r>
            <a:r>
              <a:rPr lang="en-IN" dirty="0" smtClean="0"/>
              <a:t>only </a:t>
            </a:r>
            <a:r>
              <a:rPr lang="en-IN" dirty="0"/>
              <a:t>one in hundred or one in twenty will take time longer than this value. This is denoted by tp. </a:t>
            </a:r>
          </a:p>
          <a:p>
            <a:pPr algn="just"/>
            <a:endParaRPr lang="en-IN" dirty="0"/>
          </a:p>
          <a:p>
            <a:pPr algn="just"/>
            <a:endParaRPr lang="en-IN" dirty="0"/>
          </a:p>
        </p:txBody>
      </p:sp>
    </p:spTree>
    <p:extLst>
      <p:ext uri="{BB962C8B-B14F-4D97-AF65-F5344CB8AC3E}">
        <p14:creationId xmlns:p14="http://schemas.microsoft.com/office/powerpoint/2010/main" val="221111724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7624" y="332656"/>
            <a:ext cx="7498080" cy="5832648"/>
          </a:xfrm>
        </p:spPr>
        <p:txBody>
          <a:bodyPr>
            <a:normAutofit fontScale="85000" lnSpcReduction="20000"/>
          </a:bodyPr>
          <a:lstStyle/>
          <a:p>
            <a:pPr marL="82296" indent="0" algn="just">
              <a:buNone/>
            </a:pPr>
            <a:r>
              <a:rPr lang="en-IN" dirty="0"/>
              <a:t>In PERT calculation, all values are used to obtain the </a:t>
            </a:r>
            <a:r>
              <a:rPr lang="en-IN" dirty="0" err="1"/>
              <a:t>percent</a:t>
            </a:r>
            <a:r>
              <a:rPr lang="en-IN" dirty="0"/>
              <a:t> expected value. </a:t>
            </a:r>
            <a:r>
              <a:rPr lang="en-IN" dirty="0" smtClean="0"/>
              <a:t> PERT is probabilistic method.</a:t>
            </a:r>
          </a:p>
          <a:p>
            <a:pPr marL="82296" indent="0">
              <a:buNone/>
            </a:pPr>
            <a:endParaRPr lang="en-IN" dirty="0" smtClean="0"/>
          </a:p>
          <a:p>
            <a:pPr algn="just"/>
            <a:r>
              <a:rPr lang="en-IN" b="1" dirty="0" smtClean="0"/>
              <a:t>Expected </a:t>
            </a:r>
            <a:r>
              <a:rPr lang="en-IN" b="1" dirty="0"/>
              <a:t>time </a:t>
            </a:r>
            <a:r>
              <a:rPr lang="en-IN" dirty="0"/>
              <a:t>– It is the average time an activity will take if it were to be repeated on large number of times and is based on the assumption that the activity time follows Beta distribution, this is given by </a:t>
            </a:r>
            <a:endParaRPr lang="en-IN" dirty="0" smtClean="0"/>
          </a:p>
          <a:p>
            <a:pPr algn="just"/>
            <a:endParaRPr lang="en-IN" dirty="0" smtClean="0"/>
          </a:p>
          <a:p>
            <a:pPr marL="82296" indent="0" algn="ctr">
              <a:buNone/>
            </a:pPr>
            <a:r>
              <a:rPr lang="de-DE" dirty="0"/>
              <a:t>t</a:t>
            </a:r>
            <a:r>
              <a:rPr lang="de-DE" baseline="-25000" dirty="0"/>
              <a:t>e</a:t>
            </a:r>
            <a:r>
              <a:rPr lang="de-DE" dirty="0"/>
              <a:t> = ( t</a:t>
            </a:r>
            <a:r>
              <a:rPr lang="de-DE" baseline="-25000" dirty="0"/>
              <a:t>0</a:t>
            </a:r>
            <a:r>
              <a:rPr lang="de-DE" dirty="0"/>
              <a:t> + 4 t</a:t>
            </a:r>
            <a:r>
              <a:rPr lang="de-DE" baseline="-25000" dirty="0"/>
              <a:t>m</a:t>
            </a:r>
            <a:r>
              <a:rPr lang="de-DE" dirty="0"/>
              <a:t> + t</a:t>
            </a:r>
            <a:r>
              <a:rPr lang="de-DE" baseline="-25000" dirty="0"/>
              <a:t>p </a:t>
            </a:r>
            <a:r>
              <a:rPr lang="de-DE" dirty="0"/>
              <a:t>) / 6 </a:t>
            </a:r>
            <a:endParaRPr lang="de-DE" dirty="0" smtClean="0"/>
          </a:p>
          <a:p>
            <a:endParaRPr lang="en-IN" dirty="0"/>
          </a:p>
          <a:p>
            <a:r>
              <a:rPr lang="en-IN" dirty="0"/>
              <a:t>The </a:t>
            </a:r>
            <a:r>
              <a:rPr lang="en-IN" b="1" dirty="0"/>
              <a:t>variance </a:t>
            </a:r>
            <a:r>
              <a:rPr lang="en-IN" dirty="0"/>
              <a:t>for the activity is given by </a:t>
            </a:r>
          </a:p>
          <a:p>
            <a:pPr marL="82296" indent="0" algn="ctr">
              <a:buNone/>
            </a:pPr>
            <a:endParaRPr lang="en-IN" dirty="0" smtClean="0"/>
          </a:p>
          <a:p>
            <a:pPr marL="82296" indent="0" algn="ctr">
              <a:buNone/>
            </a:pPr>
            <a:r>
              <a:rPr lang="en-IN" dirty="0" smtClean="0"/>
              <a:t>σ</a:t>
            </a:r>
            <a:r>
              <a:rPr lang="en-IN" baseline="30000" dirty="0" smtClean="0"/>
              <a:t>2</a:t>
            </a:r>
            <a:r>
              <a:rPr lang="en-IN" dirty="0" smtClean="0"/>
              <a:t> </a:t>
            </a:r>
            <a:r>
              <a:rPr lang="en-IN" dirty="0"/>
              <a:t>= [(</a:t>
            </a:r>
            <a:r>
              <a:rPr lang="en-IN" dirty="0" err="1"/>
              <a:t>t</a:t>
            </a:r>
            <a:r>
              <a:rPr lang="en-IN" baseline="-25000" dirty="0" err="1"/>
              <a:t>p</a:t>
            </a:r>
            <a:r>
              <a:rPr lang="en-IN" dirty="0"/>
              <a:t> – t</a:t>
            </a:r>
            <a:r>
              <a:rPr lang="en-IN" baseline="-25000" dirty="0"/>
              <a:t>o</a:t>
            </a:r>
            <a:r>
              <a:rPr lang="en-IN" dirty="0"/>
              <a:t>) / 6] </a:t>
            </a:r>
            <a:r>
              <a:rPr lang="en-IN" baseline="30000" dirty="0"/>
              <a:t>2</a:t>
            </a:r>
            <a:r>
              <a:rPr lang="en-IN" dirty="0"/>
              <a:t> </a:t>
            </a:r>
          </a:p>
          <a:p>
            <a:pPr marL="82296" indent="0">
              <a:buNone/>
            </a:pPr>
            <a:endParaRPr lang="en-IN" dirty="0"/>
          </a:p>
        </p:txBody>
      </p:sp>
    </p:spTree>
    <p:extLst>
      <p:ext uri="{BB962C8B-B14F-4D97-AF65-F5344CB8AC3E}">
        <p14:creationId xmlns:p14="http://schemas.microsoft.com/office/powerpoint/2010/main" val="170761713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Example 1 </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4159808864"/>
              </p:ext>
            </p:extLst>
          </p:nvPr>
        </p:nvGraphicFramePr>
        <p:xfrm>
          <a:off x="1524000" y="1478411"/>
          <a:ext cx="7152456" cy="3886069"/>
        </p:xfrm>
        <a:graphic>
          <a:graphicData uri="http://schemas.openxmlformats.org/drawingml/2006/table">
            <a:tbl>
              <a:tblPr firstRow="1" bandRow="1">
                <a:tableStyleId>{5C22544A-7EE6-4342-B048-85BDC9FD1C3A}</a:tableStyleId>
              </a:tblPr>
              <a:tblGrid>
                <a:gridCol w="1463824"/>
                <a:gridCol w="1944216"/>
                <a:gridCol w="1956302"/>
                <a:gridCol w="1788114"/>
              </a:tblGrid>
              <a:tr h="594229">
                <a:tc>
                  <a:txBody>
                    <a:bodyPr/>
                    <a:lstStyle/>
                    <a:p>
                      <a:r>
                        <a:rPr lang="en-US" sz="1600" dirty="0" smtClean="0"/>
                        <a:t>ACTIVITY</a:t>
                      </a:r>
                      <a:endParaRPr lang="en-IN" sz="1600" dirty="0"/>
                    </a:p>
                  </a:txBody>
                  <a:tcPr/>
                </a:tc>
                <a:tc>
                  <a:txBody>
                    <a:bodyPr/>
                    <a:lstStyle/>
                    <a:p>
                      <a:r>
                        <a:rPr lang="en-US" dirty="0" smtClean="0"/>
                        <a:t>OPTIMISTIC</a:t>
                      </a:r>
                      <a:endParaRPr lang="en-IN" dirty="0"/>
                    </a:p>
                  </a:txBody>
                  <a:tcPr/>
                </a:tc>
                <a:tc>
                  <a:txBody>
                    <a:bodyPr/>
                    <a:lstStyle/>
                    <a:p>
                      <a:r>
                        <a:rPr lang="en-US" dirty="0" smtClean="0"/>
                        <a:t>MOST LIEKLY</a:t>
                      </a:r>
                      <a:endParaRPr lang="en-IN" dirty="0"/>
                    </a:p>
                  </a:txBody>
                  <a:tcPr/>
                </a:tc>
                <a:tc>
                  <a:txBody>
                    <a:bodyPr/>
                    <a:lstStyle/>
                    <a:p>
                      <a:r>
                        <a:rPr lang="en-US" dirty="0" smtClean="0"/>
                        <a:t>PESSIMISTIC</a:t>
                      </a:r>
                      <a:endParaRPr lang="en-IN" dirty="0"/>
                    </a:p>
                  </a:txBody>
                  <a:tcPr/>
                </a:tc>
              </a:tr>
              <a:tr h="344276">
                <a:tc>
                  <a:txBody>
                    <a:bodyPr/>
                    <a:lstStyle/>
                    <a:p>
                      <a:pPr algn="ctr"/>
                      <a:r>
                        <a:rPr lang="en-US" dirty="0" smtClean="0"/>
                        <a:t>1-2</a:t>
                      </a:r>
                      <a:endParaRPr lang="en-IN" dirty="0"/>
                    </a:p>
                  </a:txBody>
                  <a:tcPr/>
                </a:tc>
                <a:tc>
                  <a:txBody>
                    <a:bodyPr/>
                    <a:lstStyle/>
                    <a:p>
                      <a:pPr algn="ctr"/>
                      <a:r>
                        <a:rPr lang="en-US" dirty="0" smtClean="0"/>
                        <a:t>1</a:t>
                      </a:r>
                      <a:endParaRPr lang="en-IN" dirty="0"/>
                    </a:p>
                  </a:txBody>
                  <a:tcPr/>
                </a:tc>
                <a:tc>
                  <a:txBody>
                    <a:bodyPr/>
                    <a:lstStyle/>
                    <a:p>
                      <a:pPr algn="ctr"/>
                      <a:r>
                        <a:rPr lang="en-US" dirty="0" smtClean="0"/>
                        <a:t>7</a:t>
                      </a:r>
                      <a:endParaRPr lang="en-IN" dirty="0"/>
                    </a:p>
                  </a:txBody>
                  <a:tcPr/>
                </a:tc>
                <a:tc>
                  <a:txBody>
                    <a:bodyPr/>
                    <a:lstStyle/>
                    <a:p>
                      <a:pPr algn="ctr"/>
                      <a:r>
                        <a:rPr lang="en-US" dirty="0" smtClean="0"/>
                        <a:t>13</a:t>
                      </a:r>
                      <a:endParaRPr lang="en-IN" dirty="0"/>
                    </a:p>
                  </a:txBody>
                  <a:tcPr/>
                </a:tc>
              </a:tr>
              <a:tr h="344276">
                <a:tc>
                  <a:txBody>
                    <a:bodyPr/>
                    <a:lstStyle/>
                    <a:p>
                      <a:pPr algn="ctr"/>
                      <a:r>
                        <a:rPr lang="en-US" dirty="0" smtClean="0"/>
                        <a:t>1-6</a:t>
                      </a:r>
                      <a:endParaRPr lang="en-IN" dirty="0"/>
                    </a:p>
                  </a:txBody>
                  <a:tcPr/>
                </a:tc>
                <a:tc>
                  <a:txBody>
                    <a:bodyPr/>
                    <a:lstStyle/>
                    <a:p>
                      <a:pPr algn="ctr"/>
                      <a:r>
                        <a:rPr lang="en-US" dirty="0" smtClean="0"/>
                        <a:t>2</a:t>
                      </a:r>
                      <a:endParaRPr lang="en-IN" dirty="0"/>
                    </a:p>
                  </a:txBody>
                  <a:tcPr/>
                </a:tc>
                <a:tc>
                  <a:txBody>
                    <a:bodyPr/>
                    <a:lstStyle/>
                    <a:p>
                      <a:pPr algn="ctr"/>
                      <a:r>
                        <a:rPr lang="en-US" dirty="0" smtClean="0"/>
                        <a:t>5</a:t>
                      </a:r>
                      <a:endParaRPr lang="en-IN" dirty="0"/>
                    </a:p>
                  </a:txBody>
                  <a:tcPr/>
                </a:tc>
                <a:tc>
                  <a:txBody>
                    <a:bodyPr/>
                    <a:lstStyle/>
                    <a:p>
                      <a:pPr algn="ctr"/>
                      <a:r>
                        <a:rPr lang="en-US" dirty="0" smtClean="0"/>
                        <a:t>14</a:t>
                      </a:r>
                      <a:endParaRPr lang="en-IN" dirty="0"/>
                    </a:p>
                  </a:txBody>
                  <a:tcPr/>
                </a:tc>
              </a:tr>
              <a:tr h="344276">
                <a:tc>
                  <a:txBody>
                    <a:bodyPr/>
                    <a:lstStyle/>
                    <a:p>
                      <a:pPr algn="ctr"/>
                      <a:r>
                        <a:rPr lang="en-US" dirty="0" smtClean="0"/>
                        <a:t>2-3</a:t>
                      </a:r>
                      <a:endParaRPr lang="en-IN" dirty="0"/>
                    </a:p>
                  </a:txBody>
                  <a:tcPr/>
                </a:tc>
                <a:tc>
                  <a:txBody>
                    <a:bodyPr/>
                    <a:lstStyle/>
                    <a:p>
                      <a:pPr algn="ctr"/>
                      <a:r>
                        <a:rPr lang="en-US" dirty="0" smtClean="0"/>
                        <a:t>2</a:t>
                      </a:r>
                      <a:endParaRPr lang="en-IN" dirty="0"/>
                    </a:p>
                  </a:txBody>
                  <a:tcPr/>
                </a:tc>
                <a:tc>
                  <a:txBody>
                    <a:bodyPr/>
                    <a:lstStyle/>
                    <a:p>
                      <a:pPr algn="ctr"/>
                      <a:r>
                        <a:rPr lang="en-US" dirty="0" smtClean="0"/>
                        <a:t>14</a:t>
                      </a:r>
                      <a:endParaRPr lang="en-IN" dirty="0"/>
                    </a:p>
                  </a:txBody>
                  <a:tcPr/>
                </a:tc>
                <a:tc>
                  <a:txBody>
                    <a:bodyPr/>
                    <a:lstStyle/>
                    <a:p>
                      <a:pPr algn="ctr"/>
                      <a:r>
                        <a:rPr lang="en-US" dirty="0" smtClean="0"/>
                        <a:t>26</a:t>
                      </a:r>
                      <a:endParaRPr lang="en-IN" dirty="0"/>
                    </a:p>
                  </a:txBody>
                  <a:tcPr/>
                </a:tc>
              </a:tr>
              <a:tr h="344276">
                <a:tc>
                  <a:txBody>
                    <a:bodyPr/>
                    <a:lstStyle/>
                    <a:p>
                      <a:pPr algn="ctr"/>
                      <a:r>
                        <a:rPr lang="en-US" dirty="0" smtClean="0"/>
                        <a:t>2-4</a:t>
                      </a:r>
                      <a:endParaRPr lang="en-IN" dirty="0"/>
                    </a:p>
                  </a:txBody>
                  <a:tcPr/>
                </a:tc>
                <a:tc>
                  <a:txBody>
                    <a:bodyPr/>
                    <a:lstStyle/>
                    <a:p>
                      <a:pPr algn="ctr"/>
                      <a:r>
                        <a:rPr lang="en-US" dirty="0" smtClean="0"/>
                        <a:t>2</a:t>
                      </a:r>
                      <a:endParaRPr lang="en-IN" dirty="0"/>
                    </a:p>
                  </a:txBody>
                  <a:tcPr/>
                </a:tc>
                <a:tc>
                  <a:txBody>
                    <a:bodyPr/>
                    <a:lstStyle/>
                    <a:p>
                      <a:pPr algn="ctr"/>
                      <a:r>
                        <a:rPr lang="en-US" dirty="0" smtClean="0"/>
                        <a:t>5</a:t>
                      </a:r>
                      <a:endParaRPr lang="en-IN" dirty="0"/>
                    </a:p>
                  </a:txBody>
                  <a:tcPr/>
                </a:tc>
                <a:tc>
                  <a:txBody>
                    <a:bodyPr/>
                    <a:lstStyle/>
                    <a:p>
                      <a:pPr algn="ctr"/>
                      <a:r>
                        <a:rPr lang="en-US" dirty="0" smtClean="0"/>
                        <a:t>8</a:t>
                      </a:r>
                      <a:endParaRPr lang="en-IN" dirty="0"/>
                    </a:p>
                  </a:txBody>
                  <a:tcPr/>
                </a:tc>
              </a:tr>
              <a:tr h="344276">
                <a:tc>
                  <a:txBody>
                    <a:bodyPr/>
                    <a:lstStyle/>
                    <a:p>
                      <a:pPr algn="ctr"/>
                      <a:r>
                        <a:rPr lang="en-US" dirty="0" smtClean="0"/>
                        <a:t>3-5</a:t>
                      </a:r>
                      <a:endParaRPr lang="en-IN" dirty="0"/>
                    </a:p>
                  </a:txBody>
                  <a:tcPr/>
                </a:tc>
                <a:tc>
                  <a:txBody>
                    <a:bodyPr/>
                    <a:lstStyle/>
                    <a:p>
                      <a:pPr algn="ctr"/>
                      <a:r>
                        <a:rPr lang="en-US" dirty="0" smtClean="0"/>
                        <a:t>7</a:t>
                      </a:r>
                      <a:endParaRPr lang="en-IN" dirty="0"/>
                    </a:p>
                  </a:txBody>
                  <a:tcPr/>
                </a:tc>
                <a:tc>
                  <a:txBody>
                    <a:bodyPr/>
                    <a:lstStyle/>
                    <a:p>
                      <a:pPr algn="ctr"/>
                      <a:r>
                        <a:rPr lang="en-US" dirty="0" smtClean="0"/>
                        <a:t>10</a:t>
                      </a:r>
                      <a:endParaRPr lang="en-IN" dirty="0"/>
                    </a:p>
                  </a:txBody>
                  <a:tcPr/>
                </a:tc>
                <a:tc>
                  <a:txBody>
                    <a:bodyPr/>
                    <a:lstStyle/>
                    <a:p>
                      <a:pPr algn="ctr"/>
                      <a:r>
                        <a:rPr lang="en-US" dirty="0" smtClean="0"/>
                        <a:t>9</a:t>
                      </a:r>
                      <a:endParaRPr lang="en-IN" dirty="0"/>
                    </a:p>
                  </a:txBody>
                  <a:tcPr/>
                </a:tc>
              </a:tr>
              <a:tr h="344276">
                <a:tc>
                  <a:txBody>
                    <a:bodyPr/>
                    <a:lstStyle/>
                    <a:p>
                      <a:pPr algn="ctr"/>
                      <a:r>
                        <a:rPr lang="en-US" dirty="0" smtClean="0"/>
                        <a:t>4-5</a:t>
                      </a:r>
                      <a:endParaRPr lang="en-IN" dirty="0"/>
                    </a:p>
                  </a:txBody>
                  <a:tcPr/>
                </a:tc>
                <a:tc>
                  <a:txBody>
                    <a:bodyPr/>
                    <a:lstStyle/>
                    <a:p>
                      <a:pPr algn="ctr"/>
                      <a:r>
                        <a:rPr lang="en-US" dirty="0" smtClean="0"/>
                        <a:t>5</a:t>
                      </a:r>
                      <a:endParaRPr lang="en-IN" dirty="0"/>
                    </a:p>
                  </a:txBody>
                  <a:tcPr/>
                </a:tc>
                <a:tc>
                  <a:txBody>
                    <a:bodyPr/>
                    <a:lstStyle/>
                    <a:p>
                      <a:pPr algn="ctr"/>
                      <a:r>
                        <a:rPr lang="en-US" dirty="0" smtClean="0"/>
                        <a:t>5</a:t>
                      </a:r>
                      <a:endParaRPr lang="en-IN" dirty="0"/>
                    </a:p>
                  </a:txBody>
                  <a:tcPr/>
                </a:tc>
                <a:tc>
                  <a:txBody>
                    <a:bodyPr/>
                    <a:lstStyle/>
                    <a:p>
                      <a:pPr algn="ctr"/>
                      <a:r>
                        <a:rPr lang="en-US" dirty="0" smtClean="0"/>
                        <a:t>7</a:t>
                      </a:r>
                      <a:endParaRPr lang="en-IN" dirty="0"/>
                    </a:p>
                  </a:txBody>
                  <a:tcPr/>
                </a:tc>
              </a:tr>
              <a:tr h="344276">
                <a:tc>
                  <a:txBody>
                    <a:bodyPr/>
                    <a:lstStyle/>
                    <a:p>
                      <a:pPr algn="ctr"/>
                      <a:r>
                        <a:rPr lang="en-US" dirty="0" smtClean="0"/>
                        <a:t>6-7</a:t>
                      </a:r>
                      <a:endParaRPr lang="en-IN" dirty="0"/>
                    </a:p>
                  </a:txBody>
                  <a:tcPr/>
                </a:tc>
                <a:tc>
                  <a:txBody>
                    <a:bodyPr/>
                    <a:lstStyle/>
                    <a:p>
                      <a:pPr algn="ctr"/>
                      <a:r>
                        <a:rPr lang="en-US" dirty="0" smtClean="0"/>
                        <a:t>5</a:t>
                      </a:r>
                      <a:endParaRPr lang="en-IN" dirty="0"/>
                    </a:p>
                  </a:txBody>
                  <a:tcPr/>
                </a:tc>
                <a:tc>
                  <a:txBody>
                    <a:bodyPr/>
                    <a:lstStyle/>
                    <a:p>
                      <a:pPr algn="ctr"/>
                      <a:r>
                        <a:rPr lang="en-US" dirty="0" smtClean="0"/>
                        <a:t>8</a:t>
                      </a:r>
                      <a:endParaRPr lang="en-IN" dirty="0"/>
                    </a:p>
                  </a:txBody>
                  <a:tcPr/>
                </a:tc>
                <a:tc>
                  <a:txBody>
                    <a:bodyPr/>
                    <a:lstStyle/>
                    <a:p>
                      <a:pPr algn="ctr"/>
                      <a:r>
                        <a:rPr lang="en-US" dirty="0" smtClean="0"/>
                        <a:t>29</a:t>
                      </a:r>
                      <a:endParaRPr lang="en-IN" dirty="0"/>
                    </a:p>
                  </a:txBody>
                  <a:tcPr/>
                </a:tc>
              </a:tr>
              <a:tr h="344276">
                <a:tc>
                  <a:txBody>
                    <a:bodyPr/>
                    <a:lstStyle/>
                    <a:p>
                      <a:pPr algn="ctr"/>
                      <a:r>
                        <a:rPr lang="en-US" dirty="0" smtClean="0"/>
                        <a:t>5-8</a:t>
                      </a:r>
                      <a:endParaRPr lang="en-IN" dirty="0"/>
                    </a:p>
                  </a:txBody>
                  <a:tcPr/>
                </a:tc>
                <a:tc>
                  <a:txBody>
                    <a:bodyPr/>
                    <a:lstStyle/>
                    <a:p>
                      <a:pPr algn="ctr"/>
                      <a:r>
                        <a:rPr lang="en-US" dirty="0" smtClean="0"/>
                        <a:t>3</a:t>
                      </a:r>
                      <a:endParaRPr lang="en-IN" dirty="0"/>
                    </a:p>
                  </a:txBody>
                  <a:tcPr/>
                </a:tc>
                <a:tc>
                  <a:txBody>
                    <a:bodyPr/>
                    <a:lstStyle/>
                    <a:p>
                      <a:pPr algn="ctr"/>
                      <a:r>
                        <a:rPr lang="en-US" dirty="0" smtClean="0"/>
                        <a:t>3</a:t>
                      </a:r>
                      <a:endParaRPr lang="en-IN" dirty="0"/>
                    </a:p>
                  </a:txBody>
                  <a:tcPr/>
                </a:tc>
                <a:tc>
                  <a:txBody>
                    <a:bodyPr/>
                    <a:lstStyle/>
                    <a:p>
                      <a:pPr algn="ctr"/>
                      <a:r>
                        <a:rPr lang="en-US" dirty="0" smtClean="0"/>
                        <a:t>9</a:t>
                      </a:r>
                      <a:endParaRPr lang="en-IN" dirty="0"/>
                    </a:p>
                  </a:txBody>
                  <a:tcPr/>
                </a:tc>
              </a:tr>
              <a:tr h="344276">
                <a:tc>
                  <a:txBody>
                    <a:bodyPr/>
                    <a:lstStyle/>
                    <a:p>
                      <a:pPr algn="ctr"/>
                      <a:r>
                        <a:rPr lang="en-US" dirty="0" smtClean="0"/>
                        <a:t>7-8</a:t>
                      </a:r>
                      <a:endParaRPr lang="en-IN" dirty="0"/>
                    </a:p>
                  </a:txBody>
                  <a:tcPr/>
                </a:tc>
                <a:tc>
                  <a:txBody>
                    <a:bodyPr/>
                    <a:lstStyle/>
                    <a:p>
                      <a:pPr algn="ctr"/>
                      <a:r>
                        <a:rPr lang="en-US" dirty="0" smtClean="0"/>
                        <a:t>8</a:t>
                      </a:r>
                      <a:endParaRPr lang="en-IN" dirty="0"/>
                    </a:p>
                  </a:txBody>
                  <a:tcPr/>
                </a:tc>
                <a:tc>
                  <a:txBody>
                    <a:bodyPr/>
                    <a:lstStyle/>
                    <a:p>
                      <a:pPr algn="ctr"/>
                      <a:r>
                        <a:rPr lang="en-US" dirty="0" smtClean="0"/>
                        <a:t>17</a:t>
                      </a:r>
                      <a:endParaRPr lang="en-IN" dirty="0"/>
                    </a:p>
                  </a:txBody>
                  <a:tcPr/>
                </a:tc>
                <a:tc>
                  <a:txBody>
                    <a:bodyPr/>
                    <a:lstStyle/>
                    <a:p>
                      <a:pPr algn="ctr"/>
                      <a:r>
                        <a:rPr lang="en-US" dirty="0" smtClean="0"/>
                        <a:t>32</a:t>
                      </a:r>
                      <a:endParaRPr lang="en-IN" dirty="0"/>
                    </a:p>
                  </a:txBody>
                  <a:tcPr/>
                </a:tc>
              </a:tr>
            </a:tbl>
          </a:graphicData>
        </a:graphic>
      </p:graphicFrame>
    </p:spTree>
    <p:extLst>
      <p:ext uri="{BB962C8B-B14F-4D97-AF65-F5344CB8AC3E}">
        <p14:creationId xmlns:p14="http://schemas.microsoft.com/office/powerpoint/2010/main" val="349811809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smtClean="0"/>
              <a:t>Questions</a:t>
            </a:r>
            <a:endParaRPr lang="en-IN" sz="2800" dirty="0"/>
          </a:p>
        </p:txBody>
      </p:sp>
      <p:sp>
        <p:nvSpPr>
          <p:cNvPr id="6" name="Content Placeholder 2"/>
          <p:cNvSpPr>
            <a:spLocks noGrp="1"/>
          </p:cNvSpPr>
          <p:nvPr>
            <p:ph idx="1"/>
          </p:nvPr>
        </p:nvSpPr>
        <p:spPr>
          <a:xfrm>
            <a:off x="1435608" y="1447800"/>
            <a:ext cx="7498080" cy="4800600"/>
          </a:xfrm>
        </p:spPr>
        <p:txBody>
          <a:bodyPr>
            <a:normAutofit fontScale="92500" lnSpcReduction="20000"/>
          </a:bodyPr>
          <a:lstStyle/>
          <a:p>
            <a:pPr marL="596646" indent="-514350" algn="just">
              <a:buFont typeface="+mj-lt"/>
              <a:buAutoNum type="arabicPeriod"/>
            </a:pPr>
            <a:endParaRPr lang="en-IN" dirty="0"/>
          </a:p>
          <a:p>
            <a:pPr marL="596646" indent="-514350" algn="just">
              <a:buFont typeface="+mj-lt"/>
              <a:buAutoNum type="arabicPeriod"/>
            </a:pPr>
            <a:r>
              <a:rPr lang="en-IN" dirty="0" smtClean="0"/>
              <a:t>Draw the project network</a:t>
            </a:r>
          </a:p>
          <a:p>
            <a:pPr marL="596646" indent="-514350" algn="just">
              <a:buFont typeface="+mj-lt"/>
              <a:buAutoNum type="arabicPeriod"/>
            </a:pPr>
            <a:r>
              <a:rPr lang="en-US" dirty="0" smtClean="0"/>
              <a:t>Find the expected duration and variance of each activity</a:t>
            </a:r>
          </a:p>
          <a:p>
            <a:pPr marL="596646" indent="-514350" algn="just">
              <a:buFont typeface="+mj-lt"/>
              <a:buAutoNum type="arabicPeriod"/>
            </a:pPr>
            <a:r>
              <a:rPr lang="en-US" dirty="0" smtClean="0"/>
              <a:t>Calculate earliest and latest occurrence of each event.</a:t>
            </a:r>
          </a:p>
          <a:p>
            <a:pPr marL="596646" indent="-514350" algn="just">
              <a:buFont typeface="+mj-lt"/>
              <a:buAutoNum type="arabicPeriod"/>
            </a:pPr>
            <a:r>
              <a:rPr lang="en-US" dirty="0" smtClean="0"/>
              <a:t>Calculate expected project length</a:t>
            </a:r>
          </a:p>
          <a:p>
            <a:pPr marL="596646" indent="-514350" algn="just">
              <a:buFont typeface="+mj-lt"/>
              <a:buAutoNum type="arabicPeriod"/>
            </a:pPr>
            <a:r>
              <a:rPr lang="en-US" dirty="0" smtClean="0"/>
              <a:t>Calculate standard deviation and variance of project length</a:t>
            </a:r>
          </a:p>
          <a:p>
            <a:pPr marL="596646" indent="-514350" algn="just">
              <a:buFont typeface="+mj-lt"/>
              <a:buAutoNum type="arabicPeriod"/>
            </a:pPr>
            <a:r>
              <a:rPr lang="en-US" dirty="0" smtClean="0"/>
              <a:t>Find the probability of project completing in the 40 days</a:t>
            </a:r>
          </a:p>
          <a:p>
            <a:pPr marL="596646" indent="-514350" algn="just">
              <a:buFont typeface="+mj-lt"/>
              <a:buAutoNum type="arabicPeriod"/>
            </a:pPr>
            <a:endParaRPr lang="en-US" dirty="0" smtClean="0"/>
          </a:p>
          <a:p>
            <a:pPr marL="596646" indent="-514350" algn="just">
              <a:buFont typeface="+mj-lt"/>
              <a:buAutoNum type="arabicPeriod"/>
            </a:pPr>
            <a:endParaRPr lang="en-IN" dirty="0"/>
          </a:p>
          <a:p>
            <a:pPr marL="596646" indent="-514350" algn="just">
              <a:buFont typeface="+mj-lt"/>
              <a:buAutoNum type="arabicPeriod"/>
            </a:pPr>
            <a:endParaRPr lang="en-IN" dirty="0"/>
          </a:p>
          <a:p>
            <a:pPr marL="596646" indent="-514350" algn="just">
              <a:buFont typeface="+mj-lt"/>
              <a:buAutoNum type="arabicPeriod"/>
            </a:pPr>
            <a:endParaRPr lang="en-IN" dirty="0"/>
          </a:p>
        </p:txBody>
      </p:sp>
    </p:spTree>
    <p:extLst>
      <p:ext uri="{BB962C8B-B14F-4D97-AF65-F5344CB8AC3E}">
        <p14:creationId xmlns:p14="http://schemas.microsoft.com/office/powerpoint/2010/main" val="174264019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
            </a:r>
            <a:br>
              <a:rPr lang="en-IN" dirty="0" smtClean="0"/>
            </a:br>
            <a:r>
              <a:rPr lang="en-IN" dirty="0" smtClean="0"/>
              <a:t>Draw </a:t>
            </a:r>
            <a:r>
              <a:rPr lang="en-IN" dirty="0"/>
              <a:t>the project network</a:t>
            </a:r>
            <a:br>
              <a:rPr lang="en-IN" dirty="0"/>
            </a:br>
            <a:r>
              <a:rPr lang="en-IN" dirty="0">
                <a:effectLst/>
              </a:rPr>
              <a:t/>
            </a:r>
            <a:br>
              <a:rPr lang="en-IN" dirty="0">
                <a:effectLst/>
              </a:rPr>
            </a:br>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700808"/>
            <a:ext cx="7168818" cy="3471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724778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596646" indent="-514350"/>
            <a:r>
              <a:rPr lang="en-US" sz="2400" dirty="0"/>
              <a:t>Find the expected duration </a:t>
            </a:r>
            <a:r>
              <a:rPr lang="en-US" sz="2400" dirty="0" smtClean="0"/>
              <a:t/>
            </a:r>
            <a:br>
              <a:rPr lang="en-US" sz="2400" dirty="0" smtClean="0"/>
            </a:br>
            <a:r>
              <a:rPr lang="en-US" sz="2400" dirty="0" smtClean="0"/>
              <a:t>and </a:t>
            </a:r>
            <a:r>
              <a:rPr lang="en-US" sz="2400" dirty="0"/>
              <a:t>variance of each activity</a:t>
            </a:r>
          </a:p>
        </p:txBody>
      </p:sp>
      <p:graphicFrame>
        <p:nvGraphicFramePr>
          <p:cNvPr id="4" name="Table 3"/>
          <p:cNvGraphicFramePr>
            <a:graphicFrameLocks noGrp="1"/>
          </p:cNvGraphicFramePr>
          <p:nvPr>
            <p:extLst>
              <p:ext uri="{D42A27DB-BD31-4B8C-83A1-F6EECF244321}">
                <p14:modId xmlns:p14="http://schemas.microsoft.com/office/powerpoint/2010/main" val="743905216"/>
              </p:ext>
            </p:extLst>
          </p:nvPr>
        </p:nvGraphicFramePr>
        <p:xfrm>
          <a:off x="1524000" y="1478411"/>
          <a:ext cx="7152457" cy="3886069"/>
        </p:xfrm>
        <a:graphic>
          <a:graphicData uri="http://schemas.openxmlformats.org/drawingml/2006/table">
            <a:tbl>
              <a:tblPr firstRow="1" bandRow="1">
                <a:tableStyleId>{5C22544A-7EE6-4342-B048-85BDC9FD1C3A}</a:tableStyleId>
              </a:tblPr>
              <a:tblGrid>
                <a:gridCol w="975883"/>
                <a:gridCol w="1296144"/>
                <a:gridCol w="1304202"/>
                <a:gridCol w="1192076"/>
                <a:gridCol w="1192076"/>
                <a:gridCol w="1192076"/>
              </a:tblGrid>
              <a:tr h="594229">
                <a:tc>
                  <a:txBody>
                    <a:bodyPr/>
                    <a:lstStyle/>
                    <a:p>
                      <a:r>
                        <a:rPr lang="en-US" sz="1100" dirty="0" smtClean="0"/>
                        <a:t>ACTIVITY</a:t>
                      </a:r>
                      <a:endParaRPr lang="en-IN" sz="1100" dirty="0"/>
                    </a:p>
                  </a:txBody>
                  <a:tcPr/>
                </a:tc>
                <a:tc>
                  <a:txBody>
                    <a:bodyPr/>
                    <a:lstStyle/>
                    <a:p>
                      <a:r>
                        <a:rPr lang="en-US" sz="1200" dirty="0" smtClean="0"/>
                        <a:t>OPTIMISTIC</a:t>
                      </a:r>
                      <a:endParaRPr lang="en-IN" sz="1200" dirty="0"/>
                    </a:p>
                  </a:txBody>
                  <a:tcPr/>
                </a:tc>
                <a:tc>
                  <a:txBody>
                    <a:bodyPr/>
                    <a:lstStyle/>
                    <a:p>
                      <a:r>
                        <a:rPr lang="en-US" sz="1200" dirty="0" smtClean="0"/>
                        <a:t>MOST LIEKLY</a:t>
                      </a:r>
                      <a:endParaRPr lang="en-IN" sz="1200" dirty="0"/>
                    </a:p>
                  </a:txBody>
                  <a:tcPr/>
                </a:tc>
                <a:tc>
                  <a:txBody>
                    <a:bodyPr/>
                    <a:lstStyle/>
                    <a:p>
                      <a:r>
                        <a:rPr lang="en-US" sz="1200" dirty="0" smtClean="0"/>
                        <a:t>PESSIMISTIC</a:t>
                      </a:r>
                      <a:endParaRPr lang="en-IN" sz="1200" dirty="0"/>
                    </a:p>
                  </a:txBody>
                  <a:tcPr/>
                </a:tc>
                <a:tc>
                  <a:txBody>
                    <a:bodyPr/>
                    <a:lstStyle/>
                    <a:p>
                      <a:r>
                        <a:rPr lang="en-US" sz="2400" dirty="0" err="1" smtClean="0"/>
                        <a:t>t</a:t>
                      </a:r>
                      <a:r>
                        <a:rPr lang="en-US" sz="2400" baseline="-25000" dirty="0" err="1" smtClean="0"/>
                        <a:t>e</a:t>
                      </a:r>
                      <a:endParaRPr lang="en-IN" sz="1200" baseline="-25000" dirty="0"/>
                    </a:p>
                  </a:txBody>
                  <a:tcPr/>
                </a:tc>
                <a:tc>
                  <a:txBody>
                    <a:bodyPr/>
                    <a:lstStyle/>
                    <a:p>
                      <a:r>
                        <a:rPr lang="en-IN" sz="2400" dirty="0" smtClean="0"/>
                        <a:t>σ</a:t>
                      </a:r>
                      <a:r>
                        <a:rPr lang="en-IN" sz="2400" baseline="30000" dirty="0" smtClean="0"/>
                        <a:t>2</a:t>
                      </a:r>
                      <a:endParaRPr lang="en-IN" sz="1200" dirty="0"/>
                    </a:p>
                  </a:txBody>
                  <a:tcPr/>
                </a:tc>
              </a:tr>
              <a:tr h="344276">
                <a:tc>
                  <a:txBody>
                    <a:bodyPr/>
                    <a:lstStyle/>
                    <a:p>
                      <a:pPr algn="ctr"/>
                      <a:r>
                        <a:rPr lang="en-US" dirty="0" smtClean="0"/>
                        <a:t>1-2</a:t>
                      </a:r>
                      <a:endParaRPr lang="en-IN" dirty="0"/>
                    </a:p>
                  </a:txBody>
                  <a:tcPr/>
                </a:tc>
                <a:tc>
                  <a:txBody>
                    <a:bodyPr/>
                    <a:lstStyle/>
                    <a:p>
                      <a:pPr algn="ctr"/>
                      <a:r>
                        <a:rPr lang="en-US" dirty="0" smtClean="0"/>
                        <a:t>1</a:t>
                      </a:r>
                      <a:endParaRPr lang="en-IN" dirty="0"/>
                    </a:p>
                  </a:txBody>
                  <a:tcPr/>
                </a:tc>
                <a:tc>
                  <a:txBody>
                    <a:bodyPr/>
                    <a:lstStyle/>
                    <a:p>
                      <a:pPr algn="ctr"/>
                      <a:r>
                        <a:rPr lang="en-US" dirty="0" smtClean="0"/>
                        <a:t>7</a:t>
                      </a:r>
                      <a:endParaRPr lang="en-IN" dirty="0"/>
                    </a:p>
                  </a:txBody>
                  <a:tcPr/>
                </a:tc>
                <a:tc>
                  <a:txBody>
                    <a:bodyPr/>
                    <a:lstStyle/>
                    <a:p>
                      <a:pPr algn="ctr"/>
                      <a:r>
                        <a:rPr lang="en-US" dirty="0" smtClean="0"/>
                        <a:t>13</a:t>
                      </a:r>
                      <a:endParaRPr lang="en-IN" dirty="0"/>
                    </a:p>
                  </a:txBody>
                  <a:tcPr/>
                </a:tc>
                <a:tc>
                  <a:txBody>
                    <a:bodyPr/>
                    <a:lstStyle/>
                    <a:p>
                      <a:pPr algn="ctr"/>
                      <a:r>
                        <a:rPr lang="en-US" dirty="0" smtClean="0"/>
                        <a:t>7</a:t>
                      </a:r>
                      <a:endParaRPr lang="en-IN" dirty="0"/>
                    </a:p>
                  </a:txBody>
                  <a:tcPr/>
                </a:tc>
                <a:tc>
                  <a:txBody>
                    <a:bodyPr/>
                    <a:lstStyle/>
                    <a:p>
                      <a:pPr algn="ctr"/>
                      <a:r>
                        <a:rPr lang="en-US" dirty="0" smtClean="0"/>
                        <a:t>4</a:t>
                      </a:r>
                      <a:endParaRPr lang="en-IN" dirty="0"/>
                    </a:p>
                  </a:txBody>
                  <a:tcPr/>
                </a:tc>
              </a:tr>
              <a:tr h="344276">
                <a:tc>
                  <a:txBody>
                    <a:bodyPr/>
                    <a:lstStyle/>
                    <a:p>
                      <a:pPr algn="ctr"/>
                      <a:r>
                        <a:rPr lang="en-US" dirty="0" smtClean="0"/>
                        <a:t>1-6</a:t>
                      </a:r>
                      <a:endParaRPr lang="en-IN" dirty="0"/>
                    </a:p>
                  </a:txBody>
                  <a:tcPr/>
                </a:tc>
                <a:tc>
                  <a:txBody>
                    <a:bodyPr/>
                    <a:lstStyle/>
                    <a:p>
                      <a:pPr algn="ctr"/>
                      <a:r>
                        <a:rPr lang="en-US" dirty="0" smtClean="0"/>
                        <a:t>2</a:t>
                      </a:r>
                      <a:endParaRPr lang="en-IN" dirty="0"/>
                    </a:p>
                  </a:txBody>
                  <a:tcPr/>
                </a:tc>
                <a:tc>
                  <a:txBody>
                    <a:bodyPr/>
                    <a:lstStyle/>
                    <a:p>
                      <a:pPr algn="ctr"/>
                      <a:r>
                        <a:rPr lang="en-US" dirty="0" smtClean="0"/>
                        <a:t>5</a:t>
                      </a:r>
                      <a:endParaRPr lang="en-IN" dirty="0"/>
                    </a:p>
                  </a:txBody>
                  <a:tcPr/>
                </a:tc>
                <a:tc>
                  <a:txBody>
                    <a:bodyPr/>
                    <a:lstStyle/>
                    <a:p>
                      <a:pPr algn="ctr"/>
                      <a:r>
                        <a:rPr lang="en-US" dirty="0" smtClean="0"/>
                        <a:t>14</a:t>
                      </a:r>
                      <a:endParaRPr lang="en-IN" dirty="0"/>
                    </a:p>
                  </a:txBody>
                  <a:tcPr/>
                </a:tc>
                <a:tc>
                  <a:txBody>
                    <a:bodyPr/>
                    <a:lstStyle/>
                    <a:p>
                      <a:pPr algn="ctr"/>
                      <a:r>
                        <a:rPr lang="en-US" dirty="0" smtClean="0"/>
                        <a:t>6</a:t>
                      </a:r>
                      <a:endParaRPr lang="en-IN" dirty="0"/>
                    </a:p>
                  </a:txBody>
                  <a:tcPr/>
                </a:tc>
                <a:tc>
                  <a:txBody>
                    <a:bodyPr/>
                    <a:lstStyle/>
                    <a:p>
                      <a:pPr algn="ctr"/>
                      <a:r>
                        <a:rPr lang="en-US" dirty="0" smtClean="0"/>
                        <a:t>4</a:t>
                      </a:r>
                      <a:endParaRPr lang="en-IN" dirty="0"/>
                    </a:p>
                  </a:txBody>
                  <a:tcPr/>
                </a:tc>
              </a:tr>
              <a:tr h="344276">
                <a:tc>
                  <a:txBody>
                    <a:bodyPr/>
                    <a:lstStyle/>
                    <a:p>
                      <a:pPr algn="ctr"/>
                      <a:r>
                        <a:rPr lang="en-US" dirty="0" smtClean="0"/>
                        <a:t>2-3</a:t>
                      </a:r>
                      <a:endParaRPr lang="en-IN" dirty="0"/>
                    </a:p>
                  </a:txBody>
                  <a:tcPr/>
                </a:tc>
                <a:tc>
                  <a:txBody>
                    <a:bodyPr/>
                    <a:lstStyle/>
                    <a:p>
                      <a:pPr algn="ctr"/>
                      <a:r>
                        <a:rPr lang="en-US" dirty="0" smtClean="0"/>
                        <a:t>2</a:t>
                      </a:r>
                      <a:endParaRPr lang="en-IN" dirty="0"/>
                    </a:p>
                  </a:txBody>
                  <a:tcPr/>
                </a:tc>
                <a:tc>
                  <a:txBody>
                    <a:bodyPr/>
                    <a:lstStyle/>
                    <a:p>
                      <a:pPr algn="ctr"/>
                      <a:r>
                        <a:rPr lang="en-US" dirty="0" smtClean="0"/>
                        <a:t>14</a:t>
                      </a:r>
                      <a:endParaRPr lang="en-IN" dirty="0"/>
                    </a:p>
                  </a:txBody>
                  <a:tcPr/>
                </a:tc>
                <a:tc>
                  <a:txBody>
                    <a:bodyPr/>
                    <a:lstStyle/>
                    <a:p>
                      <a:pPr algn="ctr"/>
                      <a:r>
                        <a:rPr lang="en-US" dirty="0" smtClean="0"/>
                        <a:t>26</a:t>
                      </a:r>
                      <a:endParaRPr lang="en-IN" dirty="0"/>
                    </a:p>
                  </a:txBody>
                  <a:tcPr/>
                </a:tc>
                <a:tc>
                  <a:txBody>
                    <a:bodyPr/>
                    <a:lstStyle/>
                    <a:p>
                      <a:pPr algn="ctr"/>
                      <a:r>
                        <a:rPr lang="en-US" dirty="0" smtClean="0"/>
                        <a:t>14</a:t>
                      </a:r>
                      <a:endParaRPr lang="en-IN" dirty="0"/>
                    </a:p>
                  </a:txBody>
                  <a:tcPr/>
                </a:tc>
                <a:tc>
                  <a:txBody>
                    <a:bodyPr/>
                    <a:lstStyle/>
                    <a:p>
                      <a:pPr algn="ctr"/>
                      <a:r>
                        <a:rPr lang="en-US" dirty="0" smtClean="0"/>
                        <a:t>16</a:t>
                      </a:r>
                      <a:endParaRPr lang="en-IN" dirty="0"/>
                    </a:p>
                  </a:txBody>
                  <a:tcPr/>
                </a:tc>
              </a:tr>
              <a:tr h="344276">
                <a:tc>
                  <a:txBody>
                    <a:bodyPr/>
                    <a:lstStyle/>
                    <a:p>
                      <a:pPr algn="ctr"/>
                      <a:r>
                        <a:rPr lang="en-US" dirty="0" smtClean="0"/>
                        <a:t>2-4</a:t>
                      </a:r>
                      <a:endParaRPr lang="en-IN" dirty="0"/>
                    </a:p>
                  </a:txBody>
                  <a:tcPr/>
                </a:tc>
                <a:tc>
                  <a:txBody>
                    <a:bodyPr/>
                    <a:lstStyle/>
                    <a:p>
                      <a:pPr algn="ctr"/>
                      <a:r>
                        <a:rPr lang="en-US" dirty="0" smtClean="0"/>
                        <a:t>2</a:t>
                      </a:r>
                      <a:endParaRPr lang="en-IN" dirty="0"/>
                    </a:p>
                  </a:txBody>
                  <a:tcPr/>
                </a:tc>
                <a:tc>
                  <a:txBody>
                    <a:bodyPr/>
                    <a:lstStyle/>
                    <a:p>
                      <a:pPr algn="ctr"/>
                      <a:r>
                        <a:rPr lang="en-US" dirty="0" smtClean="0"/>
                        <a:t>5</a:t>
                      </a:r>
                      <a:endParaRPr lang="en-IN" dirty="0"/>
                    </a:p>
                  </a:txBody>
                  <a:tcPr/>
                </a:tc>
                <a:tc>
                  <a:txBody>
                    <a:bodyPr/>
                    <a:lstStyle/>
                    <a:p>
                      <a:pPr algn="ctr"/>
                      <a:r>
                        <a:rPr lang="en-US" dirty="0" smtClean="0"/>
                        <a:t>8</a:t>
                      </a:r>
                      <a:endParaRPr lang="en-IN" dirty="0"/>
                    </a:p>
                  </a:txBody>
                  <a:tcPr/>
                </a:tc>
                <a:tc>
                  <a:txBody>
                    <a:bodyPr/>
                    <a:lstStyle/>
                    <a:p>
                      <a:pPr algn="ctr"/>
                      <a:r>
                        <a:rPr lang="en-US" dirty="0" smtClean="0"/>
                        <a:t>5</a:t>
                      </a:r>
                      <a:endParaRPr lang="en-IN" dirty="0"/>
                    </a:p>
                  </a:txBody>
                  <a:tcPr/>
                </a:tc>
                <a:tc>
                  <a:txBody>
                    <a:bodyPr/>
                    <a:lstStyle/>
                    <a:p>
                      <a:pPr algn="ctr"/>
                      <a:r>
                        <a:rPr lang="en-US" dirty="0" smtClean="0"/>
                        <a:t>1</a:t>
                      </a:r>
                      <a:endParaRPr lang="en-IN" dirty="0"/>
                    </a:p>
                  </a:txBody>
                  <a:tcPr/>
                </a:tc>
              </a:tr>
              <a:tr h="344276">
                <a:tc>
                  <a:txBody>
                    <a:bodyPr/>
                    <a:lstStyle/>
                    <a:p>
                      <a:pPr algn="ctr"/>
                      <a:r>
                        <a:rPr lang="en-US" dirty="0" smtClean="0"/>
                        <a:t>3-5</a:t>
                      </a:r>
                      <a:endParaRPr lang="en-IN" dirty="0"/>
                    </a:p>
                  </a:txBody>
                  <a:tcPr/>
                </a:tc>
                <a:tc>
                  <a:txBody>
                    <a:bodyPr/>
                    <a:lstStyle/>
                    <a:p>
                      <a:pPr algn="ctr"/>
                      <a:r>
                        <a:rPr lang="en-US" dirty="0" smtClean="0"/>
                        <a:t>7</a:t>
                      </a:r>
                      <a:endParaRPr lang="en-IN" dirty="0"/>
                    </a:p>
                  </a:txBody>
                  <a:tcPr/>
                </a:tc>
                <a:tc>
                  <a:txBody>
                    <a:bodyPr/>
                    <a:lstStyle/>
                    <a:p>
                      <a:pPr algn="ctr"/>
                      <a:r>
                        <a:rPr lang="en-US" dirty="0" smtClean="0"/>
                        <a:t>10</a:t>
                      </a:r>
                      <a:endParaRPr lang="en-IN" dirty="0"/>
                    </a:p>
                  </a:txBody>
                  <a:tcPr/>
                </a:tc>
                <a:tc>
                  <a:txBody>
                    <a:bodyPr/>
                    <a:lstStyle/>
                    <a:p>
                      <a:pPr algn="ctr"/>
                      <a:r>
                        <a:rPr lang="en-US" dirty="0" smtClean="0"/>
                        <a:t>9</a:t>
                      </a:r>
                      <a:endParaRPr lang="en-IN" dirty="0"/>
                    </a:p>
                  </a:txBody>
                  <a:tcPr/>
                </a:tc>
                <a:tc>
                  <a:txBody>
                    <a:bodyPr/>
                    <a:lstStyle/>
                    <a:p>
                      <a:pPr algn="ctr"/>
                      <a:r>
                        <a:rPr lang="en-US" dirty="0" smtClean="0"/>
                        <a:t>11</a:t>
                      </a:r>
                      <a:endParaRPr lang="en-IN" dirty="0"/>
                    </a:p>
                  </a:txBody>
                  <a:tcPr/>
                </a:tc>
                <a:tc>
                  <a:txBody>
                    <a:bodyPr/>
                    <a:lstStyle/>
                    <a:p>
                      <a:pPr algn="ctr"/>
                      <a:r>
                        <a:rPr lang="en-US" dirty="0" smtClean="0"/>
                        <a:t>4</a:t>
                      </a:r>
                      <a:endParaRPr lang="en-IN" dirty="0"/>
                    </a:p>
                  </a:txBody>
                  <a:tcPr/>
                </a:tc>
              </a:tr>
              <a:tr h="344276">
                <a:tc>
                  <a:txBody>
                    <a:bodyPr/>
                    <a:lstStyle/>
                    <a:p>
                      <a:pPr algn="ctr"/>
                      <a:r>
                        <a:rPr lang="en-US" dirty="0" smtClean="0"/>
                        <a:t>4-5</a:t>
                      </a:r>
                      <a:endParaRPr lang="en-IN" dirty="0"/>
                    </a:p>
                  </a:txBody>
                  <a:tcPr/>
                </a:tc>
                <a:tc>
                  <a:txBody>
                    <a:bodyPr/>
                    <a:lstStyle/>
                    <a:p>
                      <a:pPr algn="ctr"/>
                      <a:r>
                        <a:rPr lang="en-US" dirty="0" smtClean="0"/>
                        <a:t>5</a:t>
                      </a:r>
                      <a:endParaRPr lang="en-IN" dirty="0"/>
                    </a:p>
                  </a:txBody>
                  <a:tcPr/>
                </a:tc>
                <a:tc>
                  <a:txBody>
                    <a:bodyPr/>
                    <a:lstStyle/>
                    <a:p>
                      <a:pPr algn="ctr"/>
                      <a:r>
                        <a:rPr lang="en-US" dirty="0" smtClean="0"/>
                        <a:t>5</a:t>
                      </a:r>
                      <a:endParaRPr lang="en-IN" dirty="0"/>
                    </a:p>
                  </a:txBody>
                  <a:tcPr/>
                </a:tc>
                <a:tc>
                  <a:txBody>
                    <a:bodyPr/>
                    <a:lstStyle/>
                    <a:p>
                      <a:pPr algn="ctr"/>
                      <a:r>
                        <a:rPr lang="en-US" dirty="0" smtClean="0"/>
                        <a:t>7</a:t>
                      </a:r>
                      <a:endParaRPr lang="en-IN" dirty="0"/>
                    </a:p>
                  </a:txBody>
                  <a:tcPr/>
                </a:tc>
                <a:tc>
                  <a:txBody>
                    <a:bodyPr/>
                    <a:lstStyle/>
                    <a:p>
                      <a:pPr algn="ctr"/>
                      <a:r>
                        <a:rPr lang="en-US" dirty="0" smtClean="0"/>
                        <a:t>7</a:t>
                      </a:r>
                      <a:endParaRPr lang="en-IN" dirty="0"/>
                    </a:p>
                  </a:txBody>
                  <a:tcPr/>
                </a:tc>
                <a:tc>
                  <a:txBody>
                    <a:bodyPr/>
                    <a:lstStyle/>
                    <a:p>
                      <a:pPr algn="ctr"/>
                      <a:r>
                        <a:rPr lang="en-US" dirty="0" smtClean="0"/>
                        <a:t>4</a:t>
                      </a:r>
                      <a:endParaRPr lang="en-IN" dirty="0"/>
                    </a:p>
                  </a:txBody>
                  <a:tcPr/>
                </a:tc>
              </a:tr>
              <a:tr h="344276">
                <a:tc>
                  <a:txBody>
                    <a:bodyPr/>
                    <a:lstStyle/>
                    <a:p>
                      <a:pPr algn="ctr"/>
                      <a:r>
                        <a:rPr lang="en-US" dirty="0" smtClean="0"/>
                        <a:t>6-7</a:t>
                      </a:r>
                      <a:endParaRPr lang="en-IN" dirty="0"/>
                    </a:p>
                  </a:txBody>
                  <a:tcPr/>
                </a:tc>
                <a:tc>
                  <a:txBody>
                    <a:bodyPr/>
                    <a:lstStyle/>
                    <a:p>
                      <a:pPr algn="ctr"/>
                      <a:r>
                        <a:rPr lang="en-US" dirty="0" smtClean="0"/>
                        <a:t>5</a:t>
                      </a:r>
                      <a:endParaRPr lang="en-IN" dirty="0"/>
                    </a:p>
                  </a:txBody>
                  <a:tcPr/>
                </a:tc>
                <a:tc>
                  <a:txBody>
                    <a:bodyPr/>
                    <a:lstStyle/>
                    <a:p>
                      <a:pPr algn="ctr"/>
                      <a:r>
                        <a:rPr lang="en-US" dirty="0" smtClean="0"/>
                        <a:t>8</a:t>
                      </a:r>
                      <a:endParaRPr lang="en-IN" dirty="0"/>
                    </a:p>
                  </a:txBody>
                  <a:tcPr/>
                </a:tc>
                <a:tc>
                  <a:txBody>
                    <a:bodyPr/>
                    <a:lstStyle/>
                    <a:p>
                      <a:pPr algn="ctr"/>
                      <a:r>
                        <a:rPr lang="en-US" dirty="0" smtClean="0"/>
                        <a:t>29</a:t>
                      </a:r>
                      <a:endParaRPr lang="en-IN" dirty="0"/>
                    </a:p>
                  </a:txBody>
                  <a:tcPr/>
                </a:tc>
                <a:tc>
                  <a:txBody>
                    <a:bodyPr/>
                    <a:lstStyle/>
                    <a:p>
                      <a:pPr algn="ctr"/>
                      <a:r>
                        <a:rPr lang="en-US" dirty="0" smtClean="0"/>
                        <a:t>11</a:t>
                      </a:r>
                      <a:endParaRPr lang="en-IN" dirty="0"/>
                    </a:p>
                  </a:txBody>
                  <a:tcPr/>
                </a:tc>
                <a:tc>
                  <a:txBody>
                    <a:bodyPr/>
                    <a:lstStyle/>
                    <a:p>
                      <a:pPr algn="ctr"/>
                      <a:r>
                        <a:rPr lang="en-US" dirty="0" smtClean="0"/>
                        <a:t>16</a:t>
                      </a:r>
                      <a:endParaRPr lang="en-IN" dirty="0"/>
                    </a:p>
                  </a:txBody>
                  <a:tcPr/>
                </a:tc>
              </a:tr>
              <a:tr h="344276">
                <a:tc>
                  <a:txBody>
                    <a:bodyPr/>
                    <a:lstStyle/>
                    <a:p>
                      <a:pPr algn="ctr"/>
                      <a:r>
                        <a:rPr lang="en-US" dirty="0" smtClean="0"/>
                        <a:t>5-8</a:t>
                      </a:r>
                      <a:endParaRPr lang="en-IN" dirty="0"/>
                    </a:p>
                  </a:txBody>
                  <a:tcPr/>
                </a:tc>
                <a:tc>
                  <a:txBody>
                    <a:bodyPr/>
                    <a:lstStyle/>
                    <a:p>
                      <a:pPr algn="ctr"/>
                      <a:r>
                        <a:rPr lang="en-US" dirty="0" smtClean="0"/>
                        <a:t>3</a:t>
                      </a:r>
                      <a:endParaRPr lang="en-IN" dirty="0"/>
                    </a:p>
                  </a:txBody>
                  <a:tcPr/>
                </a:tc>
                <a:tc>
                  <a:txBody>
                    <a:bodyPr/>
                    <a:lstStyle/>
                    <a:p>
                      <a:pPr algn="ctr"/>
                      <a:r>
                        <a:rPr lang="en-US" dirty="0" smtClean="0"/>
                        <a:t>3</a:t>
                      </a:r>
                      <a:endParaRPr lang="en-IN" dirty="0"/>
                    </a:p>
                  </a:txBody>
                  <a:tcPr/>
                </a:tc>
                <a:tc>
                  <a:txBody>
                    <a:bodyPr/>
                    <a:lstStyle/>
                    <a:p>
                      <a:pPr algn="ctr"/>
                      <a:r>
                        <a:rPr lang="en-US" dirty="0" smtClean="0"/>
                        <a:t>9</a:t>
                      </a:r>
                      <a:endParaRPr lang="en-IN" dirty="0"/>
                    </a:p>
                  </a:txBody>
                  <a:tcPr/>
                </a:tc>
                <a:tc>
                  <a:txBody>
                    <a:bodyPr/>
                    <a:lstStyle/>
                    <a:p>
                      <a:pPr algn="ctr"/>
                      <a:r>
                        <a:rPr lang="en-US" dirty="0" smtClean="0"/>
                        <a:t>4</a:t>
                      </a:r>
                      <a:endParaRPr lang="en-IN" dirty="0"/>
                    </a:p>
                  </a:txBody>
                  <a:tcPr/>
                </a:tc>
                <a:tc>
                  <a:txBody>
                    <a:bodyPr/>
                    <a:lstStyle/>
                    <a:p>
                      <a:pPr algn="ctr"/>
                      <a:r>
                        <a:rPr lang="en-US" dirty="0" smtClean="0"/>
                        <a:t>1</a:t>
                      </a:r>
                      <a:endParaRPr lang="en-IN" dirty="0"/>
                    </a:p>
                  </a:txBody>
                  <a:tcPr/>
                </a:tc>
              </a:tr>
              <a:tr h="344276">
                <a:tc>
                  <a:txBody>
                    <a:bodyPr/>
                    <a:lstStyle/>
                    <a:p>
                      <a:pPr algn="ctr"/>
                      <a:r>
                        <a:rPr lang="en-US" dirty="0" smtClean="0"/>
                        <a:t>7-8</a:t>
                      </a:r>
                      <a:endParaRPr lang="en-IN" dirty="0"/>
                    </a:p>
                  </a:txBody>
                  <a:tcPr/>
                </a:tc>
                <a:tc>
                  <a:txBody>
                    <a:bodyPr/>
                    <a:lstStyle/>
                    <a:p>
                      <a:pPr algn="ctr"/>
                      <a:r>
                        <a:rPr lang="en-US" dirty="0" smtClean="0"/>
                        <a:t>8</a:t>
                      </a:r>
                      <a:endParaRPr lang="en-IN" dirty="0"/>
                    </a:p>
                  </a:txBody>
                  <a:tcPr/>
                </a:tc>
                <a:tc>
                  <a:txBody>
                    <a:bodyPr/>
                    <a:lstStyle/>
                    <a:p>
                      <a:pPr algn="ctr"/>
                      <a:r>
                        <a:rPr lang="en-US" dirty="0" smtClean="0"/>
                        <a:t>17</a:t>
                      </a:r>
                      <a:endParaRPr lang="en-IN" dirty="0"/>
                    </a:p>
                  </a:txBody>
                  <a:tcPr/>
                </a:tc>
                <a:tc>
                  <a:txBody>
                    <a:bodyPr/>
                    <a:lstStyle/>
                    <a:p>
                      <a:pPr algn="ctr"/>
                      <a:r>
                        <a:rPr lang="en-US" dirty="0" smtClean="0"/>
                        <a:t>32</a:t>
                      </a:r>
                      <a:endParaRPr lang="en-IN" dirty="0"/>
                    </a:p>
                  </a:txBody>
                  <a:tcPr/>
                </a:tc>
                <a:tc>
                  <a:txBody>
                    <a:bodyPr/>
                    <a:lstStyle/>
                    <a:p>
                      <a:pPr algn="ctr"/>
                      <a:r>
                        <a:rPr lang="en-US" dirty="0" smtClean="0"/>
                        <a:t>18</a:t>
                      </a:r>
                      <a:endParaRPr lang="en-IN" dirty="0"/>
                    </a:p>
                  </a:txBody>
                  <a:tcPr/>
                </a:tc>
                <a:tc>
                  <a:txBody>
                    <a:bodyPr/>
                    <a:lstStyle/>
                    <a:p>
                      <a:pPr algn="ctr"/>
                      <a:r>
                        <a:rPr lang="en-US" dirty="0" smtClean="0"/>
                        <a:t>16</a:t>
                      </a:r>
                      <a:endParaRPr lang="en-IN" dirty="0"/>
                    </a:p>
                  </a:txBody>
                  <a:tcPr/>
                </a:tc>
              </a:tr>
            </a:tbl>
          </a:graphicData>
        </a:graphic>
      </p:graphicFrame>
      <p:sp>
        <p:nvSpPr>
          <p:cNvPr id="5" name="Rectangle 4"/>
          <p:cNvSpPr/>
          <p:nvPr/>
        </p:nvSpPr>
        <p:spPr>
          <a:xfrm>
            <a:off x="5580112" y="260648"/>
            <a:ext cx="2520241" cy="369332"/>
          </a:xfrm>
          <a:prstGeom prst="rect">
            <a:avLst/>
          </a:prstGeom>
        </p:spPr>
        <p:txBody>
          <a:bodyPr wrap="none">
            <a:spAutoFit/>
          </a:bodyPr>
          <a:lstStyle/>
          <a:p>
            <a:pPr marL="82296" indent="0" algn="ctr">
              <a:buNone/>
            </a:pPr>
            <a:r>
              <a:rPr lang="de-DE" dirty="0"/>
              <a:t>t</a:t>
            </a:r>
            <a:r>
              <a:rPr lang="de-DE" baseline="-25000" dirty="0"/>
              <a:t>e</a:t>
            </a:r>
            <a:r>
              <a:rPr lang="de-DE" dirty="0"/>
              <a:t> = ( t</a:t>
            </a:r>
            <a:r>
              <a:rPr lang="de-DE" baseline="-25000" dirty="0"/>
              <a:t>0</a:t>
            </a:r>
            <a:r>
              <a:rPr lang="de-DE" dirty="0"/>
              <a:t> + 4 t</a:t>
            </a:r>
            <a:r>
              <a:rPr lang="de-DE" baseline="-25000" dirty="0"/>
              <a:t>m</a:t>
            </a:r>
            <a:r>
              <a:rPr lang="de-DE" dirty="0"/>
              <a:t> + t</a:t>
            </a:r>
            <a:r>
              <a:rPr lang="de-DE" baseline="-25000" dirty="0"/>
              <a:t>p </a:t>
            </a:r>
            <a:r>
              <a:rPr lang="de-DE" dirty="0"/>
              <a:t>) / 6 </a:t>
            </a:r>
          </a:p>
        </p:txBody>
      </p:sp>
      <p:sp>
        <p:nvSpPr>
          <p:cNvPr id="6" name="Rectangle 5"/>
          <p:cNvSpPr/>
          <p:nvPr/>
        </p:nvSpPr>
        <p:spPr>
          <a:xfrm>
            <a:off x="7016495" y="836712"/>
            <a:ext cx="2127505" cy="369332"/>
          </a:xfrm>
          <a:prstGeom prst="rect">
            <a:avLst/>
          </a:prstGeom>
        </p:spPr>
        <p:txBody>
          <a:bodyPr wrap="none">
            <a:spAutoFit/>
          </a:bodyPr>
          <a:lstStyle/>
          <a:p>
            <a:pPr marL="82296" indent="0" algn="ctr">
              <a:buNone/>
            </a:pPr>
            <a:r>
              <a:rPr lang="en-IN" dirty="0"/>
              <a:t>σ</a:t>
            </a:r>
            <a:r>
              <a:rPr lang="en-IN" baseline="30000" dirty="0"/>
              <a:t>2</a:t>
            </a:r>
            <a:r>
              <a:rPr lang="en-IN" dirty="0"/>
              <a:t> = [(</a:t>
            </a:r>
            <a:r>
              <a:rPr lang="en-IN" dirty="0" err="1"/>
              <a:t>t</a:t>
            </a:r>
            <a:r>
              <a:rPr lang="en-IN" baseline="-25000" dirty="0" err="1"/>
              <a:t>p</a:t>
            </a:r>
            <a:r>
              <a:rPr lang="en-IN" dirty="0"/>
              <a:t> – t</a:t>
            </a:r>
            <a:r>
              <a:rPr lang="en-IN" baseline="-25000" dirty="0"/>
              <a:t>o</a:t>
            </a:r>
            <a:r>
              <a:rPr lang="en-IN" dirty="0"/>
              <a:t>) / 6] </a:t>
            </a:r>
            <a:r>
              <a:rPr lang="en-IN" baseline="30000" dirty="0"/>
              <a:t>2</a:t>
            </a:r>
            <a:r>
              <a:rPr lang="en-IN" dirty="0"/>
              <a:t> </a:t>
            </a:r>
          </a:p>
        </p:txBody>
      </p:sp>
      <p:cxnSp>
        <p:nvCxnSpPr>
          <p:cNvPr id="8" name="Straight Arrow Connector 7"/>
          <p:cNvCxnSpPr>
            <a:stCxn id="5" idx="2"/>
          </p:cNvCxnSpPr>
          <p:nvPr/>
        </p:nvCxnSpPr>
        <p:spPr>
          <a:xfrm flipH="1">
            <a:off x="6840232" y="629980"/>
            <a:ext cx="1" cy="7827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8080247" y="1206044"/>
            <a:ext cx="0" cy="2067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230256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Calculate </a:t>
            </a:r>
            <a:r>
              <a:rPr lang="en-US" dirty="0"/>
              <a:t>earliest and latest occurrence of each event.</a:t>
            </a:r>
            <a:br>
              <a:rPr lang="en-US" dirty="0"/>
            </a:br>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766888"/>
            <a:ext cx="8100392" cy="4470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187194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Earliest Time</a:t>
            </a:r>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5" y="1728788"/>
            <a:ext cx="8028385" cy="340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472460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Latest Time</a:t>
            </a:r>
            <a:endParaRPr lang="en-IN"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750" y="1484784"/>
            <a:ext cx="8096250"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309492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Critical Activity</a:t>
            </a:r>
            <a:endParaRPr lang="en-IN" dirty="0"/>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30230"/>
          <a:stretch/>
        </p:blipFill>
        <p:spPr bwMode="auto">
          <a:xfrm>
            <a:off x="1117029" y="1772816"/>
            <a:ext cx="7991475" cy="4248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580753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Critical Path</a:t>
            </a:r>
            <a:endParaRPr lang="en-IN"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838324"/>
            <a:ext cx="7889982" cy="4110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31853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596646" indent="-514350"/>
            <a:r>
              <a:rPr lang="en-US" sz="2400" dirty="0" smtClean="0"/>
              <a:t/>
            </a:r>
            <a:br>
              <a:rPr lang="en-US" sz="2400" dirty="0" smtClean="0"/>
            </a:br>
            <a:r>
              <a:rPr lang="en-US" sz="2400" dirty="0" smtClean="0"/>
              <a:t>Calculate </a:t>
            </a:r>
            <a:r>
              <a:rPr lang="en-US" sz="2400" dirty="0"/>
              <a:t>expected project length</a:t>
            </a:r>
            <a:br>
              <a:rPr lang="en-US" sz="2400" dirty="0"/>
            </a:br>
            <a:endParaRPr lang="en-US" sz="2400" dirty="0"/>
          </a:p>
        </p:txBody>
      </p:sp>
      <p:graphicFrame>
        <p:nvGraphicFramePr>
          <p:cNvPr id="4" name="Table 3"/>
          <p:cNvGraphicFramePr>
            <a:graphicFrameLocks noGrp="1"/>
          </p:cNvGraphicFramePr>
          <p:nvPr>
            <p:extLst>
              <p:ext uri="{D42A27DB-BD31-4B8C-83A1-F6EECF244321}">
                <p14:modId xmlns:p14="http://schemas.microsoft.com/office/powerpoint/2010/main" val="4081277779"/>
              </p:ext>
            </p:extLst>
          </p:nvPr>
        </p:nvGraphicFramePr>
        <p:xfrm>
          <a:off x="1524000" y="1478411"/>
          <a:ext cx="7152457" cy="3886069"/>
        </p:xfrm>
        <a:graphic>
          <a:graphicData uri="http://schemas.openxmlformats.org/drawingml/2006/table">
            <a:tbl>
              <a:tblPr firstRow="1" bandRow="1">
                <a:tableStyleId>{5C22544A-7EE6-4342-B048-85BDC9FD1C3A}</a:tableStyleId>
              </a:tblPr>
              <a:tblGrid>
                <a:gridCol w="975883"/>
                <a:gridCol w="1296144"/>
                <a:gridCol w="1304202"/>
                <a:gridCol w="1192076"/>
                <a:gridCol w="1192076"/>
                <a:gridCol w="1192076"/>
              </a:tblGrid>
              <a:tr h="594229">
                <a:tc>
                  <a:txBody>
                    <a:bodyPr/>
                    <a:lstStyle/>
                    <a:p>
                      <a:r>
                        <a:rPr lang="en-US" sz="1100" dirty="0" smtClean="0"/>
                        <a:t>ACTIVITY</a:t>
                      </a:r>
                      <a:endParaRPr lang="en-IN" sz="1100" dirty="0"/>
                    </a:p>
                  </a:txBody>
                  <a:tcPr/>
                </a:tc>
                <a:tc>
                  <a:txBody>
                    <a:bodyPr/>
                    <a:lstStyle/>
                    <a:p>
                      <a:r>
                        <a:rPr lang="en-US" sz="1200" dirty="0" smtClean="0"/>
                        <a:t>OPTIMISTIC</a:t>
                      </a:r>
                      <a:endParaRPr lang="en-IN" sz="1200" dirty="0"/>
                    </a:p>
                  </a:txBody>
                  <a:tcPr/>
                </a:tc>
                <a:tc>
                  <a:txBody>
                    <a:bodyPr/>
                    <a:lstStyle/>
                    <a:p>
                      <a:r>
                        <a:rPr lang="en-US" sz="1200" dirty="0" smtClean="0"/>
                        <a:t>MOST LIEKLY</a:t>
                      </a:r>
                      <a:endParaRPr lang="en-IN" sz="1200" dirty="0"/>
                    </a:p>
                  </a:txBody>
                  <a:tcPr/>
                </a:tc>
                <a:tc>
                  <a:txBody>
                    <a:bodyPr/>
                    <a:lstStyle/>
                    <a:p>
                      <a:r>
                        <a:rPr lang="en-US" sz="1200" dirty="0" smtClean="0"/>
                        <a:t>PESSIMISTIC</a:t>
                      </a:r>
                      <a:endParaRPr lang="en-IN" sz="1200" dirty="0"/>
                    </a:p>
                  </a:txBody>
                  <a:tcPr/>
                </a:tc>
                <a:tc>
                  <a:txBody>
                    <a:bodyPr/>
                    <a:lstStyle/>
                    <a:p>
                      <a:r>
                        <a:rPr lang="en-US" sz="2400" dirty="0" err="1" smtClean="0"/>
                        <a:t>t</a:t>
                      </a:r>
                      <a:r>
                        <a:rPr lang="en-US" sz="2400" baseline="-25000" dirty="0" err="1" smtClean="0"/>
                        <a:t>e</a:t>
                      </a:r>
                      <a:endParaRPr lang="en-IN" sz="1200" baseline="-25000" dirty="0"/>
                    </a:p>
                  </a:txBody>
                  <a:tcPr/>
                </a:tc>
                <a:tc>
                  <a:txBody>
                    <a:bodyPr/>
                    <a:lstStyle/>
                    <a:p>
                      <a:r>
                        <a:rPr lang="en-IN" sz="2400" dirty="0" smtClean="0"/>
                        <a:t>σ</a:t>
                      </a:r>
                      <a:r>
                        <a:rPr lang="en-IN" sz="2400" baseline="30000" dirty="0" smtClean="0"/>
                        <a:t>2</a:t>
                      </a:r>
                      <a:endParaRPr lang="en-IN" sz="1200" dirty="0"/>
                    </a:p>
                  </a:txBody>
                  <a:tcPr/>
                </a:tc>
              </a:tr>
              <a:tr h="344276">
                <a:tc>
                  <a:txBody>
                    <a:bodyPr/>
                    <a:lstStyle/>
                    <a:p>
                      <a:pPr algn="ctr"/>
                      <a:r>
                        <a:rPr lang="en-US" dirty="0" smtClean="0"/>
                        <a:t>1-2</a:t>
                      </a:r>
                      <a:endParaRPr lang="en-IN" dirty="0"/>
                    </a:p>
                  </a:txBody>
                  <a:tcPr>
                    <a:solidFill>
                      <a:schemeClr val="accent2"/>
                    </a:solidFill>
                  </a:tcPr>
                </a:tc>
                <a:tc>
                  <a:txBody>
                    <a:bodyPr/>
                    <a:lstStyle/>
                    <a:p>
                      <a:pPr algn="ctr"/>
                      <a:r>
                        <a:rPr lang="en-US" dirty="0" smtClean="0"/>
                        <a:t>1</a:t>
                      </a:r>
                      <a:endParaRPr lang="en-IN" dirty="0"/>
                    </a:p>
                  </a:txBody>
                  <a:tcPr/>
                </a:tc>
                <a:tc>
                  <a:txBody>
                    <a:bodyPr/>
                    <a:lstStyle/>
                    <a:p>
                      <a:pPr algn="ctr"/>
                      <a:r>
                        <a:rPr lang="en-US" dirty="0" smtClean="0"/>
                        <a:t>7</a:t>
                      </a:r>
                      <a:endParaRPr lang="en-IN" dirty="0"/>
                    </a:p>
                  </a:txBody>
                  <a:tcPr/>
                </a:tc>
                <a:tc>
                  <a:txBody>
                    <a:bodyPr/>
                    <a:lstStyle/>
                    <a:p>
                      <a:pPr algn="ctr"/>
                      <a:r>
                        <a:rPr lang="en-US" dirty="0" smtClean="0"/>
                        <a:t>13</a:t>
                      </a:r>
                      <a:endParaRPr lang="en-IN" dirty="0"/>
                    </a:p>
                  </a:txBody>
                  <a:tcPr/>
                </a:tc>
                <a:tc>
                  <a:txBody>
                    <a:bodyPr/>
                    <a:lstStyle/>
                    <a:p>
                      <a:pPr algn="ctr"/>
                      <a:r>
                        <a:rPr lang="en-US" dirty="0" smtClean="0"/>
                        <a:t>7</a:t>
                      </a:r>
                      <a:endParaRPr lang="en-IN" dirty="0"/>
                    </a:p>
                  </a:txBody>
                  <a:tcPr>
                    <a:solidFill>
                      <a:schemeClr val="accent2"/>
                    </a:solidFill>
                  </a:tcPr>
                </a:tc>
                <a:tc>
                  <a:txBody>
                    <a:bodyPr/>
                    <a:lstStyle/>
                    <a:p>
                      <a:pPr algn="ctr"/>
                      <a:r>
                        <a:rPr lang="en-US" dirty="0" smtClean="0"/>
                        <a:t>4</a:t>
                      </a:r>
                      <a:endParaRPr lang="en-IN" dirty="0"/>
                    </a:p>
                  </a:txBody>
                  <a:tcPr/>
                </a:tc>
              </a:tr>
              <a:tr h="344276">
                <a:tc>
                  <a:txBody>
                    <a:bodyPr/>
                    <a:lstStyle/>
                    <a:p>
                      <a:pPr algn="ctr"/>
                      <a:r>
                        <a:rPr lang="en-US" dirty="0" smtClean="0"/>
                        <a:t>1-6</a:t>
                      </a:r>
                      <a:endParaRPr lang="en-IN" dirty="0"/>
                    </a:p>
                  </a:txBody>
                  <a:tcPr/>
                </a:tc>
                <a:tc>
                  <a:txBody>
                    <a:bodyPr/>
                    <a:lstStyle/>
                    <a:p>
                      <a:pPr algn="ctr"/>
                      <a:r>
                        <a:rPr lang="en-US" dirty="0" smtClean="0"/>
                        <a:t>2</a:t>
                      </a:r>
                      <a:endParaRPr lang="en-IN" dirty="0"/>
                    </a:p>
                  </a:txBody>
                  <a:tcPr/>
                </a:tc>
                <a:tc>
                  <a:txBody>
                    <a:bodyPr/>
                    <a:lstStyle/>
                    <a:p>
                      <a:pPr algn="ctr"/>
                      <a:r>
                        <a:rPr lang="en-US" dirty="0" smtClean="0"/>
                        <a:t>5</a:t>
                      </a:r>
                      <a:endParaRPr lang="en-IN" dirty="0"/>
                    </a:p>
                  </a:txBody>
                  <a:tcPr/>
                </a:tc>
                <a:tc>
                  <a:txBody>
                    <a:bodyPr/>
                    <a:lstStyle/>
                    <a:p>
                      <a:pPr algn="ctr"/>
                      <a:r>
                        <a:rPr lang="en-US" dirty="0" smtClean="0"/>
                        <a:t>14</a:t>
                      </a:r>
                      <a:endParaRPr lang="en-IN" dirty="0"/>
                    </a:p>
                  </a:txBody>
                  <a:tcPr/>
                </a:tc>
                <a:tc>
                  <a:txBody>
                    <a:bodyPr/>
                    <a:lstStyle/>
                    <a:p>
                      <a:pPr algn="ctr"/>
                      <a:r>
                        <a:rPr lang="en-US" dirty="0" smtClean="0"/>
                        <a:t>6</a:t>
                      </a:r>
                      <a:endParaRPr lang="en-IN" dirty="0"/>
                    </a:p>
                  </a:txBody>
                  <a:tcPr/>
                </a:tc>
                <a:tc>
                  <a:txBody>
                    <a:bodyPr/>
                    <a:lstStyle/>
                    <a:p>
                      <a:pPr algn="ctr"/>
                      <a:r>
                        <a:rPr lang="en-US" dirty="0" smtClean="0"/>
                        <a:t>4</a:t>
                      </a:r>
                      <a:endParaRPr lang="en-IN" dirty="0"/>
                    </a:p>
                  </a:txBody>
                  <a:tcPr/>
                </a:tc>
              </a:tr>
              <a:tr h="344276">
                <a:tc>
                  <a:txBody>
                    <a:bodyPr/>
                    <a:lstStyle/>
                    <a:p>
                      <a:pPr algn="ctr"/>
                      <a:r>
                        <a:rPr lang="en-US" dirty="0" smtClean="0"/>
                        <a:t>2-3</a:t>
                      </a:r>
                      <a:endParaRPr lang="en-IN" dirty="0"/>
                    </a:p>
                  </a:txBody>
                  <a:tcPr>
                    <a:solidFill>
                      <a:schemeClr val="accent2"/>
                    </a:solidFill>
                  </a:tcPr>
                </a:tc>
                <a:tc>
                  <a:txBody>
                    <a:bodyPr/>
                    <a:lstStyle/>
                    <a:p>
                      <a:pPr algn="ctr"/>
                      <a:r>
                        <a:rPr lang="en-US" dirty="0" smtClean="0"/>
                        <a:t>2</a:t>
                      </a:r>
                      <a:endParaRPr lang="en-IN" dirty="0"/>
                    </a:p>
                  </a:txBody>
                  <a:tcPr/>
                </a:tc>
                <a:tc>
                  <a:txBody>
                    <a:bodyPr/>
                    <a:lstStyle/>
                    <a:p>
                      <a:pPr algn="ctr"/>
                      <a:r>
                        <a:rPr lang="en-US" dirty="0" smtClean="0"/>
                        <a:t>14</a:t>
                      </a:r>
                      <a:endParaRPr lang="en-IN" dirty="0"/>
                    </a:p>
                  </a:txBody>
                  <a:tcPr/>
                </a:tc>
                <a:tc>
                  <a:txBody>
                    <a:bodyPr/>
                    <a:lstStyle/>
                    <a:p>
                      <a:pPr algn="ctr"/>
                      <a:r>
                        <a:rPr lang="en-US" dirty="0" smtClean="0"/>
                        <a:t>26</a:t>
                      </a:r>
                      <a:endParaRPr lang="en-IN" dirty="0"/>
                    </a:p>
                  </a:txBody>
                  <a:tcPr/>
                </a:tc>
                <a:tc>
                  <a:txBody>
                    <a:bodyPr/>
                    <a:lstStyle/>
                    <a:p>
                      <a:pPr algn="ctr"/>
                      <a:r>
                        <a:rPr lang="en-US" dirty="0" smtClean="0"/>
                        <a:t>14</a:t>
                      </a:r>
                      <a:endParaRPr lang="en-IN" dirty="0"/>
                    </a:p>
                  </a:txBody>
                  <a:tcPr>
                    <a:solidFill>
                      <a:schemeClr val="accent2"/>
                    </a:solidFill>
                  </a:tcPr>
                </a:tc>
                <a:tc>
                  <a:txBody>
                    <a:bodyPr/>
                    <a:lstStyle/>
                    <a:p>
                      <a:pPr algn="ctr"/>
                      <a:r>
                        <a:rPr lang="en-US" dirty="0" smtClean="0"/>
                        <a:t>16</a:t>
                      </a:r>
                      <a:endParaRPr lang="en-IN" dirty="0"/>
                    </a:p>
                  </a:txBody>
                  <a:tcPr/>
                </a:tc>
              </a:tr>
              <a:tr h="344276">
                <a:tc>
                  <a:txBody>
                    <a:bodyPr/>
                    <a:lstStyle/>
                    <a:p>
                      <a:pPr algn="ctr"/>
                      <a:r>
                        <a:rPr lang="en-US" dirty="0" smtClean="0"/>
                        <a:t>2-4</a:t>
                      </a:r>
                      <a:endParaRPr lang="en-IN" dirty="0"/>
                    </a:p>
                  </a:txBody>
                  <a:tcPr/>
                </a:tc>
                <a:tc>
                  <a:txBody>
                    <a:bodyPr/>
                    <a:lstStyle/>
                    <a:p>
                      <a:pPr algn="ctr"/>
                      <a:r>
                        <a:rPr lang="en-US" dirty="0" smtClean="0"/>
                        <a:t>2</a:t>
                      </a:r>
                      <a:endParaRPr lang="en-IN" dirty="0"/>
                    </a:p>
                  </a:txBody>
                  <a:tcPr/>
                </a:tc>
                <a:tc>
                  <a:txBody>
                    <a:bodyPr/>
                    <a:lstStyle/>
                    <a:p>
                      <a:pPr algn="ctr"/>
                      <a:r>
                        <a:rPr lang="en-US" dirty="0" smtClean="0"/>
                        <a:t>5</a:t>
                      </a:r>
                      <a:endParaRPr lang="en-IN" dirty="0"/>
                    </a:p>
                  </a:txBody>
                  <a:tcPr/>
                </a:tc>
                <a:tc>
                  <a:txBody>
                    <a:bodyPr/>
                    <a:lstStyle/>
                    <a:p>
                      <a:pPr algn="ctr"/>
                      <a:r>
                        <a:rPr lang="en-US" dirty="0" smtClean="0"/>
                        <a:t>8</a:t>
                      </a:r>
                      <a:endParaRPr lang="en-IN" dirty="0"/>
                    </a:p>
                  </a:txBody>
                  <a:tcPr/>
                </a:tc>
                <a:tc>
                  <a:txBody>
                    <a:bodyPr/>
                    <a:lstStyle/>
                    <a:p>
                      <a:pPr algn="ctr"/>
                      <a:r>
                        <a:rPr lang="en-US" dirty="0" smtClean="0"/>
                        <a:t>5</a:t>
                      </a:r>
                      <a:endParaRPr lang="en-IN" dirty="0"/>
                    </a:p>
                  </a:txBody>
                  <a:tcPr/>
                </a:tc>
                <a:tc>
                  <a:txBody>
                    <a:bodyPr/>
                    <a:lstStyle/>
                    <a:p>
                      <a:pPr algn="ctr"/>
                      <a:r>
                        <a:rPr lang="en-US" dirty="0" smtClean="0"/>
                        <a:t>1</a:t>
                      </a:r>
                      <a:endParaRPr lang="en-IN" dirty="0"/>
                    </a:p>
                  </a:txBody>
                  <a:tcPr/>
                </a:tc>
              </a:tr>
              <a:tr h="344276">
                <a:tc>
                  <a:txBody>
                    <a:bodyPr/>
                    <a:lstStyle/>
                    <a:p>
                      <a:pPr algn="ctr"/>
                      <a:r>
                        <a:rPr lang="en-US" dirty="0" smtClean="0"/>
                        <a:t>3-5</a:t>
                      </a:r>
                      <a:endParaRPr lang="en-IN" dirty="0"/>
                    </a:p>
                  </a:txBody>
                  <a:tcPr>
                    <a:solidFill>
                      <a:schemeClr val="accent2"/>
                    </a:solidFill>
                  </a:tcPr>
                </a:tc>
                <a:tc>
                  <a:txBody>
                    <a:bodyPr/>
                    <a:lstStyle/>
                    <a:p>
                      <a:pPr algn="ctr"/>
                      <a:r>
                        <a:rPr lang="en-US" dirty="0" smtClean="0"/>
                        <a:t>7</a:t>
                      </a:r>
                      <a:endParaRPr lang="en-IN" dirty="0"/>
                    </a:p>
                  </a:txBody>
                  <a:tcPr/>
                </a:tc>
                <a:tc>
                  <a:txBody>
                    <a:bodyPr/>
                    <a:lstStyle/>
                    <a:p>
                      <a:pPr algn="ctr"/>
                      <a:r>
                        <a:rPr lang="en-US" dirty="0" smtClean="0"/>
                        <a:t>10</a:t>
                      </a:r>
                      <a:endParaRPr lang="en-IN" dirty="0"/>
                    </a:p>
                  </a:txBody>
                  <a:tcPr/>
                </a:tc>
                <a:tc>
                  <a:txBody>
                    <a:bodyPr/>
                    <a:lstStyle/>
                    <a:p>
                      <a:pPr algn="ctr"/>
                      <a:r>
                        <a:rPr lang="en-US" dirty="0" smtClean="0"/>
                        <a:t>9</a:t>
                      </a:r>
                      <a:endParaRPr lang="en-IN" dirty="0"/>
                    </a:p>
                  </a:txBody>
                  <a:tcPr/>
                </a:tc>
                <a:tc>
                  <a:txBody>
                    <a:bodyPr/>
                    <a:lstStyle/>
                    <a:p>
                      <a:pPr algn="ctr"/>
                      <a:r>
                        <a:rPr lang="en-US" dirty="0" smtClean="0"/>
                        <a:t>11</a:t>
                      </a:r>
                      <a:endParaRPr lang="en-IN" dirty="0"/>
                    </a:p>
                  </a:txBody>
                  <a:tcPr>
                    <a:solidFill>
                      <a:schemeClr val="accent2"/>
                    </a:solidFill>
                  </a:tcPr>
                </a:tc>
                <a:tc>
                  <a:txBody>
                    <a:bodyPr/>
                    <a:lstStyle/>
                    <a:p>
                      <a:pPr algn="ctr"/>
                      <a:r>
                        <a:rPr lang="en-US" dirty="0" smtClean="0"/>
                        <a:t>4</a:t>
                      </a:r>
                      <a:endParaRPr lang="en-IN" dirty="0"/>
                    </a:p>
                  </a:txBody>
                  <a:tcPr/>
                </a:tc>
              </a:tr>
              <a:tr h="344276">
                <a:tc>
                  <a:txBody>
                    <a:bodyPr/>
                    <a:lstStyle/>
                    <a:p>
                      <a:pPr algn="ctr"/>
                      <a:r>
                        <a:rPr lang="en-US" dirty="0" smtClean="0"/>
                        <a:t>4-5</a:t>
                      </a:r>
                      <a:endParaRPr lang="en-IN" dirty="0"/>
                    </a:p>
                  </a:txBody>
                  <a:tcPr/>
                </a:tc>
                <a:tc>
                  <a:txBody>
                    <a:bodyPr/>
                    <a:lstStyle/>
                    <a:p>
                      <a:pPr algn="ctr"/>
                      <a:r>
                        <a:rPr lang="en-US" dirty="0" smtClean="0"/>
                        <a:t>5</a:t>
                      </a:r>
                      <a:endParaRPr lang="en-IN" dirty="0"/>
                    </a:p>
                  </a:txBody>
                  <a:tcPr/>
                </a:tc>
                <a:tc>
                  <a:txBody>
                    <a:bodyPr/>
                    <a:lstStyle/>
                    <a:p>
                      <a:pPr algn="ctr"/>
                      <a:r>
                        <a:rPr lang="en-US" dirty="0" smtClean="0"/>
                        <a:t>5</a:t>
                      </a:r>
                      <a:endParaRPr lang="en-IN" dirty="0"/>
                    </a:p>
                  </a:txBody>
                  <a:tcPr/>
                </a:tc>
                <a:tc>
                  <a:txBody>
                    <a:bodyPr/>
                    <a:lstStyle/>
                    <a:p>
                      <a:pPr algn="ctr"/>
                      <a:r>
                        <a:rPr lang="en-US" dirty="0" smtClean="0"/>
                        <a:t>7</a:t>
                      </a:r>
                      <a:endParaRPr lang="en-IN" dirty="0"/>
                    </a:p>
                  </a:txBody>
                  <a:tcPr/>
                </a:tc>
                <a:tc>
                  <a:txBody>
                    <a:bodyPr/>
                    <a:lstStyle/>
                    <a:p>
                      <a:pPr algn="ctr"/>
                      <a:r>
                        <a:rPr lang="en-US" dirty="0" smtClean="0"/>
                        <a:t>7</a:t>
                      </a:r>
                      <a:endParaRPr lang="en-IN" dirty="0"/>
                    </a:p>
                  </a:txBody>
                  <a:tcPr/>
                </a:tc>
                <a:tc>
                  <a:txBody>
                    <a:bodyPr/>
                    <a:lstStyle/>
                    <a:p>
                      <a:pPr algn="ctr"/>
                      <a:r>
                        <a:rPr lang="en-US" dirty="0" smtClean="0"/>
                        <a:t>4</a:t>
                      </a:r>
                      <a:endParaRPr lang="en-IN" dirty="0"/>
                    </a:p>
                  </a:txBody>
                  <a:tcPr/>
                </a:tc>
              </a:tr>
              <a:tr h="344276">
                <a:tc>
                  <a:txBody>
                    <a:bodyPr/>
                    <a:lstStyle/>
                    <a:p>
                      <a:pPr algn="ctr"/>
                      <a:r>
                        <a:rPr lang="en-US" dirty="0" smtClean="0"/>
                        <a:t>6-7</a:t>
                      </a:r>
                      <a:endParaRPr lang="en-IN" dirty="0"/>
                    </a:p>
                  </a:txBody>
                  <a:tcPr/>
                </a:tc>
                <a:tc>
                  <a:txBody>
                    <a:bodyPr/>
                    <a:lstStyle/>
                    <a:p>
                      <a:pPr algn="ctr"/>
                      <a:r>
                        <a:rPr lang="en-US" dirty="0" smtClean="0"/>
                        <a:t>5</a:t>
                      </a:r>
                      <a:endParaRPr lang="en-IN" dirty="0"/>
                    </a:p>
                  </a:txBody>
                  <a:tcPr/>
                </a:tc>
                <a:tc>
                  <a:txBody>
                    <a:bodyPr/>
                    <a:lstStyle/>
                    <a:p>
                      <a:pPr algn="ctr"/>
                      <a:r>
                        <a:rPr lang="en-US" dirty="0" smtClean="0"/>
                        <a:t>8</a:t>
                      </a:r>
                      <a:endParaRPr lang="en-IN" dirty="0"/>
                    </a:p>
                  </a:txBody>
                  <a:tcPr/>
                </a:tc>
                <a:tc>
                  <a:txBody>
                    <a:bodyPr/>
                    <a:lstStyle/>
                    <a:p>
                      <a:pPr algn="ctr"/>
                      <a:r>
                        <a:rPr lang="en-US" dirty="0" smtClean="0"/>
                        <a:t>29</a:t>
                      </a:r>
                      <a:endParaRPr lang="en-IN" dirty="0"/>
                    </a:p>
                  </a:txBody>
                  <a:tcPr/>
                </a:tc>
                <a:tc>
                  <a:txBody>
                    <a:bodyPr/>
                    <a:lstStyle/>
                    <a:p>
                      <a:pPr algn="ctr"/>
                      <a:r>
                        <a:rPr lang="en-US" dirty="0" smtClean="0"/>
                        <a:t>11</a:t>
                      </a:r>
                      <a:endParaRPr lang="en-IN" dirty="0"/>
                    </a:p>
                  </a:txBody>
                  <a:tcPr/>
                </a:tc>
                <a:tc>
                  <a:txBody>
                    <a:bodyPr/>
                    <a:lstStyle/>
                    <a:p>
                      <a:pPr algn="ctr"/>
                      <a:r>
                        <a:rPr lang="en-US" dirty="0" smtClean="0"/>
                        <a:t>16</a:t>
                      </a:r>
                      <a:endParaRPr lang="en-IN" dirty="0"/>
                    </a:p>
                  </a:txBody>
                  <a:tcPr/>
                </a:tc>
              </a:tr>
              <a:tr h="344276">
                <a:tc>
                  <a:txBody>
                    <a:bodyPr/>
                    <a:lstStyle/>
                    <a:p>
                      <a:pPr algn="ctr"/>
                      <a:r>
                        <a:rPr lang="en-US" dirty="0" smtClean="0"/>
                        <a:t>5-8</a:t>
                      </a:r>
                      <a:endParaRPr lang="en-IN" dirty="0"/>
                    </a:p>
                  </a:txBody>
                  <a:tcPr>
                    <a:solidFill>
                      <a:schemeClr val="accent2"/>
                    </a:solidFill>
                  </a:tcPr>
                </a:tc>
                <a:tc>
                  <a:txBody>
                    <a:bodyPr/>
                    <a:lstStyle/>
                    <a:p>
                      <a:pPr algn="ctr"/>
                      <a:r>
                        <a:rPr lang="en-US" dirty="0" smtClean="0"/>
                        <a:t>3</a:t>
                      </a:r>
                      <a:endParaRPr lang="en-IN" dirty="0"/>
                    </a:p>
                  </a:txBody>
                  <a:tcPr/>
                </a:tc>
                <a:tc>
                  <a:txBody>
                    <a:bodyPr/>
                    <a:lstStyle/>
                    <a:p>
                      <a:pPr algn="ctr"/>
                      <a:r>
                        <a:rPr lang="en-US" dirty="0" smtClean="0"/>
                        <a:t>3</a:t>
                      </a:r>
                      <a:endParaRPr lang="en-IN" dirty="0"/>
                    </a:p>
                  </a:txBody>
                  <a:tcPr/>
                </a:tc>
                <a:tc>
                  <a:txBody>
                    <a:bodyPr/>
                    <a:lstStyle/>
                    <a:p>
                      <a:pPr algn="ctr"/>
                      <a:r>
                        <a:rPr lang="en-US" dirty="0" smtClean="0"/>
                        <a:t>9</a:t>
                      </a:r>
                      <a:endParaRPr lang="en-IN" dirty="0"/>
                    </a:p>
                  </a:txBody>
                  <a:tcPr/>
                </a:tc>
                <a:tc>
                  <a:txBody>
                    <a:bodyPr/>
                    <a:lstStyle/>
                    <a:p>
                      <a:pPr algn="ctr"/>
                      <a:r>
                        <a:rPr lang="en-US" dirty="0" smtClean="0"/>
                        <a:t>4</a:t>
                      </a:r>
                      <a:endParaRPr lang="en-IN" dirty="0"/>
                    </a:p>
                  </a:txBody>
                  <a:tcPr>
                    <a:solidFill>
                      <a:schemeClr val="accent2"/>
                    </a:solidFill>
                  </a:tcPr>
                </a:tc>
                <a:tc>
                  <a:txBody>
                    <a:bodyPr/>
                    <a:lstStyle/>
                    <a:p>
                      <a:pPr algn="ctr"/>
                      <a:r>
                        <a:rPr lang="en-US" dirty="0" smtClean="0"/>
                        <a:t>1</a:t>
                      </a:r>
                      <a:endParaRPr lang="en-IN" dirty="0"/>
                    </a:p>
                  </a:txBody>
                  <a:tcPr/>
                </a:tc>
              </a:tr>
              <a:tr h="344276">
                <a:tc>
                  <a:txBody>
                    <a:bodyPr/>
                    <a:lstStyle/>
                    <a:p>
                      <a:pPr algn="ctr"/>
                      <a:r>
                        <a:rPr lang="en-US" dirty="0" smtClean="0"/>
                        <a:t>7-8</a:t>
                      </a:r>
                      <a:endParaRPr lang="en-IN" dirty="0"/>
                    </a:p>
                  </a:txBody>
                  <a:tcPr/>
                </a:tc>
                <a:tc>
                  <a:txBody>
                    <a:bodyPr/>
                    <a:lstStyle/>
                    <a:p>
                      <a:pPr algn="ctr"/>
                      <a:r>
                        <a:rPr lang="en-US" dirty="0" smtClean="0"/>
                        <a:t>8</a:t>
                      </a:r>
                      <a:endParaRPr lang="en-IN" dirty="0"/>
                    </a:p>
                  </a:txBody>
                  <a:tcPr/>
                </a:tc>
                <a:tc>
                  <a:txBody>
                    <a:bodyPr/>
                    <a:lstStyle/>
                    <a:p>
                      <a:pPr algn="ctr"/>
                      <a:r>
                        <a:rPr lang="en-US" dirty="0" smtClean="0"/>
                        <a:t>17</a:t>
                      </a:r>
                      <a:endParaRPr lang="en-IN" dirty="0"/>
                    </a:p>
                  </a:txBody>
                  <a:tcPr/>
                </a:tc>
                <a:tc>
                  <a:txBody>
                    <a:bodyPr/>
                    <a:lstStyle/>
                    <a:p>
                      <a:pPr algn="ctr"/>
                      <a:r>
                        <a:rPr lang="en-US" dirty="0" smtClean="0"/>
                        <a:t>32</a:t>
                      </a:r>
                      <a:endParaRPr lang="en-IN" dirty="0"/>
                    </a:p>
                  </a:txBody>
                  <a:tcPr/>
                </a:tc>
                <a:tc>
                  <a:txBody>
                    <a:bodyPr/>
                    <a:lstStyle/>
                    <a:p>
                      <a:pPr algn="ctr"/>
                      <a:r>
                        <a:rPr lang="en-US" dirty="0" smtClean="0"/>
                        <a:t>18</a:t>
                      </a:r>
                      <a:endParaRPr lang="en-IN" dirty="0"/>
                    </a:p>
                  </a:txBody>
                  <a:tcPr/>
                </a:tc>
                <a:tc>
                  <a:txBody>
                    <a:bodyPr/>
                    <a:lstStyle/>
                    <a:p>
                      <a:pPr algn="ctr"/>
                      <a:r>
                        <a:rPr lang="en-US" dirty="0" smtClean="0"/>
                        <a:t>16</a:t>
                      </a:r>
                      <a:endParaRPr lang="en-IN" dirty="0"/>
                    </a:p>
                  </a:txBody>
                  <a:tcPr/>
                </a:tc>
              </a:tr>
            </a:tbl>
          </a:graphicData>
        </a:graphic>
      </p:graphicFrame>
      <p:sp>
        <p:nvSpPr>
          <p:cNvPr id="5" name="Rectangle 4"/>
          <p:cNvSpPr/>
          <p:nvPr/>
        </p:nvSpPr>
        <p:spPr>
          <a:xfrm>
            <a:off x="5580112" y="260648"/>
            <a:ext cx="2520241" cy="369332"/>
          </a:xfrm>
          <a:prstGeom prst="rect">
            <a:avLst/>
          </a:prstGeom>
        </p:spPr>
        <p:txBody>
          <a:bodyPr wrap="none">
            <a:spAutoFit/>
          </a:bodyPr>
          <a:lstStyle/>
          <a:p>
            <a:pPr marL="82296" indent="0" algn="ctr">
              <a:buNone/>
            </a:pPr>
            <a:r>
              <a:rPr lang="de-DE" dirty="0"/>
              <a:t>t</a:t>
            </a:r>
            <a:r>
              <a:rPr lang="de-DE" baseline="-25000" dirty="0"/>
              <a:t>e</a:t>
            </a:r>
            <a:r>
              <a:rPr lang="de-DE" dirty="0"/>
              <a:t> = ( t</a:t>
            </a:r>
            <a:r>
              <a:rPr lang="de-DE" baseline="-25000" dirty="0"/>
              <a:t>0</a:t>
            </a:r>
            <a:r>
              <a:rPr lang="de-DE" dirty="0"/>
              <a:t> + 4 t</a:t>
            </a:r>
            <a:r>
              <a:rPr lang="de-DE" baseline="-25000" dirty="0"/>
              <a:t>m</a:t>
            </a:r>
            <a:r>
              <a:rPr lang="de-DE" dirty="0"/>
              <a:t> + t</a:t>
            </a:r>
            <a:r>
              <a:rPr lang="de-DE" baseline="-25000" dirty="0"/>
              <a:t>p </a:t>
            </a:r>
            <a:r>
              <a:rPr lang="de-DE" dirty="0"/>
              <a:t>) / 6 </a:t>
            </a:r>
          </a:p>
        </p:txBody>
      </p:sp>
      <p:sp>
        <p:nvSpPr>
          <p:cNvPr id="6" name="Rectangle 5"/>
          <p:cNvSpPr/>
          <p:nvPr/>
        </p:nvSpPr>
        <p:spPr>
          <a:xfrm>
            <a:off x="7016495" y="836712"/>
            <a:ext cx="2127505" cy="369332"/>
          </a:xfrm>
          <a:prstGeom prst="rect">
            <a:avLst/>
          </a:prstGeom>
        </p:spPr>
        <p:txBody>
          <a:bodyPr wrap="none">
            <a:spAutoFit/>
          </a:bodyPr>
          <a:lstStyle/>
          <a:p>
            <a:pPr marL="82296" indent="0" algn="ctr">
              <a:buNone/>
            </a:pPr>
            <a:r>
              <a:rPr lang="en-IN" dirty="0"/>
              <a:t>σ</a:t>
            </a:r>
            <a:r>
              <a:rPr lang="en-IN" baseline="30000" dirty="0"/>
              <a:t>2</a:t>
            </a:r>
            <a:r>
              <a:rPr lang="en-IN" dirty="0"/>
              <a:t> = [(</a:t>
            </a:r>
            <a:r>
              <a:rPr lang="en-IN" dirty="0" err="1"/>
              <a:t>t</a:t>
            </a:r>
            <a:r>
              <a:rPr lang="en-IN" baseline="-25000" dirty="0" err="1"/>
              <a:t>p</a:t>
            </a:r>
            <a:r>
              <a:rPr lang="en-IN" dirty="0"/>
              <a:t> – t</a:t>
            </a:r>
            <a:r>
              <a:rPr lang="en-IN" baseline="-25000" dirty="0"/>
              <a:t>o</a:t>
            </a:r>
            <a:r>
              <a:rPr lang="en-IN" dirty="0"/>
              <a:t>) / 6] </a:t>
            </a:r>
            <a:r>
              <a:rPr lang="en-IN" baseline="30000" dirty="0"/>
              <a:t>2</a:t>
            </a:r>
            <a:r>
              <a:rPr lang="en-IN" dirty="0"/>
              <a:t> </a:t>
            </a:r>
          </a:p>
        </p:txBody>
      </p:sp>
      <p:cxnSp>
        <p:nvCxnSpPr>
          <p:cNvPr id="8" name="Straight Arrow Connector 7"/>
          <p:cNvCxnSpPr>
            <a:stCxn id="5" idx="2"/>
          </p:cNvCxnSpPr>
          <p:nvPr/>
        </p:nvCxnSpPr>
        <p:spPr>
          <a:xfrm flipH="1">
            <a:off x="6840232" y="629980"/>
            <a:ext cx="1" cy="7827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8080247" y="1206044"/>
            <a:ext cx="0" cy="2067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1835696" y="5805264"/>
            <a:ext cx="5544616" cy="369332"/>
          </a:xfrm>
          <a:prstGeom prst="rect">
            <a:avLst/>
          </a:prstGeom>
          <a:noFill/>
        </p:spPr>
        <p:txBody>
          <a:bodyPr wrap="square" rtlCol="0">
            <a:spAutoFit/>
          </a:bodyPr>
          <a:lstStyle/>
          <a:p>
            <a:r>
              <a:rPr lang="en-US" dirty="0" smtClean="0"/>
              <a:t>Expected duration = 7+14+11+4= 36 weeks</a:t>
            </a:r>
            <a:endParaRPr lang="en-IN" dirty="0"/>
          </a:p>
        </p:txBody>
      </p:sp>
    </p:spTree>
    <p:extLst>
      <p:ext uri="{BB962C8B-B14F-4D97-AF65-F5344CB8AC3E}">
        <p14:creationId xmlns:p14="http://schemas.microsoft.com/office/powerpoint/2010/main" val="67118009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596646" indent="-514350"/>
            <a:r>
              <a:rPr lang="en-US" sz="2400" dirty="0" smtClean="0"/>
              <a:t>Calculate </a:t>
            </a:r>
            <a:r>
              <a:rPr lang="en-US" sz="2400" dirty="0"/>
              <a:t>standard deviation </a:t>
            </a:r>
            <a:r>
              <a:rPr lang="en-US" sz="2400" dirty="0" smtClean="0"/>
              <a:t/>
            </a:r>
            <a:br>
              <a:rPr lang="en-US" sz="2400" dirty="0" smtClean="0"/>
            </a:br>
            <a:r>
              <a:rPr lang="en-US" sz="2400" dirty="0" smtClean="0"/>
              <a:t>and </a:t>
            </a:r>
            <a:r>
              <a:rPr lang="en-US" sz="2400" dirty="0"/>
              <a:t>variance of project length</a:t>
            </a:r>
          </a:p>
        </p:txBody>
      </p:sp>
      <p:graphicFrame>
        <p:nvGraphicFramePr>
          <p:cNvPr id="4" name="Table 3"/>
          <p:cNvGraphicFramePr>
            <a:graphicFrameLocks noGrp="1"/>
          </p:cNvGraphicFramePr>
          <p:nvPr>
            <p:extLst>
              <p:ext uri="{D42A27DB-BD31-4B8C-83A1-F6EECF244321}">
                <p14:modId xmlns:p14="http://schemas.microsoft.com/office/powerpoint/2010/main" val="2791676157"/>
              </p:ext>
            </p:extLst>
          </p:nvPr>
        </p:nvGraphicFramePr>
        <p:xfrm>
          <a:off x="1524000" y="1478411"/>
          <a:ext cx="7152457" cy="3886069"/>
        </p:xfrm>
        <a:graphic>
          <a:graphicData uri="http://schemas.openxmlformats.org/drawingml/2006/table">
            <a:tbl>
              <a:tblPr firstRow="1" bandRow="1">
                <a:tableStyleId>{5C22544A-7EE6-4342-B048-85BDC9FD1C3A}</a:tableStyleId>
              </a:tblPr>
              <a:tblGrid>
                <a:gridCol w="975883"/>
                <a:gridCol w="1296144"/>
                <a:gridCol w="1304202"/>
                <a:gridCol w="1192076"/>
                <a:gridCol w="1192076"/>
                <a:gridCol w="1192076"/>
              </a:tblGrid>
              <a:tr h="594229">
                <a:tc>
                  <a:txBody>
                    <a:bodyPr/>
                    <a:lstStyle/>
                    <a:p>
                      <a:r>
                        <a:rPr lang="en-US" sz="1100" dirty="0" smtClean="0"/>
                        <a:t>ACTIVITY</a:t>
                      </a:r>
                      <a:endParaRPr lang="en-IN" sz="1100" dirty="0"/>
                    </a:p>
                  </a:txBody>
                  <a:tcPr/>
                </a:tc>
                <a:tc>
                  <a:txBody>
                    <a:bodyPr/>
                    <a:lstStyle/>
                    <a:p>
                      <a:r>
                        <a:rPr lang="en-US" sz="1200" dirty="0" smtClean="0"/>
                        <a:t>OPTIMISTIC</a:t>
                      </a:r>
                      <a:endParaRPr lang="en-IN" sz="1200" dirty="0"/>
                    </a:p>
                  </a:txBody>
                  <a:tcPr/>
                </a:tc>
                <a:tc>
                  <a:txBody>
                    <a:bodyPr/>
                    <a:lstStyle/>
                    <a:p>
                      <a:r>
                        <a:rPr lang="en-US" sz="1200" dirty="0" smtClean="0"/>
                        <a:t>MOST LIEKLY</a:t>
                      </a:r>
                      <a:endParaRPr lang="en-IN" sz="1200" dirty="0"/>
                    </a:p>
                  </a:txBody>
                  <a:tcPr/>
                </a:tc>
                <a:tc>
                  <a:txBody>
                    <a:bodyPr/>
                    <a:lstStyle/>
                    <a:p>
                      <a:r>
                        <a:rPr lang="en-US" sz="1200" dirty="0" smtClean="0"/>
                        <a:t>PESSIMISTIC</a:t>
                      </a:r>
                      <a:endParaRPr lang="en-IN" sz="1200" dirty="0"/>
                    </a:p>
                  </a:txBody>
                  <a:tcPr/>
                </a:tc>
                <a:tc>
                  <a:txBody>
                    <a:bodyPr/>
                    <a:lstStyle/>
                    <a:p>
                      <a:r>
                        <a:rPr lang="en-US" sz="2400" dirty="0" err="1" smtClean="0"/>
                        <a:t>t</a:t>
                      </a:r>
                      <a:r>
                        <a:rPr lang="en-US" sz="2400" baseline="-25000" dirty="0" err="1" smtClean="0"/>
                        <a:t>e</a:t>
                      </a:r>
                      <a:endParaRPr lang="en-IN" sz="1200" baseline="-25000" dirty="0"/>
                    </a:p>
                  </a:txBody>
                  <a:tcPr/>
                </a:tc>
                <a:tc>
                  <a:txBody>
                    <a:bodyPr/>
                    <a:lstStyle/>
                    <a:p>
                      <a:r>
                        <a:rPr lang="en-IN" sz="2400" dirty="0" smtClean="0"/>
                        <a:t>σ</a:t>
                      </a:r>
                      <a:r>
                        <a:rPr lang="en-IN" sz="2400" baseline="30000" dirty="0" smtClean="0"/>
                        <a:t>2</a:t>
                      </a:r>
                      <a:endParaRPr lang="en-IN" sz="1200" dirty="0"/>
                    </a:p>
                  </a:txBody>
                  <a:tcPr/>
                </a:tc>
              </a:tr>
              <a:tr h="344276">
                <a:tc>
                  <a:txBody>
                    <a:bodyPr/>
                    <a:lstStyle/>
                    <a:p>
                      <a:pPr algn="ctr"/>
                      <a:r>
                        <a:rPr lang="en-US" dirty="0" smtClean="0"/>
                        <a:t>1-2</a:t>
                      </a:r>
                      <a:endParaRPr lang="en-IN" dirty="0"/>
                    </a:p>
                  </a:txBody>
                  <a:tcPr>
                    <a:solidFill>
                      <a:schemeClr val="accent2"/>
                    </a:solidFill>
                  </a:tcPr>
                </a:tc>
                <a:tc>
                  <a:txBody>
                    <a:bodyPr/>
                    <a:lstStyle/>
                    <a:p>
                      <a:pPr algn="ctr"/>
                      <a:r>
                        <a:rPr lang="en-US" dirty="0" smtClean="0"/>
                        <a:t>1</a:t>
                      </a:r>
                      <a:endParaRPr lang="en-IN" dirty="0"/>
                    </a:p>
                  </a:txBody>
                  <a:tcPr/>
                </a:tc>
                <a:tc>
                  <a:txBody>
                    <a:bodyPr/>
                    <a:lstStyle/>
                    <a:p>
                      <a:pPr algn="ctr"/>
                      <a:r>
                        <a:rPr lang="en-US" dirty="0" smtClean="0"/>
                        <a:t>7</a:t>
                      </a:r>
                      <a:endParaRPr lang="en-IN" dirty="0"/>
                    </a:p>
                  </a:txBody>
                  <a:tcPr/>
                </a:tc>
                <a:tc>
                  <a:txBody>
                    <a:bodyPr/>
                    <a:lstStyle/>
                    <a:p>
                      <a:pPr algn="ctr"/>
                      <a:r>
                        <a:rPr lang="en-US" dirty="0" smtClean="0"/>
                        <a:t>13</a:t>
                      </a:r>
                      <a:endParaRPr lang="en-IN" dirty="0"/>
                    </a:p>
                  </a:txBody>
                  <a:tcPr/>
                </a:tc>
                <a:tc>
                  <a:txBody>
                    <a:bodyPr/>
                    <a:lstStyle/>
                    <a:p>
                      <a:pPr algn="ctr"/>
                      <a:r>
                        <a:rPr lang="en-US" dirty="0" smtClean="0"/>
                        <a:t>7</a:t>
                      </a:r>
                      <a:endParaRPr lang="en-IN" dirty="0"/>
                    </a:p>
                  </a:txBody>
                  <a:tcPr>
                    <a:solidFill>
                      <a:schemeClr val="accent2"/>
                    </a:solidFill>
                  </a:tcPr>
                </a:tc>
                <a:tc>
                  <a:txBody>
                    <a:bodyPr/>
                    <a:lstStyle/>
                    <a:p>
                      <a:pPr algn="ctr"/>
                      <a:r>
                        <a:rPr lang="en-US" dirty="0" smtClean="0"/>
                        <a:t>4</a:t>
                      </a:r>
                      <a:endParaRPr lang="en-IN" dirty="0"/>
                    </a:p>
                  </a:txBody>
                  <a:tcPr>
                    <a:solidFill>
                      <a:srgbClr val="92D050"/>
                    </a:solidFill>
                  </a:tcPr>
                </a:tc>
              </a:tr>
              <a:tr h="344276">
                <a:tc>
                  <a:txBody>
                    <a:bodyPr/>
                    <a:lstStyle/>
                    <a:p>
                      <a:pPr algn="ctr"/>
                      <a:r>
                        <a:rPr lang="en-US" dirty="0" smtClean="0"/>
                        <a:t>1-6</a:t>
                      </a:r>
                      <a:endParaRPr lang="en-IN" dirty="0"/>
                    </a:p>
                  </a:txBody>
                  <a:tcPr/>
                </a:tc>
                <a:tc>
                  <a:txBody>
                    <a:bodyPr/>
                    <a:lstStyle/>
                    <a:p>
                      <a:pPr algn="ctr"/>
                      <a:r>
                        <a:rPr lang="en-US" dirty="0" smtClean="0"/>
                        <a:t>2</a:t>
                      </a:r>
                      <a:endParaRPr lang="en-IN" dirty="0"/>
                    </a:p>
                  </a:txBody>
                  <a:tcPr/>
                </a:tc>
                <a:tc>
                  <a:txBody>
                    <a:bodyPr/>
                    <a:lstStyle/>
                    <a:p>
                      <a:pPr algn="ctr"/>
                      <a:r>
                        <a:rPr lang="en-US" dirty="0" smtClean="0"/>
                        <a:t>5</a:t>
                      </a:r>
                      <a:endParaRPr lang="en-IN" dirty="0"/>
                    </a:p>
                  </a:txBody>
                  <a:tcPr/>
                </a:tc>
                <a:tc>
                  <a:txBody>
                    <a:bodyPr/>
                    <a:lstStyle/>
                    <a:p>
                      <a:pPr algn="ctr"/>
                      <a:r>
                        <a:rPr lang="en-US" dirty="0" smtClean="0"/>
                        <a:t>14</a:t>
                      </a:r>
                      <a:endParaRPr lang="en-IN" dirty="0"/>
                    </a:p>
                  </a:txBody>
                  <a:tcPr/>
                </a:tc>
                <a:tc>
                  <a:txBody>
                    <a:bodyPr/>
                    <a:lstStyle/>
                    <a:p>
                      <a:pPr algn="ctr"/>
                      <a:r>
                        <a:rPr lang="en-US" dirty="0" smtClean="0"/>
                        <a:t>6</a:t>
                      </a:r>
                      <a:endParaRPr lang="en-IN" dirty="0"/>
                    </a:p>
                  </a:txBody>
                  <a:tcPr/>
                </a:tc>
                <a:tc>
                  <a:txBody>
                    <a:bodyPr/>
                    <a:lstStyle/>
                    <a:p>
                      <a:pPr algn="ctr"/>
                      <a:r>
                        <a:rPr lang="en-US" dirty="0" smtClean="0"/>
                        <a:t>4</a:t>
                      </a:r>
                      <a:endParaRPr lang="en-IN" dirty="0"/>
                    </a:p>
                  </a:txBody>
                  <a:tcPr/>
                </a:tc>
              </a:tr>
              <a:tr h="344276">
                <a:tc>
                  <a:txBody>
                    <a:bodyPr/>
                    <a:lstStyle/>
                    <a:p>
                      <a:pPr algn="ctr"/>
                      <a:r>
                        <a:rPr lang="en-US" dirty="0" smtClean="0"/>
                        <a:t>2-3</a:t>
                      </a:r>
                      <a:endParaRPr lang="en-IN" dirty="0"/>
                    </a:p>
                  </a:txBody>
                  <a:tcPr>
                    <a:solidFill>
                      <a:schemeClr val="accent2"/>
                    </a:solidFill>
                  </a:tcPr>
                </a:tc>
                <a:tc>
                  <a:txBody>
                    <a:bodyPr/>
                    <a:lstStyle/>
                    <a:p>
                      <a:pPr algn="ctr"/>
                      <a:r>
                        <a:rPr lang="en-US" dirty="0" smtClean="0"/>
                        <a:t>2</a:t>
                      </a:r>
                      <a:endParaRPr lang="en-IN" dirty="0"/>
                    </a:p>
                  </a:txBody>
                  <a:tcPr/>
                </a:tc>
                <a:tc>
                  <a:txBody>
                    <a:bodyPr/>
                    <a:lstStyle/>
                    <a:p>
                      <a:pPr algn="ctr"/>
                      <a:r>
                        <a:rPr lang="en-US" dirty="0" smtClean="0"/>
                        <a:t>14</a:t>
                      </a:r>
                      <a:endParaRPr lang="en-IN" dirty="0"/>
                    </a:p>
                  </a:txBody>
                  <a:tcPr/>
                </a:tc>
                <a:tc>
                  <a:txBody>
                    <a:bodyPr/>
                    <a:lstStyle/>
                    <a:p>
                      <a:pPr algn="ctr"/>
                      <a:r>
                        <a:rPr lang="en-US" dirty="0" smtClean="0"/>
                        <a:t>26</a:t>
                      </a:r>
                      <a:endParaRPr lang="en-IN" dirty="0"/>
                    </a:p>
                  </a:txBody>
                  <a:tcPr/>
                </a:tc>
                <a:tc>
                  <a:txBody>
                    <a:bodyPr/>
                    <a:lstStyle/>
                    <a:p>
                      <a:pPr algn="ctr"/>
                      <a:r>
                        <a:rPr lang="en-US" dirty="0" smtClean="0"/>
                        <a:t>14</a:t>
                      </a:r>
                      <a:endParaRPr lang="en-IN" dirty="0"/>
                    </a:p>
                  </a:txBody>
                  <a:tcPr>
                    <a:solidFill>
                      <a:schemeClr val="accent2"/>
                    </a:solidFill>
                  </a:tcPr>
                </a:tc>
                <a:tc>
                  <a:txBody>
                    <a:bodyPr/>
                    <a:lstStyle/>
                    <a:p>
                      <a:pPr algn="ctr"/>
                      <a:r>
                        <a:rPr lang="en-US" dirty="0" smtClean="0"/>
                        <a:t>16</a:t>
                      </a:r>
                      <a:endParaRPr lang="en-IN" dirty="0"/>
                    </a:p>
                  </a:txBody>
                  <a:tcPr>
                    <a:solidFill>
                      <a:srgbClr val="92D050"/>
                    </a:solidFill>
                  </a:tcPr>
                </a:tc>
              </a:tr>
              <a:tr h="344276">
                <a:tc>
                  <a:txBody>
                    <a:bodyPr/>
                    <a:lstStyle/>
                    <a:p>
                      <a:pPr algn="ctr"/>
                      <a:r>
                        <a:rPr lang="en-US" dirty="0" smtClean="0"/>
                        <a:t>2-4</a:t>
                      </a:r>
                      <a:endParaRPr lang="en-IN" dirty="0"/>
                    </a:p>
                  </a:txBody>
                  <a:tcPr/>
                </a:tc>
                <a:tc>
                  <a:txBody>
                    <a:bodyPr/>
                    <a:lstStyle/>
                    <a:p>
                      <a:pPr algn="ctr"/>
                      <a:r>
                        <a:rPr lang="en-US" dirty="0" smtClean="0"/>
                        <a:t>2</a:t>
                      </a:r>
                      <a:endParaRPr lang="en-IN" dirty="0"/>
                    </a:p>
                  </a:txBody>
                  <a:tcPr/>
                </a:tc>
                <a:tc>
                  <a:txBody>
                    <a:bodyPr/>
                    <a:lstStyle/>
                    <a:p>
                      <a:pPr algn="ctr"/>
                      <a:r>
                        <a:rPr lang="en-US" dirty="0" smtClean="0"/>
                        <a:t>5</a:t>
                      </a:r>
                      <a:endParaRPr lang="en-IN" dirty="0"/>
                    </a:p>
                  </a:txBody>
                  <a:tcPr/>
                </a:tc>
                <a:tc>
                  <a:txBody>
                    <a:bodyPr/>
                    <a:lstStyle/>
                    <a:p>
                      <a:pPr algn="ctr"/>
                      <a:r>
                        <a:rPr lang="en-US" dirty="0" smtClean="0"/>
                        <a:t>8</a:t>
                      </a:r>
                      <a:endParaRPr lang="en-IN" dirty="0"/>
                    </a:p>
                  </a:txBody>
                  <a:tcPr/>
                </a:tc>
                <a:tc>
                  <a:txBody>
                    <a:bodyPr/>
                    <a:lstStyle/>
                    <a:p>
                      <a:pPr algn="ctr"/>
                      <a:r>
                        <a:rPr lang="en-US" dirty="0" smtClean="0"/>
                        <a:t>5</a:t>
                      </a:r>
                      <a:endParaRPr lang="en-IN" dirty="0"/>
                    </a:p>
                  </a:txBody>
                  <a:tcPr/>
                </a:tc>
                <a:tc>
                  <a:txBody>
                    <a:bodyPr/>
                    <a:lstStyle/>
                    <a:p>
                      <a:pPr algn="ctr"/>
                      <a:r>
                        <a:rPr lang="en-US" dirty="0" smtClean="0"/>
                        <a:t>1</a:t>
                      </a:r>
                      <a:endParaRPr lang="en-IN" dirty="0"/>
                    </a:p>
                  </a:txBody>
                  <a:tcPr/>
                </a:tc>
              </a:tr>
              <a:tr h="344276">
                <a:tc>
                  <a:txBody>
                    <a:bodyPr/>
                    <a:lstStyle/>
                    <a:p>
                      <a:pPr algn="ctr"/>
                      <a:r>
                        <a:rPr lang="en-US" dirty="0" smtClean="0"/>
                        <a:t>3-5</a:t>
                      </a:r>
                      <a:endParaRPr lang="en-IN" dirty="0"/>
                    </a:p>
                  </a:txBody>
                  <a:tcPr>
                    <a:solidFill>
                      <a:schemeClr val="accent2"/>
                    </a:solidFill>
                  </a:tcPr>
                </a:tc>
                <a:tc>
                  <a:txBody>
                    <a:bodyPr/>
                    <a:lstStyle/>
                    <a:p>
                      <a:pPr algn="ctr"/>
                      <a:r>
                        <a:rPr lang="en-US" dirty="0" smtClean="0"/>
                        <a:t>7</a:t>
                      </a:r>
                      <a:endParaRPr lang="en-IN" dirty="0"/>
                    </a:p>
                  </a:txBody>
                  <a:tcPr/>
                </a:tc>
                <a:tc>
                  <a:txBody>
                    <a:bodyPr/>
                    <a:lstStyle/>
                    <a:p>
                      <a:pPr algn="ctr"/>
                      <a:r>
                        <a:rPr lang="en-US" dirty="0" smtClean="0"/>
                        <a:t>10</a:t>
                      </a:r>
                      <a:endParaRPr lang="en-IN" dirty="0"/>
                    </a:p>
                  </a:txBody>
                  <a:tcPr/>
                </a:tc>
                <a:tc>
                  <a:txBody>
                    <a:bodyPr/>
                    <a:lstStyle/>
                    <a:p>
                      <a:pPr algn="ctr"/>
                      <a:r>
                        <a:rPr lang="en-US" dirty="0" smtClean="0"/>
                        <a:t>9</a:t>
                      </a:r>
                      <a:endParaRPr lang="en-IN" dirty="0"/>
                    </a:p>
                  </a:txBody>
                  <a:tcPr/>
                </a:tc>
                <a:tc>
                  <a:txBody>
                    <a:bodyPr/>
                    <a:lstStyle/>
                    <a:p>
                      <a:pPr algn="ctr"/>
                      <a:r>
                        <a:rPr lang="en-US" dirty="0" smtClean="0"/>
                        <a:t>11</a:t>
                      </a:r>
                      <a:endParaRPr lang="en-IN" dirty="0"/>
                    </a:p>
                  </a:txBody>
                  <a:tcPr>
                    <a:solidFill>
                      <a:schemeClr val="accent2"/>
                    </a:solidFill>
                  </a:tcPr>
                </a:tc>
                <a:tc>
                  <a:txBody>
                    <a:bodyPr/>
                    <a:lstStyle/>
                    <a:p>
                      <a:pPr algn="ctr"/>
                      <a:r>
                        <a:rPr lang="en-US" dirty="0" smtClean="0"/>
                        <a:t>4</a:t>
                      </a:r>
                      <a:endParaRPr lang="en-IN" dirty="0"/>
                    </a:p>
                  </a:txBody>
                  <a:tcPr>
                    <a:solidFill>
                      <a:srgbClr val="92D050"/>
                    </a:solidFill>
                  </a:tcPr>
                </a:tc>
              </a:tr>
              <a:tr h="344276">
                <a:tc>
                  <a:txBody>
                    <a:bodyPr/>
                    <a:lstStyle/>
                    <a:p>
                      <a:pPr algn="ctr"/>
                      <a:r>
                        <a:rPr lang="en-US" dirty="0" smtClean="0"/>
                        <a:t>4-5</a:t>
                      </a:r>
                      <a:endParaRPr lang="en-IN" dirty="0"/>
                    </a:p>
                  </a:txBody>
                  <a:tcPr/>
                </a:tc>
                <a:tc>
                  <a:txBody>
                    <a:bodyPr/>
                    <a:lstStyle/>
                    <a:p>
                      <a:pPr algn="ctr"/>
                      <a:r>
                        <a:rPr lang="en-US" dirty="0" smtClean="0"/>
                        <a:t>5</a:t>
                      </a:r>
                      <a:endParaRPr lang="en-IN" dirty="0"/>
                    </a:p>
                  </a:txBody>
                  <a:tcPr/>
                </a:tc>
                <a:tc>
                  <a:txBody>
                    <a:bodyPr/>
                    <a:lstStyle/>
                    <a:p>
                      <a:pPr algn="ctr"/>
                      <a:r>
                        <a:rPr lang="en-US" dirty="0" smtClean="0"/>
                        <a:t>5</a:t>
                      </a:r>
                      <a:endParaRPr lang="en-IN" dirty="0"/>
                    </a:p>
                  </a:txBody>
                  <a:tcPr/>
                </a:tc>
                <a:tc>
                  <a:txBody>
                    <a:bodyPr/>
                    <a:lstStyle/>
                    <a:p>
                      <a:pPr algn="ctr"/>
                      <a:r>
                        <a:rPr lang="en-US" dirty="0" smtClean="0"/>
                        <a:t>7</a:t>
                      </a:r>
                      <a:endParaRPr lang="en-IN" dirty="0"/>
                    </a:p>
                  </a:txBody>
                  <a:tcPr/>
                </a:tc>
                <a:tc>
                  <a:txBody>
                    <a:bodyPr/>
                    <a:lstStyle/>
                    <a:p>
                      <a:pPr algn="ctr"/>
                      <a:r>
                        <a:rPr lang="en-US" dirty="0" smtClean="0"/>
                        <a:t>7</a:t>
                      </a:r>
                      <a:endParaRPr lang="en-IN" dirty="0"/>
                    </a:p>
                  </a:txBody>
                  <a:tcPr/>
                </a:tc>
                <a:tc>
                  <a:txBody>
                    <a:bodyPr/>
                    <a:lstStyle/>
                    <a:p>
                      <a:pPr algn="ctr"/>
                      <a:r>
                        <a:rPr lang="en-US" dirty="0" smtClean="0"/>
                        <a:t>4</a:t>
                      </a:r>
                      <a:endParaRPr lang="en-IN" dirty="0"/>
                    </a:p>
                  </a:txBody>
                  <a:tcPr/>
                </a:tc>
              </a:tr>
              <a:tr h="344276">
                <a:tc>
                  <a:txBody>
                    <a:bodyPr/>
                    <a:lstStyle/>
                    <a:p>
                      <a:pPr algn="ctr"/>
                      <a:r>
                        <a:rPr lang="en-US" dirty="0" smtClean="0"/>
                        <a:t>6-7</a:t>
                      </a:r>
                      <a:endParaRPr lang="en-IN" dirty="0"/>
                    </a:p>
                  </a:txBody>
                  <a:tcPr/>
                </a:tc>
                <a:tc>
                  <a:txBody>
                    <a:bodyPr/>
                    <a:lstStyle/>
                    <a:p>
                      <a:pPr algn="ctr"/>
                      <a:r>
                        <a:rPr lang="en-US" dirty="0" smtClean="0"/>
                        <a:t>5</a:t>
                      </a:r>
                      <a:endParaRPr lang="en-IN" dirty="0"/>
                    </a:p>
                  </a:txBody>
                  <a:tcPr/>
                </a:tc>
                <a:tc>
                  <a:txBody>
                    <a:bodyPr/>
                    <a:lstStyle/>
                    <a:p>
                      <a:pPr algn="ctr"/>
                      <a:r>
                        <a:rPr lang="en-US" dirty="0" smtClean="0"/>
                        <a:t>8</a:t>
                      </a:r>
                      <a:endParaRPr lang="en-IN" dirty="0"/>
                    </a:p>
                  </a:txBody>
                  <a:tcPr/>
                </a:tc>
                <a:tc>
                  <a:txBody>
                    <a:bodyPr/>
                    <a:lstStyle/>
                    <a:p>
                      <a:pPr algn="ctr"/>
                      <a:r>
                        <a:rPr lang="en-US" dirty="0" smtClean="0"/>
                        <a:t>29</a:t>
                      </a:r>
                      <a:endParaRPr lang="en-IN" dirty="0"/>
                    </a:p>
                  </a:txBody>
                  <a:tcPr/>
                </a:tc>
                <a:tc>
                  <a:txBody>
                    <a:bodyPr/>
                    <a:lstStyle/>
                    <a:p>
                      <a:pPr algn="ctr"/>
                      <a:r>
                        <a:rPr lang="en-US" dirty="0" smtClean="0"/>
                        <a:t>11</a:t>
                      </a:r>
                      <a:endParaRPr lang="en-IN" dirty="0"/>
                    </a:p>
                  </a:txBody>
                  <a:tcPr/>
                </a:tc>
                <a:tc>
                  <a:txBody>
                    <a:bodyPr/>
                    <a:lstStyle/>
                    <a:p>
                      <a:pPr algn="ctr"/>
                      <a:r>
                        <a:rPr lang="en-US" dirty="0" smtClean="0"/>
                        <a:t>16</a:t>
                      </a:r>
                      <a:endParaRPr lang="en-IN" dirty="0"/>
                    </a:p>
                  </a:txBody>
                  <a:tcPr/>
                </a:tc>
              </a:tr>
              <a:tr h="344276">
                <a:tc>
                  <a:txBody>
                    <a:bodyPr/>
                    <a:lstStyle/>
                    <a:p>
                      <a:pPr algn="ctr"/>
                      <a:r>
                        <a:rPr lang="en-US" dirty="0" smtClean="0"/>
                        <a:t>5-8</a:t>
                      </a:r>
                      <a:endParaRPr lang="en-IN" dirty="0"/>
                    </a:p>
                  </a:txBody>
                  <a:tcPr>
                    <a:solidFill>
                      <a:schemeClr val="accent2"/>
                    </a:solidFill>
                  </a:tcPr>
                </a:tc>
                <a:tc>
                  <a:txBody>
                    <a:bodyPr/>
                    <a:lstStyle/>
                    <a:p>
                      <a:pPr algn="ctr"/>
                      <a:r>
                        <a:rPr lang="en-US" dirty="0" smtClean="0"/>
                        <a:t>3</a:t>
                      </a:r>
                      <a:endParaRPr lang="en-IN" dirty="0"/>
                    </a:p>
                  </a:txBody>
                  <a:tcPr/>
                </a:tc>
                <a:tc>
                  <a:txBody>
                    <a:bodyPr/>
                    <a:lstStyle/>
                    <a:p>
                      <a:pPr algn="ctr"/>
                      <a:r>
                        <a:rPr lang="en-US" dirty="0" smtClean="0"/>
                        <a:t>3</a:t>
                      </a:r>
                      <a:endParaRPr lang="en-IN" dirty="0"/>
                    </a:p>
                  </a:txBody>
                  <a:tcPr/>
                </a:tc>
                <a:tc>
                  <a:txBody>
                    <a:bodyPr/>
                    <a:lstStyle/>
                    <a:p>
                      <a:pPr algn="ctr"/>
                      <a:r>
                        <a:rPr lang="en-US" dirty="0" smtClean="0"/>
                        <a:t>9</a:t>
                      </a:r>
                      <a:endParaRPr lang="en-IN" dirty="0"/>
                    </a:p>
                  </a:txBody>
                  <a:tcPr/>
                </a:tc>
                <a:tc>
                  <a:txBody>
                    <a:bodyPr/>
                    <a:lstStyle/>
                    <a:p>
                      <a:pPr algn="ctr"/>
                      <a:r>
                        <a:rPr lang="en-US" dirty="0" smtClean="0"/>
                        <a:t>4</a:t>
                      </a:r>
                      <a:endParaRPr lang="en-IN" dirty="0"/>
                    </a:p>
                  </a:txBody>
                  <a:tcPr>
                    <a:solidFill>
                      <a:schemeClr val="accent2"/>
                    </a:solidFill>
                  </a:tcPr>
                </a:tc>
                <a:tc>
                  <a:txBody>
                    <a:bodyPr/>
                    <a:lstStyle/>
                    <a:p>
                      <a:pPr algn="ctr"/>
                      <a:r>
                        <a:rPr lang="en-US" dirty="0" smtClean="0"/>
                        <a:t>1</a:t>
                      </a:r>
                      <a:endParaRPr lang="en-IN" dirty="0"/>
                    </a:p>
                  </a:txBody>
                  <a:tcPr>
                    <a:solidFill>
                      <a:srgbClr val="92D050"/>
                    </a:solidFill>
                  </a:tcPr>
                </a:tc>
              </a:tr>
              <a:tr h="344276">
                <a:tc>
                  <a:txBody>
                    <a:bodyPr/>
                    <a:lstStyle/>
                    <a:p>
                      <a:pPr algn="ctr"/>
                      <a:r>
                        <a:rPr lang="en-US" dirty="0" smtClean="0"/>
                        <a:t>7-8</a:t>
                      </a:r>
                      <a:endParaRPr lang="en-IN" dirty="0"/>
                    </a:p>
                  </a:txBody>
                  <a:tcPr/>
                </a:tc>
                <a:tc>
                  <a:txBody>
                    <a:bodyPr/>
                    <a:lstStyle/>
                    <a:p>
                      <a:pPr algn="ctr"/>
                      <a:r>
                        <a:rPr lang="en-US" dirty="0" smtClean="0"/>
                        <a:t>8</a:t>
                      </a:r>
                      <a:endParaRPr lang="en-IN" dirty="0"/>
                    </a:p>
                  </a:txBody>
                  <a:tcPr/>
                </a:tc>
                <a:tc>
                  <a:txBody>
                    <a:bodyPr/>
                    <a:lstStyle/>
                    <a:p>
                      <a:pPr algn="ctr"/>
                      <a:r>
                        <a:rPr lang="en-US" dirty="0" smtClean="0"/>
                        <a:t>17</a:t>
                      </a:r>
                      <a:endParaRPr lang="en-IN" dirty="0"/>
                    </a:p>
                  </a:txBody>
                  <a:tcPr/>
                </a:tc>
                <a:tc>
                  <a:txBody>
                    <a:bodyPr/>
                    <a:lstStyle/>
                    <a:p>
                      <a:pPr algn="ctr"/>
                      <a:r>
                        <a:rPr lang="en-US" dirty="0" smtClean="0"/>
                        <a:t>32</a:t>
                      </a:r>
                      <a:endParaRPr lang="en-IN" dirty="0"/>
                    </a:p>
                  </a:txBody>
                  <a:tcPr/>
                </a:tc>
                <a:tc>
                  <a:txBody>
                    <a:bodyPr/>
                    <a:lstStyle/>
                    <a:p>
                      <a:pPr algn="ctr"/>
                      <a:r>
                        <a:rPr lang="en-US" dirty="0" smtClean="0"/>
                        <a:t>18</a:t>
                      </a:r>
                      <a:endParaRPr lang="en-IN" dirty="0"/>
                    </a:p>
                  </a:txBody>
                  <a:tcPr/>
                </a:tc>
                <a:tc>
                  <a:txBody>
                    <a:bodyPr/>
                    <a:lstStyle/>
                    <a:p>
                      <a:pPr algn="ctr"/>
                      <a:r>
                        <a:rPr lang="en-US" dirty="0" smtClean="0"/>
                        <a:t>16</a:t>
                      </a:r>
                      <a:endParaRPr lang="en-IN" dirty="0"/>
                    </a:p>
                  </a:txBody>
                  <a:tcPr/>
                </a:tc>
              </a:tr>
            </a:tbl>
          </a:graphicData>
        </a:graphic>
      </p:graphicFrame>
      <p:sp>
        <p:nvSpPr>
          <p:cNvPr id="5" name="Rectangle 4"/>
          <p:cNvSpPr/>
          <p:nvPr/>
        </p:nvSpPr>
        <p:spPr>
          <a:xfrm>
            <a:off x="5580112" y="260648"/>
            <a:ext cx="2520241" cy="369332"/>
          </a:xfrm>
          <a:prstGeom prst="rect">
            <a:avLst/>
          </a:prstGeom>
        </p:spPr>
        <p:txBody>
          <a:bodyPr wrap="none">
            <a:spAutoFit/>
          </a:bodyPr>
          <a:lstStyle/>
          <a:p>
            <a:pPr marL="82296" indent="0" algn="ctr">
              <a:buNone/>
            </a:pPr>
            <a:r>
              <a:rPr lang="de-DE" dirty="0"/>
              <a:t>t</a:t>
            </a:r>
            <a:r>
              <a:rPr lang="de-DE" baseline="-25000" dirty="0"/>
              <a:t>e</a:t>
            </a:r>
            <a:r>
              <a:rPr lang="de-DE" dirty="0"/>
              <a:t> = ( t</a:t>
            </a:r>
            <a:r>
              <a:rPr lang="de-DE" baseline="-25000" dirty="0"/>
              <a:t>0</a:t>
            </a:r>
            <a:r>
              <a:rPr lang="de-DE" dirty="0"/>
              <a:t> + 4 t</a:t>
            </a:r>
            <a:r>
              <a:rPr lang="de-DE" baseline="-25000" dirty="0"/>
              <a:t>m</a:t>
            </a:r>
            <a:r>
              <a:rPr lang="de-DE" dirty="0"/>
              <a:t> + t</a:t>
            </a:r>
            <a:r>
              <a:rPr lang="de-DE" baseline="-25000" dirty="0"/>
              <a:t>p </a:t>
            </a:r>
            <a:r>
              <a:rPr lang="de-DE" dirty="0"/>
              <a:t>) / 6 </a:t>
            </a:r>
          </a:p>
        </p:txBody>
      </p:sp>
      <p:sp>
        <p:nvSpPr>
          <p:cNvPr id="6" name="Rectangle 5"/>
          <p:cNvSpPr/>
          <p:nvPr/>
        </p:nvSpPr>
        <p:spPr>
          <a:xfrm>
            <a:off x="7016495" y="836712"/>
            <a:ext cx="2127505" cy="369332"/>
          </a:xfrm>
          <a:prstGeom prst="rect">
            <a:avLst/>
          </a:prstGeom>
        </p:spPr>
        <p:txBody>
          <a:bodyPr wrap="none">
            <a:spAutoFit/>
          </a:bodyPr>
          <a:lstStyle/>
          <a:p>
            <a:pPr marL="82296" indent="0" algn="ctr">
              <a:buNone/>
            </a:pPr>
            <a:r>
              <a:rPr lang="en-IN" dirty="0"/>
              <a:t>σ</a:t>
            </a:r>
            <a:r>
              <a:rPr lang="en-IN" baseline="30000" dirty="0"/>
              <a:t>2</a:t>
            </a:r>
            <a:r>
              <a:rPr lang="en-IN" dirty="0"/>
              <a:t> = [(</a:t>
            </a:r>
            <a:r>
              <a:rPr lang="en-IN" dirty="0" err="1"/>
              <a:t>t</a:t>
            </a:r>
            <a:r>
              <a:rPr lang="en-IN" baseline="-25000" dirty="0" err="1"/>
              <a:t>p</a:t>
            </a:r>
            <a:r>
              <a:rPr lang="en-IN" dirty="0"/>
              <a:t> – t</a:t>
            </a:r>
            <a:r>
              <a:rPr lang="en-IN" baseline="-25000" dirty="0"/>
              <a:t>o</a:t>
            </a:r>
            <a:r>
              <a:rPr lang="en-IN" dirty="0"/>
              <a:t>) / 6] </a:t>
            </a:r>
            <a:r>
              <a:rPr lang="en-IN" baseline="30000" dirty="0"/>
              <a:t>2</a:t>
            </a:r>
            <a:r>
              <a:rPr lang="en-IN" dirty="0"/>
              <a:t> </a:t>
            </a:r>
          </a:p>
        </p:txBody>
      </p:sp>
      <p:cxnSp>
        <p:nvCxnSpPr>
          <p:cNvPr id="8" name="Straight Arrow Connector 7"/>
          <p:cNvCxnSpPr>
            <a:stCxn id="5" idx="2"/>
          </p:cNvCxnSpPr>
          <p:nvPr/>
        </p:nvCxnSpPr>
        <p:spPr>
          <a:xfrm flipH="1">
            <a:off x="6840232" y="629980"/>
            <a:ext cx="1" cy="7827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8080247" y="1206044"/>
            <a:ext cx="0" cy="2067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1835696" y="5661248"/>
            <a:ext cx="5544616" cy="923330"/>
          </a:xfrm>
          <a:prstGeom prst="rect">
            <a:avLst/>
          </a:prstGeom>
          <a:noFill/>
        </p:spPr>
        <p:txBody>
          <a:bodyPr wrap="square" rtlCol="0">
            <a:spAutoFit/>
          </a:bodyPr>
          <a:lstStyle/>
          <a:p>
            <a:r>
              <a:rPr lang="en-US" dirty="0" smtClean="0"/>
              <a:t>Variance = </a:t>
            </a:r>
            <a:r>
              <a:rPr lang="en-IN" dirty="0" smtClean="0"/>
              <a:t>σ</a:t>
            </a:r>
            <a:r>
              <a:rPr lang="en-IN" baseline="30000" dirty="0" smtClean="0"/>
              <a:t>2 </a:t>
            </a:r>
            <a:r>
              <a:rPr lang="en-IN" dirty="0" smtClean="0"/>
              <a:t>=</a:t>
            </a:r>
            <a:r>
              <a:rPr lang="en-US" dirty="0" smtClean="0"/>
              <a:t> 4+16+4+1 = 25</a:t>
            </a:r>
          </a:p>
          <a:p>
            <a:endParaRPr lang="en-US" dirty="0"/>
          </a:p>
          <a:p>
            <a:r>
              <a:rPr lang="en-US" dirty="0" smtClean="0"/>
              <a:t>Standard deviation =  </a:t>
            </a:r>
            <a:r>
              <a:rPr lang="en-IN" dirty="0" smtClean="0"/>
              <a:t>σ = 5</a:t>
            </a:r>
            <a:endParaRPr lang="en-IN" dirty="0"/>
          </a:p>
        </p:txBody>
      </p:sp>
    </p:spTree>
    <p:extLst>
      <p:ext uri="{BB962C8B-B14F-4D97-AF65-F5344CB8AC3E}">
        <p14:creationId xmlns:p14="http://schemas.microsoft.com/office/powerpoint/2010/main" val="381852746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Find </a:t>
            </a:r>
            <a:r>
              <a:rPr lang="en-US" dirty="0"/>
              <a:t>the probability of project completing in the 40 days</a:t>
            </a:r>
            <a:br>
              <a:rPr lang="en-US" dirty="0"/>
            </a:br>
            <a:endParaRPr lang="en-IN"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628800"/>
            <a:ext cx="7942286" cy="4415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658592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82296" indent="0">
                  <a:buNone/>
                </a:pPr>
                <a:r>
                  <a:rPr lang="en-US" dirty="0" smtClean="0"/>
                  <a:t>D = </a:t>
                </a:r>
                <a14:m>
                  <m:oMath xmlns:m="http://schemas.openxmlformats.org/officeDocument/2006/math">
                    <m:f>
                      <m:fPr>
                        <m:ctrlPr>
                          <a:rPr lang="en-US" i="1" smtClean="0">
                            <a:latin typeface="Cambria Math"/>
                          </a:rPr>
                        </m:ctrlPr>
                      </m:fPr>
                      <m:num>
                        <m:sSub>
                          <m:sSubPr>
                            <m:ctrlPr>
                              <a:rPr lang="en-US" i="1" smtClean="0">
                                <a:latin typeface="Cambria Math"/>
                              </a:rPr>
                            </m:ctrlPr>
                          </m:sSubPr>
                          <m:e>
                            <m:r>
                              <a:rPr lang="en-US" b="0" i="1" smtClean="0">
                                <a:latin typeface="Cambria Math"/>
                              </a:rPr>
                              <m:t>𝑇</m:t>
                            </m:r>
                          </m:e>
                          <m:sub>
                            <m:r>
                              <a:rPr lang="en-US" b="0" i="1" smtClean="0">
                                <a:latin typeface="Cambria Math"/>
                              </a:rPr>
                              <m:t>𝑠</m:t>
                            </m:r>
                          </m:sub>
                        </m:sSub>
                        <m:r>
                          <a:rPr lang="en-US" b="0" i="1" smtClean="0">
                            <a:latin typeface="Cambria Math"/>
                          </a:rPr>
                          <m:t>−</m:t>
                        </m:r>
                        <m:sSub>
                          <m:sSubPr>
                            <m:ctrlPr>
                              <a:rPr lang="en-US" b="0" i="1" smtClean="0">
                                <a:latin typeface="Cambria Math"/>
                              </a:rPr>
                            </m:ctrlPr>
                          </m:sSubPr>
                          <m:e>
                            <m:r>
                              <a:rPr lang="en-US" b="0" i="1" smtClean="0">
                                <a:latin typeface="Cambria Math"/>
                              </a:rPr>
                              <m:t>𝑇</m:t>
                            </m:r>
                          </m:e>
                          <m:sub>
                            <m:r>
                              <a:rPr lang="en-US" b="0" i="1" smtClean="0">
                                <a:latin typeface="Cambria Math"/>
                              </a:rPr>
                              <m:t>𝑒</m:t>
                            </m:r>
                          </m:sub>
                        </m:sSub>
                      </m:num>
                      <m:den>
                        <m:r>
                          <m:rPr>
                            <m:nor/>
                          </m:rPr>
                          <a:rPr lang="en-IN" dirty="0"/>
                          <m:t>σ</m:t>
                        </m:r>
                      </m:den>
                    </m:f>
                  </m:oMath>
                </a14:m>
                <a:r>
                  <a:rPr lang="en-IN" dirty="0" smtClean="0"/>
                  <a:t> = </a:t>
                </a:r>
                <a14:m>
                  <m:oMath xmlns:m="http://schemas.openxmlformats.org/officeDocument/2006/math">
                    <m:f>
                      <m:fPr>
                        <m:ctrlPr>
                          <a:rPr lang="en-IN" i="1" smtClean="0">
                            <a:latin typeface="Cambria Math"/>
                          </a:rPr>
                        </m:ctrlPr>
                      </m:fPr>
                      <m:num>
                        <m:r>
                          <a:rPr lang="en-US" b="0" i="1" smtClean="0">
                            <a:latin typeface="Cambria Math"/>
                          </a:rPr>
                          <m:t>40−36</m:t>
                        </m:r>
                      </m:num>
                      <m:den>
                        <m:r>
                          <a:rPr lang="en-US" b="0" i="1" smtClean="0">
                            <a:latin typeface="Cambria Math"/>
                          </a:rPr>
                          <m:t>5</m:t>
                        </m:r>
                      </m:den>
                    </m:f>
                  </m:oMath>
                </a14:m>
                <a:r>
                  <a:rPr lang="en-IN" dirty="0" smtClean="0"/>
                  <a:t> = 0.8</a:t>
                </a:r>
              </a:p>
              <a:p>
                <a:pPr marL="82296" indent="0">
                  <a:buNone/>
                </a:pPr>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976"/>
                </a:stretch>
              </a:blipFill>
            </p:spPr>
            <p:txBody>
              <a:bodyPr/>
              <a:lstStyle/>
              <a:p>
                <a:r>
                  <a:rPr lang="en-IN">
                    <a:noFill/>
                  </a:rPr>
                  <a:t> </a:t>
                </a:r>
              </a:p>
            </p:txBody>
          </p:sp>
        </mc:Fallback>
      </mc:AlternateContent>
      <p:sp>
        <p:nvSpPr>
          <p:cNvPr id="4" name="TextBox 3"/>
          <p:cNvSpPr txBox="1"/>
          <p:nvPr/>
        </p:nvSpPr>
        <p:spPr>
          <a:xfrm>
            <a:off x="1619672" y="2564904"/>
            <a:ext cx="5400600" cy="369332"/>
          </a:xfrm>
          <a:prstGeom prst="rect">
            <a:avLst/>
          </a:prstGeom>
          <a:noFill/>
        </p:spPr>
        <p:txBody>
          <a:bodyPr wrap="square" rtlCol="0">
            <a:spAutoFit/>
          </a:bodyPr>
          <a:lstStyle/>
          <a:p>
            <a:r>
              <a:rPr lang="en-US" dirty="0" smtClean="0"/>
              <a:t>Probability = P (Z ≤ D) = P (Z </a:t>
            </a:r>
            <a:r>
              <a:rPr lang="en-US" dirty="0"/>
              <a:t>≤ </a:t>
            </a:r>
            <a:r>
              <a:rPr lang="en-US" dirty="0" smtClean="0"/>
              <a:t>0.8) = 0.7881 = 78.1% </a:t>
            </a:r>
            <a:endParaRPr lang="en-IN" dirty="0"/>
          </a:p>
        </p:txBody>
      </p:sp>
    </p:spTree>
    <p:extLst>
      <p:ext uri="{BB962C8B-B14F-4D97-AF65-F5344CB8AC3E}">
        <p14:creationId xmlns:p14="http://schemas.microsoft.com/office/powerpoint/2010/main" val="212040072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effectLst/>
              </a:rPr>
              <a:t>Standard Normal Distribution</a:t>
            </a:r>
            <a:br>
              <a:rPr lang="en-IN" b="1" dirty="0">
                <a:effectLst/>
              </a:rPr>
            </a:br>
            <a:r>
              <a:rPr lang="en-IN" b="1" dirty="0" smtClean="0">
                <a:effectLst/>
              </a:rPr>
              <a:t>Table</a:t>
            </a:r>
            <a:endParaRPr lang="en-IN" dirty="0"/>
          </a:p>
        </p:txBody>
      </p:sp>
      <p:pic>
        <p:nvPicPr>
          <p:cNvPr id="10242" name="Picture 2" descr="Z Sco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1556792"/>
            <a:ext cx="6229350" cy="4962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953391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818</TotalTime>
  <Words>2537</Words>
  <Application>Microsoft Office PowerPoint</Application>
  <PresentationFormat>On-screen Show (4:3)</PresentationFormat>
  <Paragraphs>432</Paragraphs>
  <Slides>48</Slides>
  <Notes>0</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Solstice</vt:lpstr>
      <vt:lpstr>PowerPoint Presentation</vt:lpstr>
      <vt:lpstr>Project Scheduling </vt:lpstr>
      <vt:lpstr>To schedule the project plan, a software project manager wants to do the following: </vt:lpstr>
      <vt:lpstr>Project scheduling Process</vt:lpstr>
      <vt:lpstr>Process </vt:lpstr>
      <vt:lpstr>Cont..</vt:lpstr>
      <vt:lpstr>Problems arise during Project Development Stage :</vt:lpstr>
      <vt:lpstr>Resources required for Development of Project :</vt:lpstr>
      <vt:lpstr>Advantages of Project Scheduling :</vt:lpstr>
      <vt:lpstr>Critical Path Method </vt:lpstr>
      <vt:lpstr>Cont..</vt:lpstr>
      <vt:lpstr>Major steps of the Critical Path Method:</vt:lpstr>
      <vt:lpstr>Example</vt:lpstr>
      <vt:lpstr>Rules for designing the Activity-on-Node network diagram:</vt:lpstr>
      <vt:lpstr>Node Representation</vt:lpstr>
      <vt:lpstr>Definitions</vt:lpstr>
      <vt:lpstr> Activity-On-Node diagram:  </vt:lpstr>
      <vt:lpstr>Forward Pass:</vt:lpstr>
      <vt:lpstr>Cont..</vt:lpstr>
      <vt:lpstr>Cont..</vt:lpstr>
      <vt:lpstr>Forward Pass:</vt:lpstr>
      <vt:lpstr>Backward Pass:</vt:lpstr>
      <vt:lpstr>Cont..</vt:lpstr>
      <vt:lpstr>Cont..</vt:lpstr>
      <vt:lpstr>Cont..</vt:lpstr>
      <vt:lpstr>Backward Pass:</vt:lpstr>
      <vt:lpstr>Identifying Critical Path:</vt:lpstr>
      <vt:lpstr>Critical Path:</vt:lpstr>
      <vt:lpstr>Question to solve</vt:lpstr>
      <vt:lpstr>Project Evaluation and Review Technique (PERT)</vt:lpstr>
      <vt:lpstr>A well-constructed PERT chart looks like this:</vt:lpstr>
      <vt:lpstr>Characteristics of PERT:</vt:lpstr>
      <vt:lpstr>3 types of times</vt:lpstr>
      <vt:lpstr>PowerPoint Presentation</vt:lpstr>
      <vt:lpstr>Example 1 </vt:lpstr>
      <vt:lpstr>Questions</vt:lpstr>
      <vt:lpstr> Draw the project network  </vt:lpstr>
      <vt:lpstr>Find the expected duration  and variance of each activity</vt:lpstr>
      <vt:lpstr> Calculate earliest and latest occurrence of each event. </vt:lpstr>
      <vt:lpstr>Earliest Time</vt:lpstr>
      <vt:lpstr>Latest Time</vt:lpstr>
      <vt:lpstr>Critical Activity</vt:lpstr>
      <vt:lpstr>Critical Path</vt:lpstr>
      <vt:lpstr> Calculate expected project length </vt:lpstr>
      <vt:lpstr>Calculate standard deviation  and variance of project length</vt:lpstr>
      <vt:lpstr> Find the probability of project completing in the 40 days </vt:lpstr>
      <vt:lpstr>Cont..</vt:lpstr>
      <vt:lpstr>Standard Normal Distribution Table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56</cp:revision>
  <dcterms:created xsi:type="dcterms:W3CDTF">2022-08-11T02:14:16Z</dcterms:created>
  <dcterms:modified xsi:type="dcterms:W3CDTF">2022-08-16T03:54:07Z</dcterms:modified>
</cp:coreProperties>
</file>